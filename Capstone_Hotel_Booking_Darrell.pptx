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78"/>
    <p:restoredTop sz="94610"/>
  </p:normalViewPr>
  <p:slideViewPr>
    <p:cSldViewPr snapToGrid="0" snapToObjects="1">
      <p:cViewPr>
        <p:scale>
          <a:sx n="126" d="100"/>
          <a:sy n="126" d="100"/>
        </p:scale>
        <p:origin x="2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2E6E5E"/>
              </a:solidFill>
              <a:effectLst/>
            </c:spPr>
            <c:extLst>
              <c:ext xmlns:c16="http://schemas.microsoft.com/office/drawing/2014/chart" uri="{C3380CC4-5D6E-409C-BE32-E72D297353CC}">
                <c16:uniqueId val="{00000001-F15B-6D45-8716-12F91D0EBF3D}"/>
              </c:ext>
            </c:extLst>
          </c:dPt>
          <c:dPt>
            <c:idx val="1"/>
            <c:bubble3D val="0"/>
            <c:spPr>
              <a:solidFill>
                <a:srgbClr val="C2554A"/>
              </a:solidFill>
              <a:effectLst/>
            </c:spPr>
            <c:extLst>
              <c:ext xmlns:c16="http://schemas.microsoft.com/office/drawing/2014/chart" uri="{C3380CC4-5D6E-409C-BE32-E72D297353CC}">
                <c16:uniqueId val="{00000003-F15B-6D45-8716-12F91D0EBF3D}"/>
              </c:ext>
            </c:extLst>
          </c:dPt>
          <c:dLbls>
            <c:dLbl>
              <c:idx val="0"/>
              <c:numFmt formatCode="0.0&quot;%&quot;"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15B-6D45-8716-12F91D0EBF3D}"/>
                </c:ext>
              </c:extLst>
            </c:dLbl>
            <c:dLbl>
              <c:idx val="1"/>
              <c:numFmt formatCode="0.0&quot;%&quot;" sourceLinked="0"/>
              <c:spPr/>
              <c:txPr>
                <a:bodyPr/>
                <a:lstStyle/>
                <a:p>
                  <a:pPr>
                    <a:defRPr sz="1200" b="1" i="0" u="none" strike="noStrike">
                      <a:solidFill>
                        <a:srgbClr val="FFFFFF"/>
                      </a:solidFill>
                      <a:latin typeface="Arial"/>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15B-6D45-8716-12F91D0EBF3D}"/>
                </c:ext>
              </c:extLst>
            </c:dLbl>
            <c:numFmt formatCode="0.0&quot;%&quot;"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Tidak Dibatalkan</c:v>
                </c:pt>
                <c:pt idx="1">
                  <c:v>Dibatalkan</c:v>
                </c:pt>
              </c:strCache>
            </c:strRef>
          </c:cat>
          <c:val>
            <c:numRef>
              <c:f>Sheet1!$B$2:$B$3</c:f>
              <c:numCache>
                <c:formatCode>General</c:formatCode>
                <c:ptCount val="2"/>
                <c:pt idx="0">
                  <c:v>63.18</c:v>
                </c:pt>
                <c:pt idx="1">
                  <c:v>36.82</c:v>
                </c:pt>
              </c:numCache>
            </c:numRef>
          </c:val>
          <c:extLst>
            <c:ext xmlns:c16="http://schemas.microsoft.com/office/drawing/2014/chart" uri="{C3380CC4-5D6E-409C-BE32-E72D297353CC}">
              <c16:uniqueId val="{00000004-F15B-6D45-8716-12F91D0EBF3D}"/>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sz="1100">
              <a:solidFill>
                <a:srgbClr val="1F2A3A"/>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5810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(15 dtk). Selamat pagi/siang, perkenalkan saya Darrell. Hari ini saya akan mempresentasikan capstone tentang prediksi pembatalan pemesanan hotel menggunakan machine learning. Inti proyeknya: mengubah setiap pemesanan menjadi skor risiko batal sebelum tamu tiba.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(15 dtk). Saya akan mulai dari ringkasan eksekutif, lalu data, EDA singkat, proses cleaning &amp; feature engineering, pemodelan &amp; evaluasi, analisa ambang batas &amp; interpretasi, dampak bisnis, dan ditutup kesimpulan-rekomendasi.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Ringkasan Eksekutif (75 dtk). Hotel hidup dari revenue management: satu kamar yang tidak terjual hari ini, pendapatannya hilang permanen. Masalahnya, hampir 37% pemesanan dibatalkan, dan saat pemesanan dibuat hotel belum punya cara menandai mana yang berisiko. Pemakainya adalah tim Revenue Management dan Front-Office. Tujuan kita: model klasifikasi biner yang memberi skor risiko sebelum tamu tiba. Pendekatannya supervised learning, dan metrik utamanya F1-score pada kelas 'Dibatalkan' — bukan accuracy, karena kelasnya imbalance: model asal tebak 'tidak batal' saja sudah 63% akurat tapi tidak berguna.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Pemahaman Data (60 dtk). Setiap baris adalah satu pemesanan, dengan target is_canceled. Dataset punya 83.573 baris dan 11 kolom. Tiga catatan penting: hanya kolom country yang punya nilai kosong, dan sekitar 88% baris adalah duplikat persis — ini akan jadi keputusan desain terpenting nanti. Kolom-kolom kunci mencakup jenis deposit, kanal pemesanan, tipe customer, dan riwayat pembatalan.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(75 dtk). Distribusi target: 63% tidak batal, 37% batal. Sinyal terkuat dari EDA: deposit Non-Refund hampir 100% berakhir batal — saya tandai khusus karena ini akan jadi titik perhatian di limitasi. Segmen Groups sekitar 60% batal, dan tamu domestik Portugal 56% batal sekaligus mendominasi volume. Di sisi numerik, makin banyak permintaan khusus atau permintaan parkir justru makin kecil kemungkinan batal — ini proksi komitmen tamu. Sebaliknya, tamu yang pernah batal cenderung batal lagi.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&amp; Feature Engineering (90 dtk). Cleaning-nya sederhana: isi country kosong dengan 'Unknown', cek nilai negatif — tidak ada. Saya buat 6 flag biner dan mengurangi kardinalitas country jadi top-20. Sekarang keputusan terpenting: baris duplikat saya PERTAHANKAN. Kenapa? Menghapusnya membuang 88% data dan menggeser tingkat pembatalan dari 36,8% ke 23,6%. Karena dataset tidak punya kolom tanggal atau harga sebagai pembeda, baris identik itu pemesanan valid, bukan error. Risiko sebenarnya bukan duplikatnya tapi kebocoran data — baris identik bisa muncul di latih dan uji sekaligus. Itu saya ukur terpisah. Terakhir, saya pakai class_weight balanced, bukan oversampling, karena dengan data penuh duplikat, baris sintetis justru berisiko merusak prediksi.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Perbandingan Model (60 dtk). Saya bandingkan 4 model dengan cross-validation 5-fold stratified, semuanya class_weight balanced. HistGradientBoosting menang tipis di seluruh metrik dengan F1 0,7413. Yang ingin saya jujur sampaikan: hyperparameter tuning hanya menaikkan F1 dari 0,7413 ke 0,7435 — selisih setara derau. Jadi ini bukan lonjakan, melainkan konfirmasi bahwa baseline sudah mendekati optimal untuk data ini.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Final (60 dtk). HistGradientBoosting bekerja dengan boosting sekuensial: banyak pohon dangkal dilatih berurutan, tiap pohon memperbaiki kesalahan sebelumnya. Versi histogram-nya cepat untuk data tabular besar. Saya pilih ini karena menangkap interaksi non-linear dan campuran fitur tanpa banyak asumsi distribusi. KNN dan SVM tidak saya pakai karena kurang scalable di atas 60 ribu baris. Hyperparameter final dari GridSearchCV ada di kanan.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Evaluasi (75 dtk). Pada ambang default 0,5: dari 6.156 pembatalan nyata, model menangkap 4.854 dan melewatkan 1.302 — recall 0,788. Precision 0,701, F1 0,742. ROC-AUC 0,894 menunjukkan kemampuan pemeringkatan risiko yang kuat. Diagnostik over/underfitting sehat: F1 latih, uji, dan CV ketiganya berdekatan di sekitar 0,74, artinya model belajar pola bukan menghafal. Recall sengaja saya jaga lebih tinggi dari precision karena melewatkan pembatalan lebih merugikan daripada salah alarm.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Uji Kejujuran (75 dtk). Ini bagian yang paling ingin saya tekankan. Karena 88% data duplikat, split acak biasa membuat skor optimis. Saya evaluasi ulang tanpa kebocoran: dedup dulu, baru split. Hasilnya F1 turun dari 0,74 ke 0,56 dan AUC dari 0,89 ke 0,82. Jadi kemampuan jujur model adalah RENTANG 0,56 sampai 0,74, bukan satu angka. Kenapa saya tetap melatih dengan duplikat? Karena menghapusnya mengubah tingkat pembatalan jadi 23% — itu berarti mengubah problem yang kita modelkan. Maka duplikat dipertahankan untuk latih, dan versi dedup saya laporkan sebagai batas bawah konservatif.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Ambang Batas (60 dtk). Ambang 0,5 itu sembarang. Saya beri biaya: melewatkan pembatalan FN $100, salah alarm FP $20, lalu cari ambang minim-biaya. Hasilnya 0,265, yang saya pilih: recall 0,957 — menangkap hampir 96% pembatalan, dengan precision turun ke 0,541 tapi masih bisa ditoleransi karena FP murah. Alternatifnya ambang F1 0,485 yang seimbang, tepat bila kedua biaya dianggap setara — tapi di kasus ini FN jauh lebih mahal.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Interpretasi (45 dtk). Dengan permutation importance, fitur paling berpengaruh adalah jenis deposit, lalu kanal pemesanan, jumlah permintaan khusus, status domestik, dan tipe customer. Konsisten dengan EDA. Tapi saya catat: dominasi deposit_type hampir deterministik di data ini, jadi perlu divalidasi sebelum jadi dasar kebijakan.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Limitasi (60 dtk). Tiga hal. Satu, hanya 11 kolom — bisa lebih baik dengan fitur waktu, lama menginap, dan harga. Dua, bias populasi: satu hotel Portugal, periode tidak diketahui. Tiga, sinyal Non-Refund mencurigakan — pendorong terkuat tapi hampir selalu batal di data ini, belum tentu bertahan. Model dipercaya untuk segmen umum dan negara bervolume besar; kurang dipercaya untuk negara langka atau segmen baru.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Dampak Bisnis (75 dtk). Model mengubah tiap pemesanan jadi skor risiko 0-100%. Revenue Manager memakainya untuk kalibrasi overbooking, Front-Office untuk prioritas konfirmasi ulang, tim kebijakan untuk deposit selektif, operasional untuk jadwal staf. Estimasi finansial — dan saya tekankan ini PERUMPAMAAN — sekitar $29 untung bersih per pemesanan, dengan asumsi FN $100 dan FP $20, bisa berarti sekitar $1,22 juta nilai pulih per tahun. Angka ini dihitung pada split naif jadi optimis, dan harus dikalibrasi ulang oleh tim keuangan.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&amp; Rekomendasi (60 dtk). HistGradientBoosting model terbaik, F1 jadi tumpuan, dengan dua titik operasi. Kemampuan jujur di rentang 0,56-0,74. Rekomendasi: pertama, pakai skor sebagai pemeringkatan risiko untuk deposit selektif dan konfirmasi ulang; kedua, operasikan pada ambang berbasis biaya yang disetel tim keuangan, bukan 0,5; ketiga, validasi sinyal Non-Refund sebelum jadi kebijakan. Langkah berikutnya: latih ulang dengan data terkini, tambah fitur, pantau drift, dan uji satu segmen dulu.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(15 dtk). Terima kasih. Saya siap menerima pertanyaan dan diskusi.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53D"/>
        </a:solidFill>
        <a:effectLst/>
      </p:bgPr>
    </p:bg>
    <p:spTree>
      <p:nvGrpSpPr>
        <p:cNvPr id="1" name=""/>
        <p:cNvGrpSpPr/>
        <p:nvPr/>
      </p:nvGrpSpPr>
      <p:grpSpPr>
        <a:xfrm>
          <a:off x="0" y="0"/>
          <a:ext cx="0" cy="0"/>
          <a:chOff x="0" y="0"/>
          <a:chExt cx="0" cy="0"/>
        </a:xfrm>
      </p:grpSpPr>
      <p:sp>
        <p:nvSpPr>
          <p:cNvPr id="2" name="Shape 0"/>
          <p:cNvSpPr/>
          <p:nvPr/>
        </p:nvSpPr>
        <p:spPr>
          <a:xfrm>
            <a:off x="8869680" y="3840480"/>
            <a:ext cx="4206240" cy="4206240"/>
          </a:xfrm>
          <a:prstGeom prst="ellipse">
            <a:avLst/>
          </a:prstGeom>
          <a:ln w="15875">
            <a:solidFill>
              <a:srgbClr val="C8A04B">
                <a:alpha val="45000"/>
              </a:srgbClr>
            </a:solidFill>
            <a:prstDash val="solid"/>
          </a:ln>
        </p:spPr>
        <p:txBody>
          <a:bodyPr/>
          <a:lstStyle/>
          <a:p>
            <a:endParaRPr lang="en-US"/>
          </a:p>
        </p:txBody>
      </p:sp>
      <p:sp>
        <p:nvSpPr>
          <p:cNvPr id="3" name="Shape 1"/>
          <p:cNvSpPr/>
          <p:nvPr/>
        </p:nvSpPr>
        <p:spPr>
          <a:xfrm>
            <a:off x="9966960" y="4937760"/>
            <a:ext cx="2743200" cy="2743200"/>
          </a:xfrm>
          <a:prstGeom prst="ellipse">
            <a:avLst/>
          </a:prstGeom>
          <a:ln w="15875">
            <a:solidFill>
              <a:srgbClr val="C8A04B">
                <a:alpha val="65000"/>
              </a:srgbClr>
            </a:solidFill>
            <a:prstDash val="solid"/>
          </a:ln>
        </p:spPr>
        <p:txBody>
          <a:bodyPr/>
          <a:lstStyle/>
          <a:p>
            <a:endParaRPr lang="en-US"/>
          </a:p>
        </p:txBody>
      </p:sp>
      <p:sp>
        <p:nvSpPr>
          <p:cNvPr id="4" name="Shape 2"/>
          <p:cNvSpPr/>
          <p:nvPr/>
        </p:nvSpPr>
        <p:spPr>
          <a:xfrm>
            <a:off x="10744200" y="5715000"/>
            <a:ext cx="1188720" cy="1188720"/>
          </a:xfrm>
          <a:prstGeom prst="ellipse">
            <a:avLst/>
          </a:prstGeom>
          <a:solidFill>
            <a:srgbClr val="C8A04B">
              <a:alpha val="88000"/>
            </a:srgbClr>
          </a:solidFill>
          <a:ln/>
        </p:spPr>
        <p:txBody>
          <a:bodyPr/>
          <a:lstStyle/>
          <a:p>
            <a:endParaRPr lang="en-US"/>
          </a:p>
        </p:txBody>
      </p:sp>
      <p:sp>
        <p:nvSpPr>
          <p:cNvPr id="5" name="Text 3"/>
          <p:cNvSpPr/>
          <p:nvPr/>
        </p:nvSpPr>
        <p:spPr>
          <a:xfrm>
            <a:off x="566928" y="1417320"/>
            <a:ext cx="9144000" cy="320040"/>
          </a:xfrm>
          <a:prstGeom prst="rect">
            <a:avLst/>
          </a:prstGeom>
          <a:noFill/>
          <a:ln/>
        </p:spPr>
        <p:txBody>
          <a:bodyPr wrap="square" lIns="0" tIns="0" rIns="0" bIns="0" rtlCol="0" anchor="ctr"/>
          <a:lstStyle/>
          <a:p>
            <a:pPr marL="0" indent="0">
              <a:buNone/>
            </a:pPr>
            <a:r>
              <a:rPr lang="en-US" sz="1400" b="1" kern="0" spc="300" dirty="0">
                <a:solidFill>
                  <a:srgbClr val="C8A04B"/>
                </a:solidFill>
                <a:latin typeface="Calibri" pitchFamily="34" charset="0"/>
                <a:ea typeface="Calibri" pitchFamily="34" charset="-122"/>
                <a:cs typeface="Calibri" pitchFamily="34" charset="-120"/>
              </a:rPr>
              <a:t>CAPSTONE PROJECT  •  MODULE 3</a:t>
            </a:r>
            <a:endParaRPr lang="en-US" sz="1400" dirty="0"/>
          </a:p>
        </p:txBody>
      </p:sp>
      <p:sp>
        <p:nvSpPr>
          <p:cNvPr id="6" name="Text 4"/>
          <p:cNvSpPr/>
          <p:nvPr/>
        </p:nvSpPr>
        <p:spPr>
          <a:xfrm>
            <a:off x="566928" y="1874520"/>
            <a:ext cx="10332720" cy="1737360"/>
          </a:xfrm>
          <a:prstGeom prst="rect">
            <a:avLst/>
          </a:prstGeom>
          <a:noFill/>
          <a:ln/>
        </p:spPr>
        <p:txBody>
          <a:bodyPr wrap="square" lIns="0" tIns="0" rIns="0" bIns="0" rtlCol="0" anchor="ctr"/>
          <a:lstStyle/>
          <a:p>
            <a:pPr marL="0" indent="0">
              <a:lnSpc>
                <a:spcPct val="102000"/>
              </a:lnSpc>
              <a:buNone/>
            </a:pPr>
            <a:r>
              <a:rPr lang="en-US" sz="4200" b="1" dirty="0">
                <a:solidFill>
                  <a:srgbClr val="FFFFFF"/>
                </a:solidFill>
                <a:latin typeface="Cambria" pitchFamily="34" charset="0"/>
                <a:ea typeface="Cambria" pitchFamily="34" charset="-122"/>
                <a:cs typeface="Cambria" pitchFamily="34" charset="-120"/>
              </a:rPr>
              <a:t>Prediksi Pembatalan Pemesanan Hotel</a:t>
            </a:r>
            <a:endParaRPr lang="en-US" sz="4200" dirty="0"/>
          </a:p>
          <a:p>
            <a:pPr marL="0" indent="0">
              <a:lnSpc>
                <a:spcPct val="102000"/>
              </a:lnSpc>
              <a:buNone/>
            </a:pPr>
            <a:r>
              <a:rPr lang="en-US" sz="4200" b="1" dirty="0">
                <a:solidFill>
                  <a:srgbClr val="FFFFFF"/>
                </a:solidFill>
                <a:latin typeface="Cambria" pitchFamily="34" charset="0"/>
                <a:ea typeface="Cambria" pitchFamily="34" charset="-122"/>
                <a:cs typeface="Cambria" pitchFamily="34" charset="-120"/>
              </a:rPr>
              <a:t>dengan Machine Learning</a:t>
            </a:r>
            <a:endParaRPr lang="en-US" sz="4200" dirty="0"/>
          </a:p>
        </p:txBody>
      </p:sp>
      <p:sp>
        <p:nvSpPr>
          <p:cNvPr id="7" name="Text 5"/>
          <p:cNvSpPr/>
          <p:nvPr/>
        </p:nvSpPr>
        <p:spPr>
          <a:xfrm>
            <a:off x="566928" y="3794760"/>
            <a:ext cx="8595360" cy="822960"/>
          </a:xfrm>
          <a:prstGeom prst="rect">
            <a:avLst/>
          </a:prstGeom>
          <a:noFill/>
          <a:ln/>
        </p:spPr>
        <p:txBody>
          <a:bodyPr wrap="square" lIns="0" tIns="0" rIns="0" bIns="0" rtlCol="0" anchor="ctr"/>
          <a:lstStyle/>
          <a:p>
            <a:pPr marL="0" indent="0">
              <a:lnSpc>
                <a:spcPct val="115000"/>
              </a:lnSpc>
              <a:buNone/>
            </a:pPr>
            <a:r>
              <a:rPr lang="en-US" sz="1600" dirty="0">
                <a:solidFill>
                  <a:srgbClr val="C7D2E2"/>
                </a:solidFill>
                <a:latin typeface="Calibri" pitchFamily="34" charset="0"/>
                <a:ea typeface="Calibri" pitchFamily="34" charset="-122"/>
                <a:cs typeface="Calibri" pitchFamily="34" charset="-120"/>
              </a:rPr>
              <a:t>Mengubah setiap pemesanan menjadi skor risiko pembatalan untuk melindungi pendapatan kamar sebelum tamu tiba.</a:t>
            </a:r>
            <a:endParaRPr lang="en-US" sz="1600" dirty="0"/>
          </a:p>
        </p:txBody>
      </p:sp>
      <p:sp>
        <p:nvSpPr>
          <p:cNvPr id="8" name="Shape 6"/>
          <p:cNvSpPr/>
          <p:nvPr/>
        </p:nvSpPr>
        <p:spPr>
          <a:xfrm>
            <a:off x="566928" y="5074920"/>
            <a:ext cx="3108960" cy="0"/>
          </a:xfrm>
          <a:prstGeom prst="line">
            <a:avLst/>
          </a:prstGeom>
          <a:noFill/>
          <a:ln w="19050">
            <a:solidFill>
              <a:srgbClr val="C8A04B"/>
            </a:solidFill>
            <a:prstDash val="solid"/>
          </a:ln>
        </p:spPr>
        <p:txBody>
          <a:bodyPr/>
          <a:lstStyle/>
          <a:p>
            <a:endParaRPr lang="en-US"/>
          </a:p>
        </p:txBody>
      </p:sp>
      <p:sp>
        <p:nvSpPr>
          <p:cNvPr id="9" name="Text 7"/>
          <p:cNvSpPr/>
          <p:nvPr/>
        </p:nvSpPr>
        <p:spPr>
          <a:xfrm>
            <a:off x="566928" y="5212080"/>
            <a:ext cx="7315200" cy="7315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Darrell Lokadeva Lim</a:t>
            </a:r>
            <a:endParaRPr lang="en-US" sz="1600" dirty="0"/>
          </a:p>
          <a:p>
            <a:pPr marL="0" indent="0">
              <a:buNone/>
            </a:pPr>
            <a:r>
              <a:rPr lang="en-US" sz="1200" dirty="0">
                <a:solidFill>
                  <a:srgbClr val="9FB0C7"/>
                </a:solidFill>
                <a:latin typeface="Calibri" pitchFamily="34" charset="0"/>
                <a:ea typeface="Calibri" pitchFamily="34" charset="-122"/>
                <a:cs typeface="Calibri" pitchFamily="34" charset="-120"/>
              </a:rPr>
              <a:t>Hotel Booking Demand — Binary Classification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Alur Presentasi</a:t>
            </a:r>
            <a:endParaRPr lang="en-US" sz="3000" dirty="0"/>
          </a:p>
        </p:txBody>
      </p:sp>
      <p:sp>
        <p:nvSpPr>
          <p:cNvPr id="4" name="Shape 2"/>
          <p:cNvSpPr/>
          <p:nvPr/>
        </p:nvSpPr>
        <p:spPr>
          <a:xfrm>
            <a:off x="566928" y="1627632"/>
            <a:ext cx="5330952" cy="1078992"/>
          </a:xfrm>
          <a:prstGeom prst="roundRect">
            <a:avLst>
              <a:gd name="adj" fmla="val 593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5" name="Shape 3"/>
          <p:cNvSpPr/>
          <p:nvPr/>
        </p:nvSpPr>
        <p:spPr>
          <a:xfrm>
            <a:off x="768096" y="1883664"/>
            <a:ext cx="566928" cy="566928"/>
          </a:xfrm>
          <a:prstGeom prst="ellipse">
            <a:avLst/>
          </a:prstGeom>
          <a:solidFill>
            <a:srgbClr val="16253D"/>
          </a:solidFill>
          <a:ln/>
        </p:spPr>
        <p:txBody>
          <a:bodyPr/>
          <a:lstStyle/>
          <a:p>
            <a:endParaRPr lang="en-US"/>
          </a:p>
        </p:txBody>
      </p:sp>
      <p:sp>
        <p:nvSpPr>
          <p:cNvPr id="6" name="Text 4"/>
          <p:cNvSpPr/>
          <p:nvPr/>
        </p:nvSpPr>
        <p:spPr>
          <a:xfrm>
            <a:off x="768096" y="1883664"/>
            <a:ext cx="566928" cy="566928"/>
          </a:xfrm>
          <a:prstGeom prst="rect">
            <a:avLst/>
          </a:prstGeom>
          <a:noFill/>
          <a:ln/>
        </p:spPr>
        <p:txBody>
          <a:bodyPr wrap="square" lIns="0" tIns="0" rIns="0" bIns="0" rtlCol="0" anchor="ctr"/>
          <a:lstStyle/>
          <a:p>
            <a:pPr marL="0" indent="0" algn="ctr">
              <a:buNone/>
            </a:pPr>
            <a:r>
              <a:rPr lang="en-US" sz="1700" b="1" dirty="0">
                <a:solidFill>
                  <a:srgbClr val="C8A04B"/>
                </a:solidFill>
                <a:latin typeface="Cambria" pitchFamily="34" charset="0"/>
                <a:ea typeface="Cambria" pitchFamily="34" charset="-122"/>
                <a:cs typeface="Cambria" pitchFamily="34" charset="-120"/>
              </a:rPr>
              <a:t>01</a:t>
            </a:r>
            <a:endParaRPr lang="en-US" sz="1700" dirty="0"/>
          </a:p>
        </p:txBody>
      </p:sp>
      <p:sp>
        <p:nvSpPr>
          <p:cNvPr id="7" name="Text 5"/>
          <p:cNvSpPr/>
          <p:nvPr/>
        </p:nvSpPr>
        <p:spPr>
          <a:xfrm>
            <a:off x="1527048" y="1773936"/>
            <a:ext cx="4187952" cy="804672"/>
          </a:xfrm>
          <a:prstGeom prst="rect">
            <a:avLst/>
          </a:prstGeom>
          <a:noFill/>
          <a:ln/>
        </p:spPr>
        <p:txBody>
          <a:bodyPr wrap="square" lIns="0" tIns="0" rIns="0" bIns="0" rtlCol="0" anchor="ctr"/>
          <a:lstStyle/>
          <a:p>
            <a:pPr marL="0" indent="0">
              <a:lnSpc>
                <a:spcPct val="105000"/>
              </a:lnSpc>
              <a:buNone/>
            </a:pPr>
            <a:r>
              <a:rPr lang="en-US" sz="1500" b="1" dirty="0">
                <a:solidFill>
                  <a:srgbClr val="16253D"/>
                </a:solidFill>
                <a:latin typeface="Calibri" pitchFamily="34" charset="0"/>
                <a:ea typeface="Calibri" pitchFamily="34" charset="-122"/>
                <a:cs typeface="Calibri" pitchFamily="34" charset="-120"/>
              </a:rPr>
              <a:t>Ringkasan Eksekutif</a:t>
            </a:r>
            <a:endParaRPr lang="en-US" sz="1500" dirty="0"/>
          </a:p>
          <a:p>
            <a:pPr marL="0" indent="0">
              <a:lnSpc>
                <a:spcPct val="105000"/>
              </a:lnSpc>
              <a:buNone/>
            </a:pPr>
            <a:r>
              <a:rPr lang="en-US" sz="1150" dirty="0">
                <a:solidFill>
                  <a:srgbClr val="6B7785"/>
                </a:solidFill>
                <a:latin typeface="Calibri" pitchFamily="34" charset="0"/>
                <a:ea typeface="Calibri" pitchFamily="34" charset="-122"/>
                <a:cs typeface="Calibri" pitchFamily="34" charset="-120"/>
              </a:rPr>
              <a:t>Latar belakang, masalah, tujuan, metrik</a:t>
            </a:r>
            <a:endParaRPr lang="en-US" sz="1500" dirty="0"/>
          </a:p>
        </p:txBody>
      </p:sp>
      <p:sp>
        <p:nvSpPr>
          <p:cNvPr id="8" name="Shape 6"/>
          <p:cNvSpPr/>
          <p:nvPr/>
        </p:nvSpPr>
        <p:spPr>
          <a:xfrm>
            <a:off x="6263640" y="1627632"/>
            <a:ext cx="5330952" cy="1078992"/>
          </a:xfrm>
          <a:prstGeom prst="roundRect">
            <a:avLst>
              <a:gd name="adj" fmla="val 593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9" name="Shape 7"/>
          <p:cNvSpPr/>
          <p:nvPr/>
        </p:nvSpPr>
        <p:spPr>
          <a:xfrm>
            <a:off x="6464808" y="1883664"/>
            <a:ext cx="566928" cy="566928"/>
          </a:xfrm>
          <a:prstGeom prst="ellipse">
            <a:avLst/>
          </a:prstGeom>
          <a:solidFill>
            <a:srgbClr val="16253D"/>
          </a:solidFill>
          <a:ln/>
        </p:spPr>
        <p:txBody>
          <a:bodyPr/>
          <a:lstStyle/>
          <a:p>
            <a:endParaRPr lang="en-US"/>
          </a:p>
        </p:txBody>
      </p:sp>
      <p:sp>
        <p:nvSpPr>
          <p:cNvPr id="10" name="Text 8"/>
          <p:cNvSpPr/>
          <p:nvPr/>
        </p:nvSpPr>
        <p:spPr>
          <a:xfrm>
            <a:off x="6464808" y="1883664"/>
            <a:ext cx="566928" cy="566928"/>
          </a:xfrm>
          <a:prstGeom prst="rect">
            <a:avLst/>
          </a:prstGeom>
          <a:noFill/>
          <a:ln/>
        </p:spPr>
        <p:txBody>
          <a:bodyPr wrap="square" lIns="0" tIns="0" rIns="0" bIns="0" rtlCol="0" anchor="ctr"/>
          <a:lstStyle/>
          <a:p>
            <a:pPr marL="0" indent="0" algn="ctr">
              <a:buNone/>
            </a:pPr>
            <a:r>
              <a:rPr lang="en-US" sz="1700" b="1" dirty="0">
                <a:solidFill>
                  <a:srgbClr val="C8A04B"/>
                </a:solidFill>
                <a:latin typeface="Cambria" pitchFamily="34" charset="0"/>
                <a:ea typeface="Cambria" pitchFamily="34" charset="-122"/>
                <a:cs typeface="Cambria" pitchFamily="34" charset="-120"/>
              </a:rPr>
              <a:t>02</a:t>
            </a:r>
            <a:endParaRPr lang="en-US" sz="1700" dirty="0"/>
          </a:p>
        </p:txBody>
      </p:sp>
      <p:sp>
        <p:nvSpPr>
          <p:cNvPr id="11" name="Text 9"/>
          <p:cNvSpPr/>
          <p:nvPr/>
        </p:nvSpPr>
        <p:spPr>
          <a:xfrm>
            <a:off x="7223760" y="1773936"/>
            <a:ext cx="4187952" cy="804672"/>
          </a:xfrm>
          <a:prstGeom prst="rect">
            <a:avLst/>
          </a:prstGeom>
          <a:noFill/>
          <a:ln/>
        </p:spPr>
        <p:txBody>
          <a:bodyPr wrap="square" lIns="0" tIns="0" rIns="0" bIns="0" rtlCol="0" anchor="ctr"/>
          <a:lstStyle/>
          <a:p>
            <a:pPr marL="0" indent="0">
              <a:lnSpc>
                <a:spcPct val="105000"/>
              </a:lnSpc>
              <a:buNone/>
            </a:pPr>
            <a:r>
              <a:rPr lang="en-US" sz="1500" b="1" dirty="0">
                <a:solidFill>
                  <a:srgbClr val="16253D"/>
                </a:solidFill>
                <a:latin typeface="Calibri" pitchFamily="34" charset="0"/>
                <a:ea typeface="Calibri" pitchFamily="34" charset="-122"/>
                <a:cs typeface="Calibri" pitchFamily="34" charset="-120"/>
              </a:rPr>
              <a:t>Pemahaman Data</a:t>
            </a:r>
            <a:endParaRPr lang="en-US" sz="1500" dirty="0"/>
          </a:p>
          <a:p>
            <a:pPr marL="0" indent="0">
              <a:lnSpc>
                <a:spcPct val="105000"/>
              </a:lnSpc>
              <a:buNone/>
            </a:pPr>
            <a:r>
              <a:rPr lang="en-US" sz="1150" dirty="0">
                <a:solidFill>
                  <a:srgbClr val="6B7785"/>
                </a:solidFill>
                <a:latin typeface="Calibri" pitchFamily="34" charset="0"/>
                <a:ea typeface="Calibri" pitchFamily="34" charset="-122"/>
                <a:cs typeface="Calibri" pitchFamily="34" charset="-120"/>
              </a:rPr>
              <a:t>Struktur dataset &amp; arti tiap kolom</a:t>
            </a:r>
            <a:endParaRPr lang="en-US" sz="1500" dirty="0"/>
          </a:p>
        </p:txBody>
      </p:sp>
      <p:sp>
        <p:nvSpPr>
          <p:cNvPr id="12" name="Shape 10"/>
          <p:cNvSpPr/>
          <p:nvPr/>
        </p:nvSpPr>
        <p:spPr>
          <a:xfrm>
            <a:off x="566928" y="2871216"/>
            <a:ext cx="5330952" cy="1078992"/>
          </a:xfrm>
          <a:prstGeom prst="roundRect">
            <a:avLst>
              <a:gd name="adj" fmla="val 593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3" name="Shape 11"/>
          <p:cNvSpPr/>
          <p:nvPr/>
        </p:nvSpPr>
        <p:spPr>
          <a:xfrm>
            <a:off x="768096" y="3127248"/>
            <a:ext cx="566928" cy="566928"/>
          </a:xfrm>
          <a:prstGeom prst="ellipse">
            <a:avLst/>
          </a:prstGeom>
          <a:solidFill>
            <a:srgbClr val="16253D"/>
          </a:solidFill>
          <a:ln/>
        </p:spPr>
        <p:txBody>
          <a:bodyPr/>
          <a:lstStyle/>
          <a:p>
            <a:endParaRPr lang="en-US"/>
          </a:p>
        </p:txBody>
      </p:sp>
      <p:sp>
        <p:nvSpPr>
          <p:cNvPr id="14" name="Text 12"/>
          <p:cNvSpPr/>
          <p:nvPr/>
        </p:nvSpPr>
        <p:spPr>
          <a:xfrm>
            <a:off x="768096" y="3127248"/>
            <a:ext cx="566928" cy="566928"/>
          </a:xfrm>
          <a:prstGeom prst="rect">
            <a:avLst/>
          </a:prstGeom>
          <a:noFill/>
          <a:ln/>
        </p:spPr>
        <p:txBody>
          <a:bodyPr wrap="square" lIns="0" tIns="0" rIns="0" bIns="0" rtlCol="0" anchor="ctr"/>
          <a:lstStyle/>
          <a:p>
            <a:pPr marL="0" indent="0" algn="ctr">
              <a:buNone/>
            </a:pPr>
            <a:r>
              <a:rPr lang="en-US" sz="1700" b="1" dirty="0">
                <a:solidFill>
                  <a:srgbClr val="C8A04B"/>
                </a:solidFill>
                <a:latin typeface="Cambria" pitchFamily="34" charset="0"/>
                <a:ea typeface="Cambria" pitchFamily="34" charset="-122"/>
                <a:cs typeface="Cambria" pitchFamily="34" charset="-120"/>
              </a:rPr>
              <a:t>03</a:t>
            </a:r>
            <a:endParaRPr lang="en-US" sz="1700" dirty="0"/>
          </a:p>
        </p:txBody>
      </p:sp>
      <p:sp>
        <p:nvSpPr>
          <p:cNvPr id="15" name="Text 13"/>
          <p:cNvSpPr/>
          <p:nvPr/>
        </p:nvSpPr>
        <p:spPr>
          <a:xfrm>
            <a:off x="1527048" y="3017520"/>
            <a:ext cx="4187952" cy="804672"/>
          </a:xfrm>
          <a:prstGeom prst="rect">
            <a:avLst/>
          </a:prstGeom>
          <a:noFill/>
          <a:ln/>
        </p:spPr>
        <p:txBody>
          <a:bodyPr wrap="square" lIns="0" tIns="0" rIns="0" bIns="0" rtlCol="0" anchor="ctr"/>
          <a:lstStyle/>
          <a:p>
            <a:pPr marL="0" indent="0">
              <a:lnSpc>
                <a:spcPct val="105000"/>
              </a:lnSpc>
              <a:buNone/>
            </a:pPr>
            <a:r>
              <a:rPr lang="en-US" sz="1500" b="1" dirty="0">
                <a:solidFill>
                  <a:srgbClr val="16253D"/>
                </a:solidFill>
                <a:latin typeface="Calibri" pitchFamily="34" charset="0"/>
                <a:ea typeface="Calibri" pitchFamily="34" charset="-122"/>
                <a:cs typeface="Calibri" pitchFamily="34" charset="-120"/>
              </a:rPr>
              <a:t>Analisis Data Eksploratif</a:t>
            </a:r>
            <a:endParaRPr lang="en-US" sz="1500" dirty="0"/>
          </a:p>
          <a:p>
            <a:pPr marL="0" indent="0">
              <a:lnSpc>
                <a:spcPct val="105000"/>
              </a:lnSpc>
              <a:buNone/>
            </a:pPr>
            <a:r>
              <a:rPr lang="en-US" sz="1150" dirty="0">
                <a:solidFill>
                  <a:srgbClr val="6B7785"/>
                </a:solidFill>
                <a:latin typeface="Calibri" pitchFamily="34" charset="0"/>
                <a:ea typeface="Calibri" pitchFamily="34" charset="-122"/>
                <a:cs typeface="Calibri" pitchFamily="34" charset="-120"/>
              </a:rPr>
              <a:t>Sinyal pembatalan terkuat</a:t>
            </a:r>
            <a:endParaRPr lang="en-US" sz="1500" dirty="0"/>
          </a:p>
        </p:txBody>
      </p:sp>
      <p:sp>
        <p:nvSpPr>
          <p:cNvPr id="16" name="Shape 14"/>
          <p:cNvSpPr/>
          <p:nvPr/>
        </p:nvSpPr>
        <p:spPr>
          <a:xfrm>
            <a:off x="6263640" y="2871216"/>
            <a:ext cx="5330952" cy="1078992"/>
          </a:xfrm>
          <a:prstGeom prst="roundRect">
            <a:avLst>
              <a:gd name="adj" fmla="val 593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7" name="Shape 15"/>
          <p:cNvSpPr/>
          <p:nvPr/>
        </p:nvSpPr>
        <p:spPr>
          <a:xfrm>
            <a:off x="6464808" y="3127248"/>
            <a:ext cx="566928" cy="566928"/>
          </a:xfrm>
          <a:prstGeom prst="ellipse">
            <a:avLst/>
          </a:prstGeom>
          <a:solidFill>
            <a:srgbClr val="16253D"/>
          </a:solidFill>
          <a:ln/>
        </p:spPr>
        <p:txBody>
          <a:bodyPr/>
          <a:lstStyle/>
          <a:p>
            <a:endParaRPr lang="en-US"/>
          </a:p>
        </p:txBody>
      </p:sp>
      <p:sp>
        <p:nvSpPr>
          <p:cNvPr id="18" name="Text 16"/>
          <p:cNvSpPr/>
          <p:nvPr/>
        </p:nvSpPr>
        <p:spPr>
          <a:xfrm>
            <a:off x="6464808" y="3127248"/>
            <a:ext cx="566928" cy="566928"/>
          </a:xfrm>
          <a:prstGeom prst="rect">
            <a:avLst/>
          </a:prstGeom>
          <a:noFill/>
          <a:ln/>
        </p:spPr>
        <p:txBody>
          <a:bodyPr wrap="square" lIns="0" tIns="0" rIns="0" bIns="0" rtlCol="0" anchor="ctr"/>
          <a:lstStyle/>
          <a:p>
            <a:pPr marL="0" indent="0" algn="ctr">
              <a:buNone/>
            </a:pPr>
            <a:r>
              <a:rPr lang="en-US" sz="1700" b="1" dirty="0">
                <a:solidFill>
                  <a:srgbClr val="C8A04B"/>
                </a:solidFill>
                <a:latin typeface="Cambria" pitchFamily="34" charset="0"/>
                <a:ea typeface="Cambria" pitchFamily="34" charset="-122"/>
                <a:cs typeface="Cambria" pitchFamily="34" charset="-120"/>
              </a:rPr>
              <a:t>04</a:t>
            </a:r>
            <a:endParaRPr lang="en-US" sz="1700" dirty="0"/>
          </a:p>
        </p:txBody>
      </p:sp>
      <p:sp>
        <p:nvSpPr>
          <p:cNvPr id="19" name="Text 17"/>
          <p:cNvSpPr/>
          <p:nvPr/>
        </p:nvSpPr>
        <p:spPr>
          <a:xfrm>
            <a:off x="7223760" y="3017520"/>
            <a:ext cx="4187952" cy="804672"/>
          </a:xfrm>
          <a:prstGeom prst="rect">
            <a:avLst/>
          </a:prstGeom>
          <a:noFill/>
          <a:ln/>
        </p:spPr>
        <p:txBody>
          <a:bodyPr wrap="square" lIns="0" tIns="0" rIns="0" bIns="0" rtlCol="0" anchor="ctr"/>
          <a:lstStyle/>
          <a:p>
            <a:pPr marL="0" indent="0">
              <a:lnSpc>
                <a:spcPct val="105000"/>
              </a:lnSpc>
              <a:buNone/>
            </a:pPr>
            <a:r>
              <a:rPr lang="en-US" sz="1500" b="1" dirty="0">
                <a:solidFill>
                  <a:srgbClr val="16253D"/>
                </a:solidFill>
                <a:latin typeface="Calibri" pitchFamily="34" charset="0"/>
                <a:ea typeface="Calibri" pitchFamily="34" charset="-122"/>
                <a:cs typeface="Calibri" pitchFamily="34" charset="-120"/>
              </a:rPr>
              <a:t>Cleaning &amp; Feature Engineering</a:t>
            </a:r>
            <a:endParaRPr lang="en-US" sz="1500" dirty="0"/>
          </a:p>
          <a:p>
            <a:pPr marL="0" indent="0">
              <a:lnSpc>
                <a:spcPct val="105000"/>
              </a:lnSpc>
              <a:buNone/>
            </a:pPr>
            <a:r>
              <a:rPr lang="en-US" sz="1150" dirty="0">
                <a:solidFill>
                  <a:srgbClr val="6B7785"/>
                </a:solidFill>
                <a:latin typeface="Calibri" pitchFamily="34" charset="0"/>
                <a:ea typeface="Calibri" pitchFamily="34" charset="-122"/>
                <a:cs typeface="Calibri" pitchFamily="34" charset="-120"/>
              </a:rPr>
              <a:t>Keputusan duplikat &amp; pipeline</a:t>
            </a:r>
            <a:endParaRPr lang="en-US" sz="1500" dirty="0"/>
          </a:p>
        </p:txBody>
      </p:sp>
      <p:sp>
        <p:nvSpPr>
          <p:cNvPr id="20" name="Shape 18"/>
          <p:cNvSpPr/>
          <p:nvPr/>
        </p:nvSpPr>
        <p:spPr>
          <a:xfrm>
            <a:off x="566928" y="4114800"/>
            <a:ext cx="5330952" cy="1078992"/>
          </a:xfrm>
          <a:prstGeom prst="roundRect">
            <a:avLst>
              <a:gd name="adj" fmla="val 593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1" name="Shape 19"/>
          <p:cNvSpPr/>
          <p:nvPr/>
        </p:nvSpPr>
        <p:spPr>
          <a:xfrm>
            <a:off x="768096" y="4370832"/>
            <a:ext cx="566928" cy="566928"/>
          </a:xfrm>
          <a:prstGeom prst="ellipse">
            <a:avLst/>
          </a:prstGeom>
          <a:solidFill>
            <a:srgbClr val="16253D"/>
          </a:solidFill>
          <a:ln/>
        </p:spPr>
        <p:txBody>
          <a:bodyPr/>
          <a:lstStyle/>
          <a:p>
            <a:endParaRPr lang="en-US"/>
          </a:p>
        </p:txBody>
      </p:sp>
      <p:sp>
        <p:nvSpPr>
          <p:cNvPr id="22" name="Text 20"/>
          <p:cNvSpPr/>
          <p:nvPr/>
        </p:nvSpPr>
        <p:spPr>
          <a:xfrm>
            <a:off x="768096" y="4370832"/>
            <a:ext cx="566928" cy="566928"/>
          </a:xfrm>
          <a:prstGeom prst="rect">
            <a:avLst/>
          </a:prstGeom>
          <a:noFill/>
          <a:ln/>
        </p:spPr>
        <p:txBody>
          <a:bodyPr wrap="square" lIns="0" tIns="0" rIns="0" bIns="0" rtlCol="0" anchor="ctr"/>
          <a:lstStyle/>
          <a:p>
            <a:pPr marL="0" indent="0" algn="ctr">
              <a:buNone/>
            </a:pPr>
            <a:r>
              <a:rPr lang="en-US" sz="1700" b="1" dirty="0">
                <a:solidFill>
                  <a:srgbClr val="C8A04B"/>
                </a:solidFill>
                <a:latin typeface="Cambria" pitchFamily="34" charset="0"/>
                <a:ea typeface="Cambria" pitchFamily="34" charset="-122"/>
                <a:cs typeface="Cambria" pitchFamily="34" charset="-120"/>
              </a:rPr>
              <a:t>05</a:t>
            </a:r>
            <a:endParaRPr lang="en-US" sz="1700" dirty="0"/>
          </a:p>
        </p:txBody>
      </p:sp>
      <p:sp>
        <p:nvSpPr>
          <p:cNvPr id="23" name="Text 21"/>
          <p:cNvSpPr/>
          <p:nvPr/>
        </p:nvSpPr>
        <p:spPr>
          <a:xfrm>
            <a:off x="1527048" y="4261104"/>
            <a:ext cx="4187952" cy="804672"/>
          </a:xfrm>
          <a:prstGeom prst="rect">
            <a:avLst/>
          </a:prstGeom>
          <a:noFill/>
          <a:ln/>
        </p:spPr>
        <p:txBody>
          <a:bodyPr wrap="square" lIns="0" tIns="0" rIns="0" bIns="0" rtlCol="0" anchor="ctr"/>
          <a:lstStyle/>
          <a:p>
            <a:pPr marL="0" indent="0">
              <a:lnSpc>
                <a:spcPct val="105000"/>
              </a:lnSpc>
              <a:buNone/>
            </a:pPr>
            <a:r>
              <a:rPr lang="en-US" sz="1500" b="1" dirty="0">
                <a:solidFill>
                  <a:srgbClr val="16253D"/>
                </a:solidFill>
                <a:latin typeface="Calibri" pitchFamily="34" charset="0"/>
                <a:ea typeface="Calibri" pitchFamily="34" charset="-122"/>
                <a:cs typeface="Calibri" pitchFamily="34" charset="-120"/>
              </a:rPr>
              <a:t>Pemodelan &amp; Evaluasi</a:t>
            </a:r>
            <a:endParaRPr lang="en-US" sz="1500" dirty="0"/>
          </a:p>
          <a:p>
            <a:pPr marL="0" indent="0">
              <a:lnSpc>
                <a:spcPct val="105000"/>
              </a:lnSpc>
              <a:buNone/>
            </a:pPr>
            <a:r>
              <a:rPr lang="en-US" sz="1150" dirty="0">
                <a:solidFill>
                  <a:srgbClr val="6B7785"/>
                </a:solidFill>
                <a:latin typeface="Calibri" pitchFamily="34" charset="0"/>
                <a:ea typeface="Calibri" pitchFamily="34" charset="-122"/>
                <a:cs typeface="Calibri" pitchFamily="34" charset="-120"/>
              </a:rPr>
              <a:t>Perbandingan 4 model + uji kejujuran</a:t>
            </a:r>
            <a:endParaRPr lang="en-US" sz="1500" dirty="0"/>
          </a:p>
        </p:txBody>
      </p:sp>
      <p:sp>
        <p:nvSpPr>
          <p:cNvPr id="24" name="Shape 22"/>
          <p:cNvSpPr/>
          <p:nvPr/>
        </p:nvSpPr>
        <p:spPr>
          <a:xfrm>
            <a:off x="6263640" y="4114800"/>
            <a:ext cx="5330952" cy="1078992"/>
          </a:xfrm>
          <a:prstGeom prst="roundRect">
            <a:avLst>
              <a:gd name="adj" fmla="val 593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5" name="Shape 23"/>
          <p:cNvSpPr/>
          <p:nvPr/>
        </p:nvSpPr>
        <p:spPr>
          <a:xfrm>
            <a:off x="6464808" y="4370832"/>
            <a:ext cx="566928" cy="566928"/>
          </a:xfrm>
          <a:prstGeom prst="ellipse">
            <a:avLst/>
          </a:prstGeom>
          <a:solidFill>
            <a:srgbClr val="16253D"/>
          </a:solidFill>
          <a:ln/>
        </p:spPr>
        <p:txBody>
          <a:bodyPr/>
          <a:lstStyle/>
          <a:p>
            <a:endParaRPr lang="en-US"/>
          </a:p>
        </p:txBody>
      </p:sp>
      <p:sp>
        <p:nvSpPr>
          <p:cNvPr id="26" name="Text 24"/>
          <p:cNvSpPr/>
          <p:nvPr/>
        </p:nvSpPr>
        <p:spPr>
          <a:xfrm>
            <a:off x="6464808" y="4370832"/>
            <a:ext cx="566928" cy="566928"/>
          </a:xfrm>
          <a:prstGeom prst="rect">
            <a:avLst/>
          </a:prstGeom>
          <a:noFill/>
          <a:ln/>
        </p:spPr>
        <p:txBody>
          <a:bodyPr wrap="square" lIns="0" tIns="0" rIns="0" bIns="0" rtlCol="0" anchor="ctr"/>
          <a:lstStyle/>
          <a:p>
            <a:pPr marL="0" indent="0" algn="ctr">
              <a:buNone/>
            </a:pPr>
            <a:r>
              <a:rPr lang="en-US" sz="1700" b="1" dirty="0">
                <a:solidFill>
                  <a:srgbClr val="C8A04B"/>
                </a:solidFill>
                <a:latin typeface="Cambria" pitchFamily="34" charset="0"/>
                <a:ea typeface="Cambria" pitchFamily="34" charset="-122"/>
                <a:cs typeface="Cambria" pitchFamily="34" charset="-120"/>
              </a:rPr>
              <a:t>06</a:t>
            </a:r>
            <a:endParaRPr lang="en-US" sz="1700" dirty="0"/>
          </a:p>
        </p:txBody>
      </p:sp>
      <p:sp>
        <p:nvSpPr>
          <p:cNvPr id="27" name="Text 25"/>
          <p:cNvSpPr/>
          <p:nvPr/>
        </p:nvSpPr>
        <p:spPr>
          <a:xfrm>
            <a:off x="7223760" y="4261104"/>
            <a:ext cx="4187952" cy="804672"/>
          </a:xfrm>
          <a:prstGeom prst="rect">
            <a:avLst/>
          </a:prstGeom>
          <a:noFill/>
          <a:ln/>
        </p:spPr>
        <p:txBody>
          <a:bodyPr wrap="square" lIns="0" tIns="0" rIns="0" bIns="0" rtlCol="0" anchor="ctr"/>
          <a:lstStyle/>
          <a:p>
            <a:pPr marL="0" indent="0">
              <a:lnSpc>
                <a:spcPct val="105000"/>
              </a:lnSpc>
              <a:buNone/>
            </a:pPr>
            <a:r>
              <a:rPr lang="en-US" sz="1500" b="1" dirty="0">
                <a:solidFill>
                  <a:srgbClr val="16253D"/>
                </a:solidFill>
                <a:latin typeface="Calibri" pitchFamily="34" charset="0"/>
                <a:ea typeface="Calibri" pitchFamily="34" charset="-122"/>
                <a:cs typeface="Calibri" pitchFamily="34" charset="-120"/>
              </a:rPr>
              <a:t>Ambang Batas &amp; Interpretasi</a:t>
            </a:r>
            <a:endParaRPr lang="en-US" sz="1500" dirty="0"/>
          </a:p>
          <a:p>
            <a:pPr marL="0" indent="0">
              <a:lnSpc>
                <a:spcPct val="105000"/>
              </a:lnSpc>
              <a:buNone/>
            </a:pPr>
            <a:r>
              <a:rPr lang="en-US" sz="1150" dirty="0">
                <a:solidFill>
                  <a:srgbClr val="6B7785"/>
                </a:solidFill>
                <a:latin typeface="Calibri" pitchFamily="34" charset="0"/>
                <a:ea typeface="Calibri" pitchFamily="34" charset="-122"/>
                <a:cs typeface="Calibri" pitchFamily="34" charset="-120"/>
              </a:rPr>
              <a:t>Titik operasi &amp; pendorong prediksi</a:t>
            </a:r>
            <a:endParaRPr lang="en-US" sz="1500" dirty="0"/>
          </a:p>
        </p:txBody>
      </p:sp>
      <p:sp>
        <p:nvSpPr>
          <p:cNvPr id="28" name="Shape 26"/>
          <p:cNvSpPr/>
          <p:nvPr/>
        </p:nvSpPr>
        <p:spPr>
          <a:xfrm>
            <a:off x="566928" y="5358384"/>
            <a:ext cx="5330952" cy="1078992"/>
          </a:xfrm>
          <a:prstGeom prst="roundRect">
            <a:avLst>
              <a:gd name="adj" fmla="val 593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9" name="Shape 27"/>
          <p:cNvSpPr/>
          <p:nvPr/>
        </p:nvSpPr>
        <p:spPr>
          <a:xfrm>
            <a:off x="768096" y="5614416"/>
            <a:ext cx="566928" cy="566928"/>
          </a:xfrm>
          <a:prstGeom prst="ellipse">
            <a:avLst/>
          </a:prstGeom>
          <a:solidFill>
            <a:srgbClr val="16253D"/>
          </a:solidFill>
          <a:ln/>
        </p:spPr>
        <p:txBody>
          <a:bodyPr/>
          <a:lstStyle/>
          <a:p>
            <a:endParaRPr lang="en-US"/>
          </a:p>
        </p:txBody>
      </p:sp>
      <p:sp>
        <p:nvSpPr>
          <p:cNvPr id="30" name="Text 28"/>
          <p:cNvSpPr/>
          <p:nvPr/>
        </p:nvSpPr>
        <p:spPr>
          <a:xfrm>
            <a:off x="768096" y="5614416"/>
            <a:ext cx="566928" cy="566928"/>
          </a:xfrm>
          <a:prstGeom prst="rect">
            <a:avLst/>
          </a:prstGeom>
          <a:noFill/>
          <a:ln/>
        </p:spPr>
        <p:txBody>
          <a:bodyPr wrap="square" lIns="0" tIns="0" rIns="0" bIns="0" rtlCol="0" anchor="ctr"/>
          <a:lstStyle/>
          <a:p>
            <a:pPr marL="0" indent="0" algn="ctr">
              <a:buNone/>
            </a:pPr>
            <a:r>
              <a:rPr lang="en-US" sz="1700" b="1" dirty="0">
                <a:solidFill>
                  <a:srgbClr val="C8A04B"/>
                </a:solidFill>
                <a:latin typeface="Cambria" pitchFamily="34" charset="0"/>
                <a:ea typeface="Cambria" pitchFamily="34" charset="-122"/>
                <a:cs typeface="Cambria" pitchFamily="34" charset="-120"/>
              </a:rPr>
              <a:t>07</a:t>
            </a:r>
            <a:endParaRPr lang="en-US" sz="1700" dirty="0"/>
          </a:p>
        </p:txBody>
      </p:sp>
      <p:sp>
        <p:nvSpPr>
          <p:cNvPr id="31" name="Text 29"/>
          <p:cNvSpPr/>
          <p:nvPr/>
        </p:nvSpPr>
        <p:spPr>
          <a:xfrm>
            <a:off x="1527048" y="5504688"/>
            <a:ext cx="4187952" cy="804672"/>
          </a:xfrm>
          <a:prstGeom prst="rect">
            <a:avLst/>
          </a:prstGeom>
          <a:noFill/>
          <a:ln/>
        </p:spPr>
        <p:txBody>
          <a:bodyPr wrap="square" lIns="0" tIns="0" rIns="0" bIns="0" rtlCol="0" anchor="ctr"/>
          <a:lstStyle/>
          <a:p>
            <a:pPr marL="0" indent="0">
              <a:lnSpc>
                <a:spcPct val="105000"/>
              </a:lnSpc>
              <a:buNone/>
            </a:pPr>
            <a:r>
              <a:rPr lang="en-US" sz="1500" b="1" dirty="0">
                <a:solidFill>
                  <a:srgbClr val="16253D"/>
                </a:solidFill>
                <a:latin typeface="Calibri" pitchFamily="34" charset="0"/>
                <a:ea typeface="Calibri" pitchFamily="34" charset="-122"/>
                <a:cs typeface="Calibri" pitchFamily="34" charset="-120"/>
              </a:rPr>
              <a:t>Dampak Bisnis</a:t>
            </a:r>
            <a:endParaRPr lang="en-US" sz="1500" dirty="0"/>
          </a:p>
          <a:p>
            <a:pPr marL="0" indent="0">
              <a:lnSpc>
                <a:spcPct val="105000"/>
              </a:lnSpc>
              <a:buNone/>
            </a:pPr>
            <a:r>
              <a:rPr lang="en-US" sz="1150" dirty="0">
                <a:solidFill>
                  <a:srgbClr val="6B7785"/>
                </a:solidFill>
                <a:latin typeface="Calibri" pitchFamily="34" charset="0"/>
                <a:ea typeface="Calibri" pitchFamily="34" charset="-122"/>
                <a:cs typeface="Calibri" pitchFamily="34" charset="-120"/>
              </a:rPr>
              <a:t>Siapa pemakai &amp; estimasi nilai</a:t>
            </a:r>
            <a:endParaRPr lang="en-US" sz="1500" dirty="0"/>
          </a:p>
        </p:txBody>
      </p:sp>
      <p:sp>
        <p:nvSpPr>
          <p:cNvPr id="32" name="Shape 30"/>
          <p:cNvSpPr/>
          <p:nvPr/>
        </p:nvSpPr>
        <p:spPr>
          <a:xfrm>
            <a:off x="6263640" y="5358384"/>
            <a:ext cx="5330952" cy="1078992"/>
          </a:xfrm>
          <a:prstGeom prst="roundRect">
            <a:avLst>
              <a:gd name="adj" fmla="val 593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33" name="Shape 31"/>
          <p:cNvSpPr/>
          <p:nvPr/>
        </p:nvSpPr>
        <p:spPr>
          <a:xfrm>
            <a:off x="6464808" y="5614416"/>
            <a:ext cx="566928" cy="566928"/>
          </a:xfrm>
          <a:prstGeom prst="ellipse">
            <a:avLst/>
          </a:prstGeom>
          <a:solidFill>
            <a:srgbClr val="16253D"/>
          </a:solidFill>
          <a:ln/>
        </p:spPr>
        <p:txBody>
          <a:bodyPr/>
          <a:lstStyle/>
          <a:p>
            <a:endParaRPr lang="en-US"/>
          </a:p>
        </p:txBody>
      </p:sp>
      <p:sp>
        <p:nvSpPr>
          <p:cNvPr id="34" name="Text 32"/>
          <p:cNvSpPr/>
          <p:nvPr/>
        </p:nvSpPr>
        <p:spPr>
          <a:xfrm>
            <a:off x="6464808" y="5614416"/>
            <a:ext cx="566928" cy="566928"/>
          </a:xfrm>
          <a:prstGeom prst="rect">
            <a:avLst/>
          </a:prstGeom>
          <a:noFill/>
          <a:ln/>
        </p:spPr>
        <p:txBody>
          <a:bodyPr wrap="square" lIns="0" tIns="0" rIns="0" bIns="0" rtlCol="0" anchor="ctr"/>
          <a:lstStyle/>
          <a:p>
            <a:pPr marL="0" indent="0" algn="ctr">
              <a:buNone/>
            </a:pPr>
            <a:r>
              <a:rPr lang="en-US" sz="1700" b="1" dirty="0">
                <a:solidFill>
                  <a:srgbClr val="C8A04B"/>
                </a:solidFill>
                <a:latin typeface="Cambria" pitchFamily="34" charset="0"/>
                <a:ea typeface="Cambria" pitchFamily="34" charset="-122"/>
                <a:cs typeface="Cambria" pitchFamily="34" charset="-120"/>
              </a:rPr>
              <a:t>08</a:t>
            </a:r>
            <a:endParaRPr lang="en-US" sz="1700" dirty="0"/>
          </a:p>
        </p:txBody>
      </p:sp>
      <p:sp>
        <p:nvSpPr>
          <p:cNvPr id="35" name="Text 33"/>
          <p:cNvSpPr/>
          <p:nvPr/>
        </p:nvSpPr>
        <p:spPr>
          <a:xfrm>
            <a:off x="7223760" y="5504688"/>
            <a:ext cx="4187952" cy="804672"/>
          </a:xfrm>
          <a:prstGeom prst="rect">
            <a:avLst/>
          </a:prstGeom>
          <a:noFill/>
          <a:ln/>
        </p:spPr>
        <p:txBody>
          <a:bodyPr wrap="square" lIns="0" tIns="0" rIns="0" bIns="0" rtlCol="0" anchor="ctr"/>
          <a:lstStyle/>
          <a:p>
            <a:pPr marL="0" indent="0">
              <a:lnSpc>
                <a:spcPct val="105000"/>
              </a:lnSpc>
              <a:buNone/>
            </a:pPr>
            <a:r>
              <a:rPr lang="en-US" sz="1500" b="1" dirty="0">
                <a:solidFill>
                  <a:srgbClr val="16253D"/>
                </a:solidFill>
                <a:latin typeface="Calibri" pitchFamily="34" charset="0"/>
                <a:ea typeface="Calibri" pitchFamily="34" charset="-122"/>
                <a:cs typeface="Calibri" pitchFamily="34" charset="-120"/>
              </a:rPr>
              <a:t>Kesimpulan &amp; Rekomendasi</a:t>
            </a:r>
            <a:endParaRPr lang="en-US" sz="1500" dirty="0"/>
          </a:p>
          <a:p>
            <a:pPr marL="0" indent="0">
              <a:lnSpc>
                <a:spcPct val="105000"/>
              </a:lnSpc>
              <a:buNone/>
            </a:pPr>
            <a:r>
              <a:rPr lang="en-US" sz="1150" dirty="0">
                <a:solidFill>
                  <a:srgbClr val="6B7785"/>
                </a:solidFill>
                <a:latin typeface="Calibri" pitchFamily="34" charset="0"/>
                <a:ea typeface="Calibri" pitchFamily="34" charset="-122"/>
                <a:cs typeface="Calibri" pitchFamily="34" charset="-120"/>
              </a:rPr>
              <a:t>Tindakan &amp; langkah berikutnya</a:t>
            </a:r>
            <a:endParaRPr lang="en-US" sz="1500" dirty="0"/>
          </a:p>
        </p:txBody>
      </p:sp>
      <p:sp>
        <p:nvSpPr>
          <p:cNvPr id="36" name="Text 34"/>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Konteks, Masalah, dan Pendekatan</a:t>
            </a:r>
            <a:endParaRPr lang="en-US" sz="3000" dirty="0"/>
          </a:p>
        </p:txBody>
      </p:sp>
      <p:sp>
        <p:nvSpPr>
          <p:cNvPr id="4" name="Shape 2"/>
          <p:cNvSpPr/>
          <p:nvPr/>
        </p:nvSpPr>
        <p:spPr>
          <a:xfrm>
            <a:off x="566928" y="1600200"/>
            <a:ext cx="2788920" cy="4526280"/>
          </a:xfrm>
          <a:prstGeom prst="roundRect">
            <a:avLst>
              <a:gd name="adj" fmla="val 2623"/>
            </a:avLst>
          </a:prstGeom>
          <a:solidFill>
            <a:srgbClr val="16253D"/>
          </a:solidFill>
          <a:ln/>
          <a:effectLst>
            <a:outerShdw blurRad="88900" dist="38100" dir="5400000" algn="bl" rotWithShape="0">
              <a:srgbClr val="0B1626">
                <a:alpha val="16000"/>
              </a:srgbClr>
            </a:outerShdw>
          </a:effectLst>
        </p:spPr>
        <p:txBody>
          <a:bodyPr/>
          <a:lstStyle/>
          <a:p>
            <a:endParaRPr lang="en-US"/>
          </a:p>
        </p:txBody>
      </p:sp>
      <p:sp>
        <p:nvSpPr>
          <p:cNvPr id="5" name="Text 3"/>
          <p:cNvSpPr/>
          <p:nvPr/>
        </p:nvSpPr>
        <p:spPr>
          <a:xfrm>
            <a:off x="566928" y="2103120"/>
            <a:ext cx="2788920" cy="914400"/>
          </a:xfrm>
          <a:prstGeom prst="rect">
            <a:avLst/>
          </a:prstGeom>
          <a:noFill/>
          <a:ln/>
        </p:spPr>
        <p:txBody>
          <a:bodyPr wrap="square" lIns="0" tIns="0" rIns="0" bIns="0" rtlCol="0" anchor="ctr"/>
          <a:lstStyle/>
          <a:p>
            <a:pPr marL="0" indent="0" algn="ctr">
              <a:buNone/>
            </a:pPr>
            <a:r>
              <a:rPr lang="en-US" sz="5200" b="1" dirty="0">
                <a:solidFill>
                  <a:srgbClr val="C8A04B"/>
                </a:solidFill>
                <a:latin typeface="Cambria" pitchFamily="34" charset="0"/>
                <a:ea typeface="Cambria" pitchFamily="34" charset="-122"/>
                <a:cs typeface="Cambria" pitchFamily="34" charset="-120"/>
              </a:rPr>
              <a:t>~37%</a:t>
            </a:r>
            <a:endParaRPr lang="en-US" sz="5200" dirty="0"/>
          </a:p>
        </p:txBody>
      </p:sp>
      <p:sp>
        <p:nvSpPr>
          <p:cNvPr id="6" name="Text 4"/>
          <p:cNvSpPr/>
          <p:nvPr/>
        </p:nvSpPr>
        <p:spPr>
          <a:xfrm>
            <a:off x="841248" y="3017520"/>
            <a:ext cx="2240280" cy="640080"/>
          </a:xfrm>
          <a:prstGeom prst="rect">
            <a:avLst/>
          </a:prstGeom>
          <a:noFill/>
          <a:ln/>
        </p:spPr>
        <p:txBody>
          <a:bodyPr wrap="square" lIns="0" tIns="0" rIns="0" bIns="0" rtlCol="0" anchor="ctr"/>
          <a:lstStyle/>
          <a:p>
            <a:pPr marL="0" indent="0" algn="ctr">
              <a:lnSpc>
                <a:spcPct val="105000"/>
              </a:lnSpc>
              <a:buNone/>
            </a:pPr>
            <a:r>
              <a:rPr lang="en-US" sz="1400" dirty="0">
                <a:solidFill>
                  <a:srgbClr val="C7D2E2"/>
                </a:solidFill>
                <a:latin typeface="Calibri" pitchFamily="34" charset="0"/>
                <a:ea typeface="Calibri" pitchFamily="34" charset="-122"/>
                <a:cs typeface="Calibri" pitchFamily="34" charset="-120"/>
              </a:rPr>
              <a:t>pemesanan berakhir DIBATALKAN</a:t>
            </a:r>
            <a:endParaRPr lang="en-US" sz="1400" dirty="0"/>
          </a:p>
        </p:txBody>
      </p:sp>
      <p:sp>
        <p:nvSpPr>
          <p:cNvPr id="7" name="Shape 5"/>
          <p:cNvSpPr/>
          <p:nvPr/>
        </p:nvSpPr>
        <p:spPr>
          <a:xfrm>
            <a:off x="1115568" y="3840480"/>
            <a:ext cx="1691640" cy="0"/>
          </a:xfrm>
          <a:prstGeom prst="line">
            <a:avLst/>
          </a:prstGeom>
          <a:noFill/>
          <a:ln w="12700">
            <a:solidFill>
              <a:srgbClr val="35506B"/>
            </a:solidFill>
            <a:prstDash val="solid"/>
          </a:ln>
        </p:spPr>
        <p:txBody>
          <a:bodyPr/>
          <a:lstStyle/>
          <a:p>
            <a:endParaRPr lang="en-US"/>
          </a:p>
        </p:txBody>
      </p:sp>
      <p:sp>
        <p:nvSpPr>
          <p:cNvPr id="8" name="Text 6"/>
          <p:cNvSpPr/>
          <p:nvPr/>
        </p:nvSpPr>
        <p:spPr>
          <a:xfrm>
            <a:off x="841248" y="4069080"/>
            <a:ext cx="2240280" cy="1828800"/>
          </a:xfrm>
          <a:prstGeom prst="rect">
            <a:avLst/>
          </a:prstGeom>
          <a:noFill/>
          <a:ln/>
        </p:spPr>
        <p:txBody>
          <a:bodyPr wrap="square" lIns="0" tIns="0" rIns="0" bIns="0" rtlCol="0" anchor="ctr"/>
          <a:lstStyle/>
          <a:p>
            <a:pPr marL="0" indent="0" algn="ctr">
              <a:spcAft>
                <a:spcPts val="500"/>
              </a:spcAft>
              <a:buNone/>
            </a:pPr>
            <a:r>
              <a:rPr lang="en-US" sz="2400" b="1" dirty="0">
                <a:solidFill>
                  <a:srgbClr val="FFFFFF"/>
                </a:solidFill>
                <a:latin typeface="Cambria" pitchFamily="34" charset="0"/>
                <a:ea typeface="Cambria" pitchFamily="34" charset="-122"/>
                <a:cs typeface="Cambria" pitchFamily="34" charset="-120"/>
              </a:rPr>
              <a:t>83.573</a:t>
            </a:r>
            <a:endParaRPr lang="en-US" sz="2400" dirty="0"/>
          </a:p>
          <a:p>
            <a:pPr marL="0" indent="0" algn="ctr">
              <a:spcAft>
                <a:spcPts val="500"/>
              </a:spcAft>
              <a:buNone/>
            </a:pPr>
            <a:r>
              <a:rPr lang="en-US" sz="1250" dirty="0">
                <a:solidFill>
                  <a:srgbClr val="9FB0C7"/>
                </a:solidFill>
                <a:latin typeface="Calibri" pitchFamily="34" charset="0"/>
                <a:ea typeface="Calibri" pitchFamily="34" charset="-122"/>
                <a:cs typeface="Calibri" pitchFamily="34" charset="-120"/>
              </a:rPr>
              <a:t>pemesanan dianalisis</a:t>
            </a:r>
            <a:endParaRPr lang="en-US" sz="2400" dirty="0"/>
          </a:p>
          <a:p>
            <a:pPr marL="0" indent="0" algn="ctr">
              <a:spcAft>
                <a:spcPts val="500"/>
              </a:spcAft>
              <a:buNone/>
            </a:pPr>
            <a:r>
              <a:rPr lang="en-US" sz="2400" b="1" dirty="0">
                <a:solidFill>
                  <a:srgbClr val="FFFFFF"/>
                </a:solidFill>
                <a:latin typeface="Cambria" pitchFamily="34" charset="0"/>
                <a:ea typeface="Cambria" pitchFamily="34" charset="-122"/>
                <a:cs typeface="Cambria" pitchFamily="34" charset="-120"/>
              </a:rPr>
              <a:t>11</a:t>
            </a:r>
            <a:endParaRPr lang="en-US" sz="2400" dirty="0"/>
          </a:p>
          <a:p>
            <a:pPr marL="0" indent="0" algn="ctr">
              <a:spcAft>
                <a:spcPts val="500"/>
              </a:spcAft>
              <a:buNone/>
            </a:pPr>
            <a:r>
              <a:rPr lang="en-US" sz="1250" dirty="0">
                <a:solidFill>
                  <a:srgbClr val="9FB0C7"/>
                </a:solidFill>
                <a:latin typeface="Calibri" pitchFamily="34" charset="0"/>
                <a:ea typeface="Calibri" pitchFamily="34" charset="-122"/>
                <a:cs typeface="Calibri" pitchFamily="34" charset="-120"/>
              </a:rPr>
              <a:t>kolom fitur + target</a:t>
            </a:r>
            <a:endParaRPr lang="en-US" sz="2400" dirty="0"/>
          </a:p>
        </p:txBody>
      </p:sp>
      <p:sp>
        <p:nvSpPr>
          <p:cNvPr id="9" name="Shape 7"/>
          <p:cNvSpPr/>
          <p:nvPr/>
        </p:nvSpPr>
        <p:spPr>
          <a:xfrm>
            <a:off x="3648456" y="1600200"/>
            <a:ext cx="3835908" cy="1371600"/>
          </a:xfrm>
          <a:prstGeom prst="roundRect">
            <a:avLst>
              <a:gd name="adj" fmla="val 466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0" name="Shape 8"/>
          <p:cNvSpPr/>
          <p:nvPr/>
        </p:nvSpPr>
        <p:spPr>
          <a:xfrm>
            <a:off x="3849624" y="1738376"/>
            <a:ext cx="457200" cy="457200"/>
          </a:xfrm>
          <a:prstGeom prst="ellipse">
            <a:avLst/>
          </a:prstGeom>
          <a:solidFill>
            <a:srgbClr val="F3F5F8"/>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3941064" y="1829816"/>
            <a:ext cx="274320" cy="274320"/>
          </a:xfrm>
          <a:prstGeom prst="rect">
            <a:avLst/>
          </a:prstGeom>
        </p:spPr>
      </p:pic>
      <p:sp>
        <p:nvSpPr>
          <p:cNvPr id="12" name="Text 9"/>
          <p:cNvSpPr/>
          <p:nvPr/>
        </p:nvSpPr>
        <p:spPr>
          <a:xfrm>
            <a:off x="4425696" y="1783080"/>
            <a:ext cx="2921508" cy="320040"/>
          </a:xfrm>
          <a:prstGeom prst="rect">
            <a:avLst/>
          </a:prstGeom>
          <a:noFill/>
          <a:ln/>
        </p:spPr>
        <p:txBody>
          <a:bodyPr wrap="square" lIns="0" tIns="0" rIns="0" bIns="0" rtlCol="0" anchor="ctr"/>
          <a:lstStyle/>
          <a:p>
            <a:pPr marL="0" indent="0">
              <a:buNone/>
            </a:pPr>
            <a:r>
              <a:rPr lang="en-US" sz="1450" b="1" dirty="0">
                <a:solidFill>
                  <a:srgbClr val="16253D"/>
                </a:solidFill>
                <a:latin typeface="Calibri" pitchFamily="34" charset="0"/>
                <a:ea typeface="Calibri" pitchFamily="34" charset="-122"/>
                <a:cs typeface="Calibri" pitchFamily="34" charset="-120"/>
              </a:rPr>
              <a:t>Latar Belakang</a:t>
            </a:r>
            <a:endParaRPr lang="en-US" sz="1450" dirty="0"/>
          </a:p>
        </p:txBody>
      </p:sp>
      <p:sp>
        <p:nvSpPr>
          <p:cNvPr id="13" name="Text 10"/>
          <p:cNvSpPr/>
          <p:nvPr/>
        </p:nvSpPr>
        <p:spPr>
          <a:xfrm>
            <a:off x="3904488" y="2268728"/>
            <a:ext cx="3360420" cy="713232"/>
          </a:xfrm>
          <a:prstGeom prst="rect">
            <a:avLst/>
          </a:prstGeom>
          <a:noFill/>
          <a:ln/>
        </p:spPr>
        <p:txBody>
          <a:bodyPr wrap="square" lIns="0" tIns="0" rIns="0" bIns="0" rtlCol="0" anchor="t"/>
          <a:lstStyle/>
          <a:p>
            <a:pPr marL="0" indent="0">
              <a:lnSpc>
                <a:spcPct val="104000"/>
              </a:lnSpc>
              <a:buNone/>
            </a:pPr>
            <a:r>
              <a:rPr lang="en-US" sz="1130" dirty="0">
                <a:solidFill>
                  <a:srgbClr val="1F2A3A"/>
                </a:solidFill>
                <a:latin typeface="Calibri" pitchFamily="34" charset="0"/>
                <a:ea typeface="Calibri" pitchFamily="34" charset="-122"/>
                <a:cs typeface="Calibri" pitchFamily="34" charset="-120"/>
              </a:rPr>
              <a:t>Hotel di Portugal hidup dari revenue management — satu kamar tak terjual hari ini, pendapatannya hilang permanen.</a:t>
            </a:r>
            <a:endParaRPr lang="en-US" sz="1130" dirty="0"/>
          </a:p>
        </p:txBody>
      </p:sp>
      <p:sp>
        <p:nvSpPr>
          <p:cNvPr id="14" name="Shape 11"/>
          <p:cNvSpPr/>
          <p:nvPr/>
        </p:nvSpPr>
        <p:spPr>
          <a:xfrm>
            <a:off x="7758684" y="1600200"/>
            <a:ext cx="3835908" cy="1371600"/>
          </a:xfrm>
          <a:prstGeom prst="roundRect">
            <a:avLst>
              <a:gd name="adj" fmla="val 466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grpSp>
        <p:nvGrpSpPr>
          <p:cNvPr id="40" name="Group 39">
            <a:extLst>
              <a:ext uri="{FF2B5EF4-FFF2-40B4-BE49-F238E27FC236}">
                <a16:creationId xmlns:a16="http://schemas.microsoft.com/office/drawing/2014/main" id="{621FD5BE-3C04-CDA6-C331-B697BA50E259}"/>
              </a:ext>
            </a:extLst>
          </p:cNvPr>
          <p:cNvGrpSpPr/>
          <p:nvPr/>
        </p:nvGrpSpPr>
        <p:grpSpPr>
          <a:xfrm>
            <a:off x="7959852" y="1714500"/>
            <a:ext cx="457200" cy="457200"/>
            <a:chOff x="7959852" y="1801368"/>
            <a:chExt cx="457200" cy="457200"/>
          </a:xfrm>
        </p:grpSpPr>
        <p:sp>
          <p:nvSpPr>
            <p:cNvPr id="15" name="Shape 12"/>
            <p:cNvSpPr/>
            <p:nvPr/>
          </p:nvSpPr>
          <p:spPr>
            <a:xfrm>
              <a:off x="7959852" y="1801368"/>
              <a:ext cx="457200" cy="457200"/>
            </a:xfrm>
            <a:prstGeom prst="ellipse">
              <a:avLst/>
            </a:prstGeom>
            <a:solidFill>
              <a:srgbClr val="F3F5F8"/>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8051292" y="1892808"/>
              <a:ext cx="274320" cy="274320"/>
            </a:xfrm>
            <a:prstGeom prst="rect">
              <a:avLst/>
            </a:prstGeom>
          </p:spPr>
        </p:pic>
      </p:grpSp>
      <p:sp>
        <p:nvSpPr>
          <p:cNvPr id="17" name="Text 13"/>
          <p:cNvSpPr/>
          <p:nvPr/>
        </p:nvSpPr>
        <p:spPr>
          <a:xfrm>
            <a:off x="8535924" y="1783080"/>
            <a:ext cx="2921508" cy="320040"/>
          </a:xfrm>
          <a:prstGeom prst="rect">
            <a:avLst/>
          </a:prstGeom>
          <a:noFill/>
          <a:ln/>
        </p:spPr>
        <p:txBody>
          <a:bodyPr wrap="square" lIns="0" tIns="0" rIns="0" bIns="0" rtlCol="0" anchor="ctr"/>
          <a:lstStyle/>
          <a:p>
            <a:pPr marL="0" indent="0">
              <a:buNone/>
            </a:pPr>
            <a:r>
              <a:rPr lang="en-US" sz="1450" b="1" dirty="0">
                <a:solidFill>
                  <a:srgbClr val="16253D"/>
                </a:solidFill>
                <a:latin typeface="Calibri" pitchFamily="34" charset="0"/>
                <a:ea typeface="Calibri" pitchFamily="34" charset="-122"/>
                <a:cs typeface="Calibri" pitchFamily="34" charset="-120"/>
              </a:rPr>
              <a:t>Masalah</a:t>
            </a:r>
            <a:endParaRPr lang="en-US" sz="1450" dirty="0"/>
          </a:p>
        </p:txBody>
      </p:sp>
      <p:sp>
        <p:nvSpPr>
          <p:cNvPr id="18" name="Text 14"/>
          <p:cNvSpPr/>
          <p:nvPr/>
        </p:nvSpPr>
        <p:spPr>
          <a:xfrm>
            <a:off x="8014716" y="2218884"/>
            <a:ext cx="3360420" cy="713232"/>
          </a:xfrm>
          <a:prstGeom prst="rect">
            <a:avLst/>
          </a:prstGeom>
          <a:noFill/>
          <a:ln/>
        </p:spPr>
        <p:txBody>
          <a:bodyPr wrap="square" lIns="0" tIns="0" rIns="0" bIns="0" rtlCol="0" anchor="t"/>
          <a:lstStyle/>
          <a:p>
            <a:pPr marL="0" indent="0">
              <a:lnSpc>
                <a:spcPct val="104000"/>
              </a:lnSpc>
              <a:buNone/>
            </a:pPr>
            <a:r>
              <a:rPr lang="en-US" sz="1130" dirty="0">
                <a:solidFill>
                  <a:srgbClr val="1F2A3A"/>
                </a:solidFill>
                <a:latin typeface="Calibri" pitchFamily="34" charset="0"/>
                <a:ea typeface="Calibri" pitchFamily="34" charset="-122"/>
                <a:cs typeface="Calibri" pitchFamily="34" charset="-120"/>
              </a:rPr>
              <a:t>Saat pemesanan dibuat, hotel belum bisa menandai mana yang berisiko batal, sehingga pembatalan tak terantisipasi.</a:t>
            </a:r>
            <a:endParaRPr lang="en-US" sz="1130" dirty="0"/>
          </a:p>
        </p:txBody>
      </p:sp>
      <p:sp>
        <p:nvSpPr>
          <p:cNvPr id="19" name="Shape 15"/>
          <p:cNvSpPr/>
          <p:nvPr/>
        </p:nvSpPr>
        <p:spPr>
          <a:xfrm>
            <a:off x="3648456" y="3172968"/>
            <a:ext cx="3835908" cy="1371600"/>
          </a:xfrm>
          <a:prstGeom prst="roundRect">
            <a:avLst>
              <a:gd name="adj" fmla="val 466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0" name="Shape 16"/>
          <p:cNvSpPr/>
          <p:nvPr/>
        </p:nvSpPr>
        <p:spPr>
          <a:xfrm>
            <a:off x="3849624" y="3311271"/>
            <a:ext cx="457200" cy="457200"/>
          </a:xfrm>
          <a:prstGeom prst="ellipse">
            <a:avLst/>
          </a:prstGeom>
          <a:solidFill>
            <a:srgbClr val="F3F5F8"/>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3941064" y="3402711"/>
            <a:ext cx="274320" cy="274320"/>
          </a:xfrm>
          <a:prstGeom prst="rect">
            <a:avLst/>
          </a:prstGeom>
        </p:spPr>
      </p:pic>
      <p:sp>
        <p:nvSpPr>
          <p:cNvPr id="22" name="Text 17"/>
          <p:cNvSpPr/>
          <p:nvPr/>
        </p:nvSpPr>
        <p:spPr>
          <a:xfrm>
            <a:off x="4425696" y="3355848"/>
            <a:ext cx="2921508" cy="320040"/>
          </a:xfrm>
          <a:prstGeom prst="rect">
            <a:avLst/>
          </a:prstGeom>
          <a:noFill/>
          <a:ln/>
        </p:spPr>
        <p:txBody>
          <a:bodyPr wrap="square" lIns="0" tIns="0" rIns="0" bIns="0" rtlCol="0" anchor="ctr"/>
          <a:lstStyle/>
          <a:p>
            <a:pPr marL="0" indent="0">
              <a:buNone/>
            </a:pPr>
            <a:r>
              <a:rPr lang="en-US" sz="1450" b="1" dirty="0">
                <a:solidFill>
                  <a:srgbClr val="16253D"/>
                </a:solidFill>
                <a:latin typeface="Calibri" pitchFamily="34" charset="0"/>
                <a:ea typeface="Calibri" pitchFamily="34" charset="-122"/>
                <a:cs typeface="Calibri" pitchFamily="34" charset="-120"/>
              </a:rPr>
              <a:t>Stakeholder</a:t>
            </a:r>
            <a:endParaRPr lang="en-US" sz="1450" dirty="0"/>
          </a:p>
        </p:txBody>
      </p:sp>
      <p:sp>
        <p:nvSpPr>
          <p:cNvPr id="23" name="Text 18"/>
          <p:cNvSpPr/>
          <p:nvPr/>
        </p:nvSpPr>
        <p:spPr>
          <a:xfrm>
            <a:off x="3904488" y="3831336"/>
            <a:ext cx="3360420" cy="713232"/>
          </a:xfrm>
          <a:prstGeom prst="rect">
            <a:avLst/>
          </a:prstGeom>
          <a:noFill/>
          <a:ln/>
        </p:spPr>
        <p:txBody>
          <a:bodyPr wrap="square" lIns="0" tIns="0" rIns="0" bIns="0" rtlCol="0" anchor="t"/>
          <a:lstStyle/>
          <a:p>
            <a:pPr marL="0" indent="0">
              <a:lnSpc>
                <a:spcPct val="104000"/>
              </a:lnSpc>
              <a:buNone/>
            </a:pPr>
            <a:r>
              <a:rPr lang="en-US" sz="1130" dirty="0">
                <a:solidFill>
                  <a:srgbClr val="1F2A3A"/>
                </a:solidFill>
                <a:latin typeface="Calibri" pitchFamily="34" charset="0"/>
                <a:ea typeface="Calibri" pitchFamily="34" charset="-122"/>
                <a:cs typeface="Calibri" pitchFamily="34" charset="-120"/>
              </a:rPr>
              <a:t>Tim Revenue Management &amp; Front-Office yang menetapkan overbooking, deposit, dan konfirmasi ulang.</a:t>
            </a:r>
            <a:endParaRPr lang="en-US" sz="1130" dirty="0"/>
          </a:p>
        </p:txBody>
      </p:sp>
      <p:sp>
        <p:nvSpPr>
          <p:cNvPr id="24" name="Shape 19"/>
          <p:cNvSpPr/>
          <p:nvPr/>
        </p:nvSpPr>
        <p:spPr>
          <a:xfrm>
            <a:off x="7758684" y="3172968"/>
            <a:ext cx="3835908" cy="1371600"/>
          </a:xfrm>
          <a:prstGeom prst="roundRect">
            <a:avLst>
              <a:gd name="adj" fmla="val 466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grpSp>
        <p:nvGrpSpPr>
          <p:cNvPr id="41" name="Group 40">
            <a:extLst>
              <a:ext uri="{FF2B5EF4-FFF2-40B4-BE49-F238E27FC236}">
                <a16:creationId xmlns:a16="http://schemas.microsoft.com/office/drawing/2014/main" id="{BF43DCCE-620C-D4C5-B175-FB1006E2E047}"/>
              </a:ext>
            </a:extLst>
          </p:cNvPr>
          <p:cNvGrpSpPr/>
          <p:nvPr/>
        </p:nvGrpSpPr>
        <p:grpSpPr>
          <a:xfrm>
            <a:off x="7959852" y="3299949"/>
            <a:ext cx="457200" cy="457200"/>
            <a:chOff x="7959852" y="3374136"/>
            <a:chExt cx="457200" cy="457200"/>
          </a:xfrm>
        </p:grpSpPr>
        <p:sp>
          <p:nvSpPr>
            <p:cNvPr id="25" name="Shape 20"/>
            <p:cNvSpPr/>
            <p:nvPr/>
          </p:nvSpPr>
          <p:spPr>
            <a:xfrm>
              <a:off x="7959852" y="3374136"/>
              <a:ext cx="457200" cy="457200"/>
            </a:xfrm>
            <a:prstGeom prst="ellipse">
              <a:avLst/>
            </a:prstGeom>
            <a:solidFill>
              <a:srgbClr val="F3F5F8"/>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8051292" y="3465576"/>
              <a:ext cx="274320" cy="274320"/>
            </a:xfrm>
            <a:prstGeom prst="rect">
              <a:avLst/>
            </a:prstGeom>
          </p:spPr>
        </p:pic>
      </p:grpSp>
      <p:sp>
        <p:nvSpPr>
          <p:cNvPr id="27" name="Text 21"/>
          <p:cNvSpPr/>
          <p:nvPr/>
        </p:nvSpPr>
        <p:spPr>
          <a:xfrm>
            <a:off x="8535924" y="3355848"/>
            <a:ext cx="2921508" cy="320040"/>
          </a:xfrm>
          <a:prstGeom prst="rect">
            <a:avLst/>
          </a:prstGeom>
          <a:noFill/>
          <a:ln/>
        </p:spPr>
        <p:txBody>
          <a:bodyPr wrap="square" lIns="0" tIns="0" rIns="0" bIns="0" rtlCol="0" anchor="ctr"/>
          <a:lstStyle/>
          <a:p>
            <a:pPr marL="0" indent="0">
              <a:buNone/>
            </a:pPr>
            <a:r>
              <a:rPr lang="en-US" sz="1450" b="1" dirty="0">
                <a:solidFill>
                  <a:srgbClr val="16253D"/>
                </a:solidFill>
                <a:latin typeface="Calibri" pitchFamily="34" charset="0"/>
                <a:ea typeface="Calibri" pitchFamily="34" charset="-122"/>
                <a:cs typeface="Calibri" pitchFamily="34" charset="-120"/>
              </a:rPr>
              <a:t>Tujuan</a:t>
            </a:r>
            <a:endParaRPr lang="en-US" sz="1450" dirty="0"/>
          </a:p>
        </p:txBody>
      </p:sp>
      <p:sp>
        <p:nvSpPr>
          <p:cNvPr id="28" name="Text 22"/>
          <p:cNvSpPr/>
          <p:nvPr/>
        </p:nvSpPr>
        <p:spPr>
          <a:xfrm>
            <a:off x="8014716" y="3817534"/>
            <a:ext cx="3360420" cy="713232"/>
          </a:xfrm>
          <a:prstGeom prst="rect">
            <a:avLst/>
          </a:prstGeom>
          <a:noFill/>
          <a:ln/>
        </p:spPr>
        <p:txBody>
          <a:bodyPr wrap="square" lIns="0" tIns="0" rIns="0" bIns="0" rtlCol="0" anchor="t"/>
          <a:lstStyle/>
          <a:p>
            <a:pPr marL="0" indent="0">
              <a:lnSpc>
                <a:spcPct val="104000"/>
              </a:lnSpc>
              <a:buNone/>
            </a:pPr>
            <a:r>
              <a:rPr lang="en-US" sz="1130" dirty="0">
                <a:solidFill>
                  <a:srgbClr val="1F2A3A"/>
                </a:solidFill>
                <a:latin typeface="Calibri" pitchFamily="34" charset="0"/>
                <a:ea typeface="Calibri" pitchFamily="34" charset="-122"/>
                <a:cs typeface="Calibri" pitchFamily="34" charset="-120"/>
              </a:rPr>
              <a:t>Model klasifikasi biner yang memberi skor risiko batal sebelum tamu seharusnya tiba.</a:t>
            </a:r>
            <a:endParaRPr lang="en-US" sz="1130" dirty="0"/>
          </a:p>
        </p:txBody>
      </p:sp>
      <p:sp>
        <p:nvSpPr>
          <p:cNvPr id="29" name="Shape 23"/>
          <p:cNvSpPr/>
          <p:nvPr/>
        </p:nvSpPr>
        <p:spPr>
          <a:xfrm>
            <a:off x="3648456" y="4745736"/>
            <a:ext cx="3835908" cy="1371600"/>
          </a:xfrm>
          <a:prstGeom prst="roundRect">
            <a:avLst>
              <a:gd name="adj" fmla="val 466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30" name="Shape 24"/>
          <p:cNvSpPr/>
          <p:nvPr/>
        </p:nvSpPr>
        <p:spPr>
          <a:xfrm>
            <a:off x="3849624" y="4884039"/>
            <a:ext cx="457200" cy="457200"/>
          </a:xfrm>
          <a:prstGeom prst="ellipse">
            <a:avLst/>
          </a:prstGeom>
          <a:solidFill>
            <a:srgbClr val="F3F5F8"/>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3941064" y="4975479"/>
            <a:ext cx="274320" cy="274320"/>
          </a:xfrm>
          <a:prstGeom prst="rect">
            <a:avLst/>
          </a:prstGeom>
        </p:spPr>
      </p:pic>
      <p:sp>
        <p:nvSpPr>
          <p:cNvPr id="32" name="Text 25"/>
          <p:cNvSpPr/>
          <p:nvPr/>
        </p:nvSpPr>
        <p:spPr>
          <a:xfrm>
            <a:off x="4425696" y="4928616"/>
            <a:ext cx="2921508" cy="320040"/>
          </a:xfrm>
          <a:prstGeom prst="rect">
            <a:avLst/>
          </a:prstGeom>
          <a:noFill/>
          <a:ln/>
        </p:spPr>
        <p:txBody>
          <a:bodyPr wrap="square" lIns="0" tIns="0" rIns="0" bIns="0" rtlCol="0" anchor="ctr"/>
          <a:lstStyle/>
          <a:p>
            <a:pPr marL="0" indent="0">
              <a:buNone/>
            </a:pPr>
            <a:r>
              <a:rPr lang="en-US" sz="1450" b="1" dirty="0">
                <a:solidFill>
                  <a:srgbClr val="16253D"/>
                </a:solidFill>
                <a:latin typeface="Calibri" pitchFamily="34" charset="0"/>
                <a:ea typeface="Calibri" pitchFamily="34" charset="-122"/>
                <a:cs typeface="Calibri" pitchFamily="34" charset="-120"/>
              </a:rPr>
              <a:t>Pendekatan</a:t>
            </a:r>
            <a:endParaRPr lang="en-US" sz="1450" dirty="0"/>
          </a:p>
        </p:txBody>
      </p:sp>
      <p:sp>
        <p:nvSpPr>
          <p:cNvPr id="33" name="Text 26"/>
          <p:cNvSpPr/>
          <p:nvPr/>
        </p:nvSpPr>
        <p:spPr>
          <a:xfrm>
            <a:off x="3904488" y="5426964"/>
            <a:ext cx="3360420" cy="713232"/>
          </a:xfrm>
          <a:prstGeom prst="rect">
            <a:avLst/>
          </a:prstGeom>
          <a:noFill/>
          <a:ln/>
        </p:spPr>
        <p:txBody>
          <a:bodyPr wrap="square" lIns="0" tIns="0" rIns="0" bIns="0" rtlCol="0" anchor="t"/>
          <a:lstStyle/>
          <a:p>
            <a:pPr marL="0" indent="0">
              <a:lnSpc>
                <a:spcPct val="104000"/>
              </a:lnSpc>
              <a:buNone/>
            </a:pPr>
            <a:r>
              <a:rPr lang="en-US" sz="1130" dirty="0">
                <a:solidFill>
                  <a:srgbClr val="1F2A3A"/>
                </a:solidFill>
                <a:latin typeface="Calibri" pitchFamily="34" charset="0"/>
                <a:ea typeface="Calibri" pitchFamily="34" charset="-122"/>
                <a:cs typeface="Calibri" pitchFamily="34" charset="-120"/>
              </a:rPr>
              <a:t>Supervised ML — Binary Classification; 4 algoritma dibandingkan via cross-validation.</a:t>
            </a:r>
            <a:endParaRPr lang="en-US" sz="1130" dirty="0"/>
          </a:p>
        </p:txBody>
      </p:sp>
      <p:sp>
        <p:nvSpPr>
          <p:cNvPr id="34" name="Shape 27"/>
          <p:cNvSpPr/>
          <p:nvPr/>
        </p:nvSpPr>
        <p:spPr>
          <a:xfrm>
            <a:off x="7758684" y="4745736"/>
            <a:ext cx="3835908" cy="1371600"/>
          </a:xfrm>
          <a:prstGeom prst="roundRect">
            <a:avLst>
              <a:gd name="adj" fmla="val 466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grpSp>
        <p:nvGrpSpPr>
          <p:cNvPr id="42" name="Group 41">
            <a:extLst>
              <a:ext uri="{FF2B5EF4-FFF2-40B4-BE49-F238E27FC236}">
                <a16:creationId xmlns:a16="http://schemas.microsoft.com/office/drawing/2014/main" id="{62E5BEB0-0319-7E04-278B-7E5B509FEF10}"/>
              </a:ext>
            </a:extLst>
          </p:cNvPr>
          <p:cNvGrpSpPr/>
          <p:nvPr/>
        </p:nvGrpSpPr>
        <p:grpSpPr>
          <a:xfrm>
            <a:off x="7959852" y="4860036"/>
            <a:ext cx="457200" cy="457200"/>
            <a:chOff x="7959852" y="4946904"/>
            <a:chExt cx="457200" cy="457200"/>
          </a:xfrm>
        </p:grpSpPr>
        <p:sp>
          <p:nvSpPr>
            <p:cNvPr id="35" name="Shape 28"/>
            <p:cNvSpPr/>
            <p:nvPr/>
          </p:nvSpPr>
          <p:spPr>
            <a:xfrm>
              <a:off x="7959852" y="4946904"/>
              <a:ext cx="457200" cy="457200"/>
            </a:xfrm>
            <a:prstGeom prst="ellipse">
              <a:avLst/>
            </a:prstGeom>
            <a:solidFill>
              <a:srgbClr val="F3F5F8"/>
            </a:solidFill>
            <a:ln/>
          </p:spPr>
          <p:txBody>
            <a:bodyPr/>
            <a:lstStyle/>
            <a:p>
              <a:endParaRPr lang="en-US"/>
            </a:p>
          </p:txBody>
        </p:sp>
        <p:pic>
          <p:nvPicPr>
            <p:cNvPr id="36" name="Image 5" descr="preencoded.png"/>
            <p:cNvPicPr>
              <a:picLocks noChangeAspect="1"/>
            </p:cNvPicPr>
            <p:nvPr/>
          </p:nvPicPr>
          <p:blipFill>
            <a:blip r:embed="rId8"/>
            <a:stretch>
              <a:fillRect/>
            </a:stretch>
          </p:blipFill>
          <p:spPr>
            <a:xfrm>
              <a:off x="8051292" y="5038344"/>
              <a:ext cx="274320" cy="274320"/>
            </a:xfrm>
            <a:prstGeom prst="rect">
              <a:avLst/>
            </a:prstGeom>
          </p:spPr>
        </p:pic>
      </p:grpSp>
      <p:sp>
        <p:nvSpPr>
          <p:cNvPr id="37" name="Text 29"/>
          <p:cNvSpPr/>
          <p:nvPr/>
        </p:nvSpPr>
        <p:spPr>
          <a:xfrm>
            <a:off x="8535924" y="4928616"/>
            <a:ext cx="2921508" cy="320040"/>
          </a:xfrm>
          <a:prstGeom prst="rect">
            <a:avLst/>
          </a:prstGeom>
          <a:noFill/>
          <a:ln/>
        </p:spPr>
        <p:txBody>
          <a:bodyPr wrap="square" lIns="0" tIns="0" rIns="0" bIns="0" rtlCol="0" anchor="ctr"/>
          <a:lstStyle/>
          <a:p>
            <a:pPr marL="0" indent="0">
              <a:buNone/>
            </a:pPr>
            <a:r>
              <a:rPr lang="en-US" sz="1450" b="1" dirty="0">
                <a:solidFill>
                  <a:srgbClr val="16253D"/>
                </a:solidFill>
                <a:latin typeface="Calibri" pitchFamily="34" charset="0"/>
                <a:ea typeface="Calibri" pitchFamily="34" charset="-122"/>
                <a:cs typeface="Calibri" pitchFamily="34" charset="-120"/>
              </a:rPr>
              <a:t>Metrik</a:t>
            </a:r>
            <a:endParaRPr lang="en-US" sz="1450" dirty="0"/>
          </a:p>
        </p:txBody>
      </p:sp>
      <p:sp>
        <p:nvSpPr>
          <p:cNvPr id="38" name="Text 30"/>
          <p:cNvSpPr/>
          <p:nvPr/>
        </p:nvSpPr>
        <p:spPr>
          <a:xfrm>
            <a:off x="8014716" y="5416182"/>
            <a:ext cx="3360420" cy="713232"/>
          </a:xfrm>
          <a:prstGeom prst="rect">
            <a:avLst/>
          </a:prstGeom>
          <a:noFill/>
          <a:ln/>
        </p:spPr>
        <p:txBody>
          <a:bodyPr wrap="square" lIns="0" tIns="0" rIns="0" bIns="0" rtlCol="0" anchor="t"/>
          <a:lstStyle/>
          <a:p>
            <a:pPr marL="0" indent="0">
              <a:lnSpc>
                <a:spcPct val="104000"/>
              </a:lnSpc>
              <a:buNone/>
            </a:pPr>
            <a:r>
              <a:rPr lang="en-US" sz="1130" dirty="0">
                <a:solidFill>
                  <a:srgbClr val="1F2A3A"/>
                </a:solidFill>
                <a:latin typeface="Calibri" pitchFamily="34" charset="0"/>
                <a:ea typeface="Calibri" pitchFamily="34" charset="-122"/>
                <a:cs typeface="Calibri" pitchFamily="34" charset="-120"/>
              </a:rPr>
              <a:t>F1-score pada kelas 'Dibatalkan' — kelas imbalance membuat accuracy menyesatkan.</a:t>
            </a:r>
            <a:endParaRPr lang="en-US" sz="1130" dirty="0"/>
          </a:p>
        </p:txBody>
      </p:sp>
      <p:sp>
        <p:nvSpPr>
          <p:cNvPr id="39" name="Text 31"/>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Data Understanding</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Setiap baris = satu pemesanan hotel</a:t>
            </a:r>
            <a:endParaRPr lang="en-US" sz="3000" dirty="0"/>
          </a:p>
        </p:txBody>
      </p:sp>
      <p:sp>
        <p:nvSpPr>
          <p:cNvPr id="4" name="Shape 2"/>
          <p:cNvSpPr/>
          <p:nvPr/>
        </p:nvSpPr>
        <p:spPr>
          <a:xfrm>
            <a:off x="566928" y="1645920"/>
            <a:ext cx="3017520" cy="1325880"/>
          </a:xfrm>
          <a:prstGeom prst="roundRect">
            <a:avLst>
              <a:gd name="adj" fmla="val 4828"/>
            </a:avLst>
          </a:prstGeom>
          <a:solidFill>
            <a:srgbClr val="F3F5F8"/>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5" name="Text 3"/>
          <p:cNvSpPr/>
          <p:nvPr/>
        </p:nvSpPr>
        <p:spPr>
          <a:xfrm>
            <a:off x="795528" y="1847088"/>
            <a:ext cx="2560320" cy="548640"/>
          </a:xfrm>
          <a:prstGeom prst="rect">
            <a:avLst/>
          </a:prstGeom>
          <a:noFill/>
          <a:ln/>
        </p:spPr>
        <p:txBody>
          <a:bodyPr wrap="square" lIns="0" tIns="0" rIns="0" bIns="0" rtlCol="0" anchor="ctr"/>
          <a:lstStyle/>
          <a:p>
            <a:pPr marL="0" indent="0">
              <a:buNone/>
            </a:pPr>
            <a:r>
              <a:rPr lang="en-US" sz="2500" b="1" dirty="0">
                <a:solidFill>
                  <a:srgbClr val="16253D"/>
                </a:solidFill>
                <a:latin typeface="Cambria" pitchFamily="34" charset="0"/>
                <a:ea typeface="Cambria" pitchFamily="34" charset="-122"/>
                <a:cs typeface="Cambria" pitchFamily="34" charset="-120"/>
              </a:rPr>
              <a:t>83.573 × 11</a:t>
            </a:r>
            <a:endParaRPr lang="en-US" sz="2500" dirty="0"/>
          </a:p>
        </p:txBody>
      </p:sp>
      <p:sp>
        <p:nvSpPr>
          <p:cNvPr id="6" name="Text 4"/>
          <p:cNvSpPr/>
          <p:nvPr/>
        </p:nvSpPr>
        <p:spPr>
          <a:xfrm>
            <a:off x="795528" y="2395728"/>
            <a:ext cx="2560320" cy="457200"/>
          </a:xfrm>
          <a:prstGeom prst="rect">
            <a:avLst/>
          </a:prstGeom>
          <a:noFill/>
          <a:ln/>
        </p:spPr>
        <p:txBody>
          <a:bodyPr wrap="square" lIns="0" tIns="0" rIns="0" bIns="0" rtlCol="0" anchor="ctr"/>
          <a:lstStyle/>
          <a:p>
            <a:pPr marL="0" indent="0">
              <a:lnSpc>
                <a:spcPct val="100000"/>
              </a:lnSpc>
              <a:buNone/>
            </a:pPr>
            <a:r>
              <a:rPr lang="en-US" sz="1250" dirty="0">
                <a:solidFill>
                  <a:srgbClr val="6B7785"/>
                </a:solidFill>
                <a:latin typeface="Calibri" pitchFamily="34" charset="0"/>
                <a:ea typeface="Calibri" pitchFamily="34" charset="-122"/>
                <a:cs typeface="Calibri" pitchFamily="34" charset="-120"/>
              </a:rPr>
              <a:t>baris × kolom (+ target)</a:t>
            </a:r>
            <a:endParaRPr lang="en-US" sz="1250" dirty="0"/>
          </a:p>
        </p:txBody>
      </p:sp>
      <p:sp>
        <p:nvSpPr>
          <p:cNvPr id="7" name="Shape 5"/>
          <p:cNvSpPr/>
          <p:nvPr/>
        </p:nvSpPr>
        <p:spPr>
          <a:xfrm>
            <a:off x="566928" y="3154680"/>
            <a:ext cx="3017520" cy="1325880"/>
          </a:xfrm>
          <a:prstGeom prst="roundRect">
            <a:avLst>
              <a:gd name="adj" fmla="val 4828"/>
            </a:avLst>
          </a:prstGeom>
          <a:solidFill>
            <a:srgbClr val="F3F5F8"/>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8" name="Text 6"/>
          <p:cNvSpPr/>
          <p:nvPr/>
        </p:nvSpPr>
        <p:spPr>
          <a:xfrm>
            <a:off x="795528" y="3355848"/>
            <a:ext cx="2560320" cy="548640"/>
          </a:xfrm>
          <a:prstGeom prst="rect">
            <a:avLst/>
          </a:prstGeom>
          <a:noFill/>
          <a:ln/>
        </p:spPr>
        <p:txBody>
          <a:bodyPr wrap="square" lIns="0" tIns="0" rIns="0" bIns="0" rtlCol="0" anchor="ctr"/>
          <a:lstStyle/>
          <a:p>
            <a:pPr marL="0" indent="0">
              <a:buNone/>
            </a:pPr>
            <a:r>
              <a:rPr lang="en-US" sz="2500" b="1" dirty="0">
                <a:solidFill>
                  <a:srgbClr val="16253D"/>
                </a:solidFill>
                <a:latin typeface="Cambria" pitchFamily="34" charset="0"/>
                <a:ea typeface="Cambria" pitchFamily="34" charset="-122"/>
                <a:cs typeface="Cambria" pitchFamily="34" charset="-120"/>
              </a:rPr>
              <a:t>1 kolom</a:t>
            </a:r>
            <a:endParaRPr lang="en-US" sz="2500" dirty="0"/>
          </a:p>
        </p:txBody>
      </p:sp>
      <p:sp>
        <p:nvSpPr>
          <p:cNvPr id="9" name="Text 7"/>
          <p:cNvSpPr/>
          <p:nvPr/>
        </p:nvSpPr>
        <p:spPr>
          <a:xfrm>
            <a:off x="795528" y="3904488"/>
            <a:ext cx="2560320" cy="457200"/>
          </a:xfrm>
          <a:prstGeom prst="rect">
            <a:avLst/>
          </a:prstGeom>
          <a:noFill/>
          <a:ln/>
        </p:spPr>
        <p:txBody>
          <a:bodyPr wrap="square" lIns="0" tIns="0" rIns="0" bIns="0" rtlCol="0" anchor="ctr"/>
          <a:lstStyle/>
          <a:p>
            <a:pPr marL="0" indent="0">
              <a:lnSpc>
                <a:spcPct val="100000"/>
              </a:lnSpc>
              <a:buNone/>
            </a:pPr>
            <a:r>
              <a:rPr lang="en-US" sz="1250" dirty="0">
                <a:solidFill>
                  <a:srgbClr val="6B7785"/>
                </a:solidFill>
                <a:latin typeface="Calibri" pitchFamily="34" charset="0"/>
                <a:ea typeface="Calibri" pitchFamily="34" charset="-122"/>
                <a:cs typeface="Calibri" pitchFamily="34" charset="-120"/>
              </a:rPr>
              <a:t>punya nilai kosong: country</a:t>
            </a:r>
            <a:endParaRPr lang="en-US" sz="1250" dirty="0"/>
          </a:p>
        </p:txBody>
      </p:sp>
      <p:sp>
        <p:nvSpPr>
          <p:cNvPr id="10" name="Shape 8"/>
          <p:cNvSpPr/>
          <p:nvPr/>
        </p:nvSpPr>
        <p:spPr>
          <a:xfrm>
            <a:off x="566928" y="4663440"/>
            <a:ext cx="3017520" cy="1325880"/>
          </a:xfrm>
          <a:prstGeom prst="roundRect">
            <a:avLst>
              <a:gd name="adj" fmla="val 4828"/>
            </a:avLst>
          </a:prstGeom>
          <a:solidFill>
            <a:srgbClr val="F3F5F8"/>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1" name="Text 9"/>
          <p:cNvSpPr/>
          <p:nvPr/>
        </p:nvSpPr>
        <p:spPr>
          <a:xfrm>
            <a:off x="795528" y="4864608"/>
            <a:ext cx="2560320" cy="548640"/>
          </a:xfrm>
          <a:prstGeom prst="rect">
            <a:avLst/>
          </a:prstGeom>
          <a:noFill/>
          <a:ln/>
        </p:spPr>
        <p:txBody>
          <a:bodyPr wrap="square" lIns="0" tIns="0" rIns="0" bIns="0" rtlCol="0" anchor="ctr"/>
          <a:lstStyle/>
          <a:p>
            <a:pPr marL="0" indent="0">
              <a:buNone/>
            </a:pPr>
            <a:r>
              <a:rPr lang="en-US" sz="2500" b="1" dirty="0">
                <a:solidFill>
                  <a:srgbClr val="16253D"/>
                </a:solidFill>
                <a:latin typeface="Cambria" pitchFamily="34" charset="0"/>
                <a:ea typeface="Cambria" pitchFamily="34" charset="-122"/>
                <a:cs typeface="Cambria" pitchFamily="34" charset="-120"/>
              </a:rPr>
              <a:t>~88%</a:t>
            </a:r>
            <a:endParaRPr lang="en-US" sz="2500" dirty="0"/>
          </a:p>
        </p:txBody>
      </p:sp>
      <p:sp>
        <p:nvSpPr>
          <p:cNvPr id="12" name="Text 10"/>
          <p:cNvSpPr/>
          <p:nvPr/>
        </p:nvSpPr>
        <p:spPr>
          <a:xfrm>
            <a:off x="795528" y="5413248"/>
            <a:ext cx="2560320" cy="457200"/>
          </a:xfrm>
          <a:prstGeom prst="rect">
            <a:avLst/>
          </a:prstGeom>
          <a:noFill/>
          <a:ln/>
        </p:spPr>
        <p:txBody>
          <a:bodyPr wrap="square" lIns="0" tIns="0" rIns="0" bIns="0" rtlCol="0" anchor="ctr"/>
          <a:lstStyle/>
          <a:p>
            <a:pPr marL="0" indent="0">
              <a:lnSpc>
                <a:spcPct val="100000"/>
              </a:lnSpc>
              <a:buNone/>
            </a:pPr>
            <a:r>
              <a:rPr lang="en-US" sz="1250" dirty="0">
                <a:solidFill>
                  <a:srgbClr val="6B7785"/>
                </a:solidFill>
                <a:latin typeface="Calibri" pitchFamily="34" charset="0"/>
                <a:ea typeface="Calibri" pitchFamily="34" charset="-122"/>
                <a:cs typeface="Calibri" pitchFamily="34" charset="-120"/>
              </a:rPr>
              <a:t>baris adalah duplikat persis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904488" y="1645920"/>
          <a:ext cx="7690104" cy="3840480"/>
        </p:xfrm>
        <a:graphic>
          <a:graphicData uri="http://schemas.openxmlformats.org/drawingml/2006/table">
            <a:tbl>
              <a:tblPr/>
              <a:tblGrid>
                <a:gridCol w="3229844">
                  <a:extLst>
                    <a:ext uri="{9D8B030D-6E8A-4147-A177-3AD203B41FA5}">
                      <a16:colId xmlns:a16="http://schemas.microsoft.com/office/drawing/2014/main" val="20000"/>
                    </a:ext>
                  </a:extLst>
                </a:gridCol>
                <a:gridCol w="4460260">
                  <a:extLst>
                    <a:ext uri="{9D8B030D-6E8A-4147-A177-3AD203B41FA5}">
                      <a16:colId xmlns:a16="http://schemas.microsoft.com/office/drawing/2014/main" val="20001"/>
                    </a:ext>
                  </a:extLst>
                </a:gridCol>
              </a:tblGrid>
              <a:tr h="384048">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Kolom Kunci</a:t>
                      </a:r>
                      <a:endParaRPr lang="en-US" sz="12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16253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Arti</a:t>
                      </a:r>
                      <a:endParaRPr lang="en-US" sz="12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16253D"/>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deposit_type</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No Deposit / Non Refund / Refundable</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market_segment</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3F5F8"/>
                    </a:solidFill>
                  </a:tcPr>
                </a:tc>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Kanal pemesanan (Online TA, Groups, dll.)</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customer_type</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Transient / Contract / Group</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country</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3F5F8"/>
                    </a:solidFill>
                  </a:tcPr>
                </a:tc>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Negara asal tamu (PRT = domestik)</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384048">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previous_cancellations</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Riwayat pembatalan tamu</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booking_changes</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3F5F8"/>
                    </a:solidFill>
                  </a:tcPr>
                </a:tc>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Jumlah perubahan pemesanan</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r h="384048">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total_of_special_requests</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Jumlah permintaan khusus</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required_car_parking_spaces</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3F5F8"/>
                    </a:solidFill>
                  </a:tcPr>
                </a:tc>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Permintaan ruang parkir</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3F5F8"/>
                    </a:solidFill>
                  </a:tcPr>
                </a:tc>
                <a:extLst>
                  <a:ext uri="{0D108BD9-81ED-4DB2-BD59-A6C34878D82A}">
                    <a16:rowId xmlns:a16="http://schemas.microsoft.com/office/drawing/2014/main" val="10008"/>
                  </a:ext>
                </a:extLst>
              </a:tr>
              <a:tr h="384048">
                <a:tc>
                  <a:txBody>
                    <a:bodyPr/>
                    <a:lstStyle/>
                    <a:p>
                      <a:pPr marL="0" indent="0">
                        <a:buNone/>
                      </a:pPr>
                      <a:r>
                        <a:rPr lang="en-US" sz="1150" b="1" dirty="0">
                          <a:solidFill>
                            <a:srgbClr val="A6822F"/>
                          </a:solidFill>
                          <a:latin typeface="Calibri" pitchFamily="34" charset="0"/>
                          <a:ea typeface="Calibri" pitchFamily="34" charset="-122"/>
                          <a:cs typeface="Calibri" pitchFamily="34" charset="-120"/>
                        </a:rPr>
                        <a:t>is_canceled  (TARGET)</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BF4E3"/>
                    </a:solidFill>
                  </a:tcPr>
                </a:tc>
                <a:tc>
                  <a:txBody>
                    <a:bodyPr/>
                    <a:lstStyle/>
                    <a:p>
                      <a:pPr marL="0" indent="0">
                        <a:buNone/>
                      </a:pPr>
                      <a:r>
                        <a:rPr lang="en-US" sz="1150" dirty="0">
                          <a:solidFill>
                            <a:srgbClr val="1F2A3A"/>
                          </a:solidFill>
                          <a:latin typeface="Calibri" pitchFamily="34" charset="0"/>
                          <a:ea typeface="Calibri" pitchFamily="34" charset="-122"/>
                          <a:cs typeface="Calibri" pitchFamily="34" charset="-120"/>
                        </a:rPr>
                        <a:t>1 = dibatalkan, 0 = tidak</a:t>
                      </a:r>
                      <a:endParaRPr lang="en-US" sz="1150" dirty="0">
                        <a:latin typeface="Calibri" charset="0"/>
                        <a:ea typeface="Calibri" charset="0"/>
                        <a:cs typeface="Calibri" charset="0"/>
                      </a:endParaRPr>
                    </a:p>
                  </a:txBody>
                  <a:tcPr marL="76200" marR="76200" marT="25400" marB="254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BF4E3"/>
                    </a:solidFill>
                  </a:tcPr>
                </a:tc>
                <a:extLst>
                  <a:ext uri="{0D108BD9-81ED-4DB2-BD59-A6C34878D82A}">
                    <a16:rowId xmlns:a16="http://schemas.microsoft.com/office/drawing/2014/main" val="10009"/>
                  </a:ext>
                </a:extLst>
              </a:tr>
            </a:tbl>
          </a:graphicData>
        </a:graphic>
      </p:graphicFrame>
      <p:sp>
        <p:nvSpPr>
          <p:cNvPr id="14" name="Text 11"/>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566928" y="658368"/>
            <a:ext cx="11027664" cy="685800"/>
          </a:xfrm>
          <a:prstGeom prst="rect">
            <a:avLst/>
          </a:prstGeom>
          <a:noFill/>
          <a:ln/>
        </p:spPr>
        <p:txBody>
          <a:bodyPr wrap="square" lIns="0" tIns="0" rIns="0" bIns="0" rtlCol="0" anchor="t"/>
          <a:lstStyle/>
          <a:p>
            <a:pPr marL="0" indent="0" algn="l">
              <a:buNone/>
            </a:pPr>
            <a:r>
              <a:rPr lang="en-US" sz="2600" b="1" dirty="0">
                <a:solidFill>
                  <a:srgbClr val="16253D"/>
                </a:solidFill>
                <a:latin typeface="Cambria" pitchFamily="34" charset="0"/>
                <a:ea typeface="Cambria" pitchFamily="34" charset="-122"/>
                <a:cs typeface="Cambria" pitchFamily="34" charset="-120"/>
              </a:rPr>
              <a:t>Jenis deposit &amp; kanal pemesanan adalah pemisah terkuat</a:t>
            </a:r>
            <a:endParaRPr lang="en-US" sz="2600" dirty="0"/>
          </a:p>
        </p:txBody>
      </p:sp>
      <p:sp>
        <p:nvSpPr>
          <p:cNvPr id="4" name="Text 2"/>
          <p:cNvSpPr/>
          <p:nvPr/>
        </p:nvSpPr>
        <p:spPr>
          <a:xfrm>
            <a:off x="566928" y="1627632"/>
            <a:ext cx="3017520" cy="274320"/>
          </a:xfrm>
          <a:prstGeom prst="rect">
            <a:avLst/>
          </a:prstGeom>
          <a:noFill/>
          <a:ln/>
        </p:spPr>
        <p:txBody>
          <a:bodyPr wrap="square" lIns="0" tIns="0" rIns="0" bIns="0" rtlCol="0" anchor="ctr"/>
          <a:lstStyle/>
          <a:p>
            <a:pPr marL="0" indent="0">
              <a:buNone/>
            </a:pPr>
            <a:r>
              <a:rPr lang="en-US" sz="1300" b="1" dirty="0">
                <a:solidFill>
                  <a:srgbClr val="16253D"/>
                </a:solidFill>
                <a:latin typeface="Calibri" pitchFamily="34" charset="0"/>
                <a:ea typeface="Calibri" pitchFamily="34" charset="-122"/>
                <a:cs typeface="Calibri" pitchFamily="34" charset="-120"/>
              </a:rPr>
              <a:t>Distribusi Target</a:t>
            </a:r>
            <a:endParaRPr lang="en-US" sz="1300" dirty="0"/>
          </a:p>
        </p:txBody>
      </p:sp>
      <p:graphicFrame>
        <p:nvGraphicFramePr>
          <p:cNvPr id="5" name="Chart 0"/>
          <p:cNvGraphicFramePr/>
          <p:nvPr/>
        </p:nvGraphicFramePr>
        <p:xfrm>
          <a:off x="475488" y="1920240"/>
          <a:ext cx="32918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069080" y="1627632"/>
            <a:ext cx="7498080" cy="274320"/>
          </a:xfrm>
          <a:prstGeom prst="rect">
            <a:avLst/>
          </a:prstGeom>
          <a:noFill/>
          <a:ln/>
        </p:spPr>
        <p:txBody>
          <a:bodyPr wrap="square" lIns="0" tIns="0" rIns="0" bIns="0" rtlCol="0" anchor="ctr"/>
          <a:lstStyle/>
          <a:p>
            <a:pPr marL="0" indent="0">
              <a:buNone/>
            </a:pPr>
            <a:r>
              <a:rPr lang="en-US" sz="1300" b="1" dirty="0">
                <a:solidFill>
                  <a:srgbClr val="16253D"/>
                </a:solidFill>
                <a:latin typeface="Calibri" pitchFamily="34" charset="0"/>
                <a:ea typeface="Calibri" pitchFamily="34" charset="-122"/>
                <a:cs typeface="Calibri" pitchFamily="34" charset="-120"/>
              </a:rPr>
              <a:t>Sinyal pembatalan utama  (garis dasar 36,8%)</a:t>
            </a:r>
            <a:endParaRPr lang="en-US" sz="1300" dirty="0"/>
          </a:p>
        </p:txBody>
      </p:sp>
      <p:sp>
        <p:nvSpPr>
          <p:cNvPr id="7" name="Shape 4"/>
          <p:cNvSpPr/>
          <p:nvPr/>
        </p:nvSpPr>
        <p:spPr>
          <a:xfrm>
            <a:off x="4069080" y="1965960"/>
            <a:ext cx="3648456" cy="1024128"/>
          </a:xfrm>
          <a:prstGeom prst="roundRect">
            <a:avLst>
              <a:gd name="adj" fmla="val 6250"/>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8" name="Shape 5"/>
          <p:cNvSpPr/>
          <p:nvPr/>
        </p:nvSpPr>
        <p:spPr>
          <a:xfrm>
            <a:off x="4251960" y="2404872"/>
            <a:ext cx="146304" cy="146304"/>
          </a:xfrm>
          <a:prstGeom prst="ellipse">
            <a:avLst/>
          </a:prstGeom>
          <a:solidFill>
            <a:srgbClr val="C2554A"/>
          </a:solidFill>
          <a:ln/>
        </p:spPr>
        <p:txBody>
          <a:bodyPr/>
          <a:lstStyle/>
          <a:p>
            <a:endParaRPr lang="en-US"/>
          </a:p>
        </p:txBody>
      </p:sp>
      <p:sp>
        <p:nvSpPr>
          <p:cNvPr id="9" name="Text 6"/>
          <p:cNvSpPr/>
          <p:nvPr/>
        </p:nvSpPr>
        <p:spPr>
          <a:xfrm>
            <a:off x="4507992" y="2093976"/>
            <a:ext cx="3054096" cy="274320"/>
          </a:xfrm>
          <a:prstGeom prst="rect">
            <a:avLst/>
          </a:prstGeom>
          <a:noFill/>
          <a:ln/>
        </p:spPr>
        <p:txBody>
          <a:bodyPr wrap="square" lIns="0" tIns="0" rIns="0" bIns="0" rtlCol="0" anchor="ctr"/>
          <a:lstStyle/>
          <a:p>
            <a:pPr marL="0" indent="0">
              <a:buNone/>
            </a:pPr>
            <a:r>
              <a:rPr lang="en-US" sz="1200" b="1" dirty="0">
                <a:solidFill>
                  <a:srgbClr val="16253D"/>
                </a:solidFill>
                <a:latin typeface="Calibri" pitchFamily="34" charset="0"/>
                <a:ea typeface="Calibri" pitchFamily="34" charset="-122"/>
                <a:cs typeface="Calibri" pitchFamily="34" charset="-120"/>
              </a:rPr>
              <a:t>deposit_type = Non-Refund</a:t>
            </a:r>
            <a:endParaRPr lang="en-US" sz="1200" dirty="0"/>
          </a:p>
        </p:txBody>
      </p:sp>
      <p:sp>
        <p:nvSpPr>
          <p:cNvPr id="10" name="Text 7"/>
          <p:cNvSpPr/>
          <p:nvPr/>
        </p:nvSpPr>
        <p:spPr>
          <a:xfrm>
            <a:off x="4507992" y="2386584"/>
            <a:ext cx="3054096" cy="502920"/>
          </a:xfrm>
          <a:prstGeom prst="rect">
            <a:avLst/>
          </a:prstGeom>
          <a:noFill/>
          <a:ln/>
        </p:spPr>
        <p:txBody>
          <a:bodyPr wrap="square" lIns="0" tIns="0" rIns="0" bIns="0" rtlCol="0" anchor="t"/>
          <a:lstStyle/>
          <a:p>
            <a:pPr marL="0" indent="0">
              <a:lnSpc>
                <a:spcPct val="100000"/>
              </a:lnSpc>
              <a:buNone/>
            </a:pPr>
            <a:r>
              <a:rPr lang="en-US" sz="1500" b="1" dirty="0">
                <a:solidFill>
                  <a:srgbClr val="C2554A"/>
                </a:solidFill>
                <a:latin typeface="Cambria" pitchFamily="34" charset="0"/>
                <a:ea typeface="Cambria" pitchFamily="34" charset="-122"/>
                <a:cs typeface="Cambria" pitchFamily="34" charset="-120"/>
              </a:rPr>
              <a:t>≈100%  </a:t>
            </a:r>
            <a:r>
              <a:rPr lang="en-US" sz="1080" dirty="0">
                <a:solidFill>
                  <a:srgbClr val="1F2A3A"/>
                </a:solidFill>
                <a:latin typeface="Calibri" pitchFamily="34" charset="0"/>
                <a:ea typeface="Calibri" pitchFamily="34" charset="-122"/>
                <a:cs typeface="Calibri" pitchFamily="34" charset="-120"/>
              </a:rPr>
              <a:t>batal — sinyal terkuat, perlu diwaspadai</a:t>
            </a:r>
            <a:endParaRPr lang="en-US" sz="1500" dirty="0"/>
          </a:p>
        </p:txBody>
      </p:sp>
      <p:sp>
        <p:nvSpPr>
          <p:cNvPr id="11" name="Shape 8"/>
          <p:cNvSpPr/>
          <p:nvPr/>
        </p:nvSpPr>
        <p:spPr>
          <a:xfrm>
            <a:off x="7946136" y="1965960"/>
            <a:ext cx="3648456" cy="1024128"/>
          </a:xfrm>
          <a:prstGeom prst="roundRect">
            <a:avLst>
              <a:gd name="adj" fmla="val 6250"/>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2" name="Shape 9"/>
          <p:cNvSpPr/>
          <p:nvPr/>
        </p:nvSpPr>
        <p:spPr>
          <a:xfrm>
            <a:off x="8129016" y="2404872"/>
            <a:ext cx="146304" cy="146304"/>
          </a:xfrm>
          <a:prstGeom prst="ellipse">
            <a:avLst/>
          </a:prstGeom>
          <a:solidFill>
            <a:srgbClr val="C2554A"/>
          </a:solidFill>
          <a:ln/>
        </p:spPr>
        <p:txBody>
          <a:bodyPr/>
          <a:lstStyle/>
          <a:p>
            <a:endParaRPr lang="en-US"/>
          </a:p>
        </p:txBody>
      </p:sp>
      <p:sp>
        <p:nvSpPr>
          <p:cNvPr id="13" name="Text 10"/>
          <p:cNvSpPr/>
          <p:nvPr/>
        </p:nvSpPr>
        <p:spPr>
          <a:xfrm>
            <a:off x="8385048" y="2093976"/>
            <a:ext cx="3054096" cy="274320"/>
          </a:xfrm>
          <a:prstGeom prst="rect">
            <a:avLst/>
          </a:prstGeom>
          <a:noFill/>
          <a:ln/>
        </p:spPr>
        <p:txBody>
          <a:bodyPr wrap="square" lIns="0" tIns="0" rIns="0" bIns="0" rtlCol="0" anchor="ctr"/>
          <a:lstStyle/>
          <a:p>
            <a:pPr marL="0" indent="0">
              <a:buNone/>
            </a:pPr>
            <a:r>
              <a:rPr lang="en-US" sz="1200" b="1" dirty="0">
                <a:solidFill>
                  <a:srgbClr val="16253D"/>
                </a:solidFill>
                <a:latin typeface="Calibri" pitchFamily="34" charset="0"/>
                <a:ea typeface="Calibri" pitchFamily="34" charset="-122"/>
                <a:cs typeface="Calibri" pitchFamily="34" charset="-120"/>
              </a:rPr>
              <a:t>market_segment = Groups</a:t>
            </a:r>
            <a:endParaRPr lang="en-US" sz="1200" dirty="0"/>
          </a:p>
        </p:txBody>
      </p:sp>
      <p:sp>
        <p:nvSpPr>
          <p:cNvPr id="14" name="Text 11"/>
          <p:cNvSpPr/>
          <p:nvPr/>
        </p:nvSpPr>
        <p:spPr>
          <a:xfrm>
            <a:off x="8385048" y="2386584"/>
            <a:ext cx="3054096" cy="502920"/>
          </a:xfrm>
          <a:prstGeom prst="rect">
            <a:avLst/>
          </a:prstGeom>
          <a:noFill/>
          <a:ln/>
        </p:spPr>
        <p:txBody>
          <a:bodyPr wrap="square" lIns="0" tIns="0" rIns="0" bIns="0" rtlCol="0" anchor="t"/>
          <a:lstStyle/>
          <a:p>
            <a:pPr marL="0" indent="0">
              <a:lnSpc>
                <a:spcPct val="100000"/>
              </a:lnSpc>
              <a:buNone/>
            </a:pPr>
            <a:r>
              <a:rPr lang="en-US" sz="1500" b="1" dirty="0">
                <a:solidFill>
                  <a:srgbClr val="C2554A"/>
                </a:solidFill>
                <a:latin typeface="Cambria" pitchFamily="34" charset="0"/>
                <a:ea typeface="Cambria" pitchFamily="34" charset="-122"/>
                <a:cs typeface="Cambria" pitchFamily="34" charset="-120"/>
              </a:rPr>
              <a:t>≈60%  </a:t>
            </a:r>
            <a:r>
              <a:rPr lang="en-US" sz="1080" dirty="0">
                <a:solidFill>
                  <a:srgbClr val="1F2A3A"/>
                </a:solidFill>
                <a:latin typeface="Calibri" pitchFamily="34" charset="0"/>
                <a:ea typeface="Calibri" pitchFamily="34" charset="-122"/>
                <a:cs typeface="Calibri" pitchFamily="34" charset="-120"/>
              </a:rPr>
              <a:t>batal — komitmen rombongan lebih rendah</a:t>
            </a:r>
            <a:endParaRPr lang="en-US" sz="1500" dirty="0"/>
          </a:p>
        </p:txBody>
      </p:sp>
      <p:sp>
        <p:nvSpPr>
          <p:cNvPr id="15" name="Shape 12"/>
          <p:cNvSpPr/>
          <p:nvPr/>
        </p:nvSpPr>
        <p:spPr>
          <a:xfrm>
            <a:off x="4069080" y="3154680"/>
            <a:ext cx="3648456" cy="1024128"/>
          </a:xfrm>
          <a:prstGeom prst="roundRect">
            <a:avLst>
              <a:gd name="adj" fmla="val 6250"/>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6" name="Shape 13"/>
          <p:cNvSpPr/>
          <p:nvPr/>
        </p:nvSpPr>
        <p:spPr>
          <a:xfrm>
            <a:off x="4251960" y="3593592"/>
            <a:ext cx="146304" cy="146304"/>
          </a:xfrm>
          <a:prstGeom prst="ellipse">
            <a:avLst/>
          </a:prstGeom>
          <a:solidFill>
            <a:srgbClr val="C2554A"/>
          </a:solidFill>
          <a:ln/>
        </p:spPr>
        <p:txBody>
          <a:bodyPr/>
          <a:lstStyle/>
          <a:p>
            <a:endParaRPr lang="en-US"/>
          </a:p>
        </p:txBody>
      </p:sp>
      <p:sp>
        <p:nvSpPr>
          <p:cNvPr id="17" name="Text 14"/>
          <p:cNvSpPr/>
          <p:nvPr/>
        </p:nvSpPr>
        <p:spPr>
          <a:xfrm>
            <a:off x="4507992" y="3282696"/>
            <a:ext cx="3054096" cy="274320"/>
          </a:xfrm>
          <a:prstGeom prst="rect">
            <a:avLst/>
          </a:prstGeom>
          <a:noFill/>
          <a:ln/>
        </p:spPr>
        <p:txBody>
          <a:bodyPr wrap="square" lIns="0" tIns="0" rIns="0" bIns="0" rtlCol="0" anchor="ctr"/>
          <a:lstStyle/>
          <a:p>
            <a:pPr marL="0" indent="0">
              <a:buNone/>
            </a:pPr>
            <a:r>
              <a:rPr lang="en-US" sz="1200" b="1" dirty="0">
                <a:solidFill>
                  <a:srgbClr val="16253D"/>
                </a:solidFill>
                <a:latin typeface="Calibri" pitchFamily="34" charset="0"/>
                <a:ea typeface="Calibri" pitchFamily="34" charset="-122"/>
                <a:cs typeface="Calibri" pitchFamily="34" charset="-120"/>
              </a:rPr>
              <a:t>country = PRT (domestik)</a:t>
            </a:r>
            <a:endParaRPr lang="en-US" sz="1200" dirty="0"/>
          </a:p>
        </p:txBody>
      </p:sp>
      <p:sp>
        <p:nvSpPr>
          <p:cNvPr id="18" name="Text 15"/>
          <p:cNvSpPr/>
          <p:nvPr/>
        </p:nvSpPr>
        <p:spPr>
          <a:xfrm>
            <a:off x="4507992" y="3575304"/>
            <a:ext cx="3054096" cy="502920"/>
          </a:xfrm>
          <a:prstGeom prst="rect">
            <a:avLst/>
          </a:prstGeom>
          <a:noFill/>
          <a:ln/>
        </p:spPr>
        <p:txBody>
          <a:bodyPr wrap="square" lIns="0" tIns="0" rIns="0" bIns="0" rtlCol="0" anchor="t"/>
          <a:lstStyle/>
          <a:p>
            <a:pPr marL="0" indent="0">
              <a:lnSpc>
                <a:spcPct val="100000"/>
              </a:lnSpc>
              <a:buNone/>
            </a:pPr>
            <a:r>
              <a:rPr lang="en-US" sz="1500" b="1" dirty="0">
                <a:solidFill>
                  <a:srgbClr val="C2554A"/>
                </a:solidFill>
                <a:latin typeface="Cambria" pitchFamily="34" charset="0"/>
                <a:ea typeface="Cambria" pitchFamily="34" charset="-122"/>
                <a:cs typeface="Cambria" pitchFamily="34" charset="-120"/>
              </a:rPr>
              <a:t>56%  </a:t>
            </a:r>
            <a:r>
              <a:rPr lang="en-US" sz="1080" dirty="0">
                <a:solidFill>
                  <a:srgbClr val="1F2A3A"/>
                </a:solidFill>
                <a:latin typeface="Calibri" pitchFamily="34" charset="0"/>
                <a:ea typeface="Calibri" pitchFamily="34" charset="-122"/>
                <a:cs typeface="Calibri" pitchFamily="34" charset="-120"/>
              </a:rPr>
              <a:t>batal &amp; mendominasi volume pemesanan</a:t>
            </a:r>
            <a:endParaRPr lang="en-US" sz="1500" dirty="0"/>
          </a:p>
        </p:txBody>
      </p:sp>
      <p:sp>
        <p:nvSpPr>
          <p:cNvPr id="19" name="Shape 16"/>
          <p:cNvSpPr/>
          <p:nvPr/>
        </p:nvSpPr>
        <p:spPr>
          <a:xfrm>
            <a:off x="7946136" y="3154680"/>
            <a:ext cx="3648456" cy="1024128"/>
          </a:xfrm>
          <a:prstGeom prst="roundRect">
            <a:avLst>
              <a:gd name="adj" fmla="val 6250"/>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0" name="Shape 17"/>
          <p:cNvSpPr/>
          <p:nvPr/>
        </p:nvSpPr>
        <p:spPr>
          <a:xfrm>
            <a:off x="8129016" y="3593592"/>
            <a:ext cx="146304" cy="146304"/>
          </a:xfrm>
          <a:prstGeom prst="ellipse">
            <a:avLst/>
          </a:prstGeom>
          <a:solidFill>
            <a:srgbClr val="2E6E5E"/>
          </a:solidFill>
          <a:ln/>
        </p:spPr>
        <p:txBody>
          <a:bodyPr/>
          <a:lstStyle/>
          <a:p>
            <a:endParaRPr lang="en-US"/>
          </a:p>
        </p:txBody>
      </p:sp>
      <p:sp>
        <p:nvSpPr>
          <p:cNvPr id="21" name="Text 18"/>
          <p:cNvSpPr/>
          <p:nvPr/>
        </p:nvSpPr>
        <p:spPr>
          <a:xfrm>
            <a:off x="8385048" y="3282696"/>
            <a:ext cx="3054096" cy="274320"/>
          </a:xfrm>
          <a:prstGeom prst="rect">
            <a:avLst/>
          </a:prstGeom>
          <a:noFill/>
          <a:ln/>
        </p:spPr>
        <p:txBody>
          <a:bodyPr wrap="square" lIns="0" tIns="0" rIns="0" bIns="0" rtlCol="0" anchor="ctr"/>
          <a:lstStyle/>
          <a:p>
            <a:pPr marL="0" indent="0">
              <a:buNone/>
            </a:pPr>
            <a:r>
              <a:rPr lang="en-US" sz="1200" b="1" dirty="0">
                <a:solidFill>
                  <a:srgbClr val="16253D"/>
                </a:solidFill>
                <a:latin typeface="Calibri" pitchFamily="34" charset="0"/>
                <a:ea typeface="Calibri" pitchFamily="34" charset="-122"/>
                <a:cs typeface="Calibri" pitchFamily="34" charset="-120"/>
              </a:rPr>
              <a:t>total_of_special_requests</a:t>
            </a:r>
            <a:endParaRPr lang="en-US" sz="1200" dirty="0"/>
          </a:p>
        </p:txBody>
      </p:sp>
      <p:sp>
        <p:nvSpPr>
          <p:cNvPr id="22" name="Text 19"/>
          <p:cNvSpPr/>
          <p:nvPr/>
        </p:nvSpPr>
        <p:spPr>
          <a:xfrm>
            <a:off x="8385048" y="3575304"/>
            <a:ext cx="3054096" cy="502920"/>
          </a:xfrm>
          <a:prstGeom prst="rect">
            <a:avLst/>
          </a:prstGeom>
          <a:noFill/>
          <a:ln/>
        </p:spPr>
        <p:txBody>
          <a:bodyPr wrap="square" lIns="0" tIns="0" rIns="0" bIns="0" rtlCol="0" anchor="t"/>
          <a:lstStyle/>
          <a:p>
            <a:pPr marL="0" indent="0">
              <a:lnSpc>
                <a:spcPct val="100000"/>
              </a:lnSpc>
              <a:buNone/>
            </a:pPr>
            <a:r>
              <a:rPr lang="en-US" sz="1500" b="1" dirty="0">
                <a:solidFill>
                  <a:srgbClr val="2E6E5E"/>
                </a:solidFill>
                <a:latin typeface="Cambria" pitchFamily="34" charset="0"/>
                <a:ea typeface="Cambria" pitchFamily="34" charset="-122"/>
                <a:cs typeface="Cambria" pitchFamily="34" charset="-120"/>
              </a:rPr>
              <a:t>r = −0,23  </a:t>
            </a:r>
            <a:r>
              <a:rPr lang="en-US" sz="1080" dirty="0">
                <a:solidFill>
                  <a:srgbClr val="1F2A3A"/>
                </a:solidFill>
                <a:latin typeface="Calibri" pitchFamily="34" charset="0"/>
                <a:ea typeface="Calibri" pitchFamily="34" charset="-122"/>
                <a:cs typeface="Calibri" pitchFamily="34" charset="-120"/>
              </a:rPr>
              <a:t>makin banyak permintaan, makin kecil batal</a:t>
            </a:r>
            <a:endParaRPr lang="en-US" sz="1500" dirty="0"/>
          </a:p>
        </p:txBody>
      </p:sp>
      <p:sp>
        <p:nvSpPr>
          <p:cNvPr id="23" name="Shape 20"/>
          <p:cNvSpPr/>
          <p:nvPr/>
        </p:nvSpPr>
        <p:spPr>
          <a:xfrm>
            <a:off x="4069080" y="4343400"/>
            <a:ext cx="3648456" cy="1024128"/>
          </a:xfrm>
          <a:prstGeom prst="roundRect">
            <a:avLst>
              <a:gd name="adj" fmla="val 6250"/>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4" name="Shape 21"/>
          <p:cNvSpPr/>
          <p:nvPr/>
        </p:nvSpPr>
        <p:spPr>
          <a:xfrm>
            <a:off x="4251960" y="4782312"/>
            <a:ext cx="146304" cy="146304"/>
          </a:xfrm>
          <a:prstGeom prst="ellipse">
            <a:avLst/>
          </a:prstGeom>
          <a:solidFill>
            <a:srgbClr val="2E6E5E"/>
          </a:solidFill>
          <a:ln/>
        </p:spPr>
        <p:txBody>
          <a:bodyPr/>
          <a:lstStyle/>
          <a:p>
            <a:endParaRPr lang="en-US"/>
          </a:p>
        </p:txBody>
      </p:sp>
      <p:sp>
        <p:nvSpPr>
          <p:cNvPr id="25" name="Text 22"/>
          <p:cNvSpPr/>
          <p:nvPr/>
        </p:nvSpPr>
        <p:spPr>
          <a:xfrm>
            <a:off x="4507992" y="4471416"/>
            <a:ext cx="3054096" cy="274320"/>
          </a:xfrm>
          <a:prstGeom prst="rect">
            <a:avLst/>
          </a:prstGeom>
          <a:noFill/>
          <a:ln/>
        </p:spPr>
        <p:txBody>
          <a:bodyPr wrap="square" lIns="0" tIns="0" rIns="0" bIns="0" rtlCol="0" anchor="ctr"/>
          <a:lstStyle/>
          <a:p>
            <a:pPr marL="0" indent="0">
              <a:buNone/>
            </a:pPr>
            <a:r>
              <a:rPr lang="en-US" sz="1200" b="1" dirty="0">
                <a:solidFill>
                  <a:srgbClr val="16253D"/>
                </a:solidFill>
                <a:latin typeface="Calibri" pitchFamily="34" charset="0"/>
                <a:ea typeface="Calibri" pitchFamily="34" charset="-122"/>
                <a:cs typeface="Calibri" pitchFamily="34" charset="-120"/>
              </a:rPr>
              <a:t>required_car_parking_spaces</a:t>
            </a:r>
            <a:endParaRPr lang="en-US" sz="1200" dirty="0"/>
          </a:p>
        </p:txBody>
      </p:sp>
      <p:sp>
        <p:nvSpPr>
          <p:cNvPr id="26" name="Text 23"/>
          <p:cNvSpPr/>
          <p:nvPr/>
        </p:nvSpPr>
        <p:spPr>
          <a:xfrm>
            <a:off x="4507992" y="4764024"/>
            <a:ext cx="3054096" cy="502920"/>
          </a:xfrm>
          <a:prstGeom prst="rect">
            <a:avLst/>
          </a:prstGeom>
          <a:noFill/>
          <a:ln/>
        </p:spPr>
        <p:txBody>
          <a:bodyPr wrap="square" lIns="0" tIns="0" rIns="0" bIns="0" rtlCol="0" anchor="t"/>
          <a:lstStyle/>
          <a:p>
            <a:pPr marL="0" indent="0">
              <a:lnSpc>
                <a:spcPct val="100000"/>
              </a:lnSpc>
              <a:buNone/>
            </a:pPr>
            <a:r>
              <a:rPr lang="en-US" sz="1500" b="1" dirty="0">
                <a:solidFill>
                  <a:srgbClr val="2E6E5E"/>
                </a:solidFill>
                <a:latin typeface="Cambria" pitchFamily="34" charset="0"/>
                <a:ea typeface="Cambria" pitchFamily="34" charset="-122"/>
                <a:cs typeface="Cambria" pitchFamily="34" charset="-120"/>
              </a:rPr>
              <a:t>r = −0,20  </a:t>
            </a:r>
            <a:r>
              <a:rPr lang="en-US" sz="1080" dirty="0">
                <a:solidFill>
                  <a:srgbClr val="1F2A3A"/>
                </a:solidFill>
                <a:latin typeface="Calibri" pitchFamily="34" charset="0"/>
                <a:ea typeface="Calibri" pitchFamily="34" charset="-122"/>
                <a:cs typeface="Calibri" pitchFamily="34" charset="-120"/>
              </a:rPr>
              <a:t>minta parkir → hampir tak pernah batal</a:t>
            </a:r>
            <a:endParaRPr lang="en-US" sz="1500" dirty="0"/>
          </a:p>
        </p:txBody>
      </p:sp>
      <p:sp>
        <p:nvSpPr>
          <p:cNvPr id="27" name="Shape 24"/>
          <p:cNvSpPr/>
          <p:nvPr/>
        </p:nvSpPr>
        <p:spPr>
          <a:xfrm>
            <a:off x="7946136" y="4343400"/>
            <a:ext cx="3648456" cy="1024128"/>
          </a:xfrm>
          <a:prstGeom prst="roundRect">
            <a:avLst>
              <a:gd name="adj" fmla="val 6250"/>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8" name="Shape 25"/>
          <p:cNvSpPr/>
          <p:nvPr/>
        </p:nvSpPr>
        <p:spPr>
          <a:xfrm>
            <a:off x="8129016" y="4782312"/>
            <a:ext cx="146304" cy="146304"/>
          </a:xfrm>
          <a:prstGeom prst="ellipse">
            <a:avLst/>
          </a:prstGeom>
          <a:solidFill>
            <a:srgbClr val="C2554A"/>
          </a:solidFill>
          <a:ln/>
        </p:spPr>
        <p:txBody>
          <a:bodyPr/>
          <a:lstStyle/>
          <a:p>
            <a:endParaRPr lang="en-US"/>
          </a:p>
        </p:txBody>
      </p:sp>
      <p:sp>
        <p:nvSpPr>
          <p:cNvPr id="29" name="Text 26"/>
          <p:cNvSpPr/>
          <p:nvPr/>
        </p:nvSpPr>
        <p:spPr>
          <a:xfrm>
            <a:off x="8385048" y="4471416"/>
            <a:ext cx="3054096" cy="274320"/>
          </a:xfrm>
          <a:prstGeom prst="rect">
            <a:avLst/>
          </a:prstGeom>
          <a:noFill/>
          <a:ln/>
        </p:spPr>
        <p:txBody>
          <a:bodyPr wrap="square" lIns="0" tIns="0" rIns="0" bIns="0" rtlCol="0" anchor="ctr"/>
          <a:lstStyle/>
          <a:p>
            <a:pPr marL="0" indent="0">
              <a:buNone/>
            </a:pPr>
            <a:r>
              <a:rPr lang="en-US" sz="1200" b="1" dirty="0">
                <a:solidFill>
                  <a:srgbClr val="16253D"/>
                </a:solidFill>
                <a:latin typeface="Calibri" pitchFamily="34" charset="0"/>
                <a:ea typeface="Calibri" pitchFamily="34" charset="-122"/>
                <a:cs typeface="Calibri" pitchFamily="34" charset="-120"/>
              </a:rPr>
              <a:t>previous_cancellations</a:t>
            </a:r>
            <a:endParaRPr lang="en-US" sz="1200" dirty="0"/>
          </a:p>
        </p:txBody>
      </p:sp>
      <p:sp>
        <p:nvSpPr>
          <p:cNvPr id="30" name="Text 27"/>
          <p:cNvSpPr/>
          <p:nvPr/>
        </p:nvSpPr>
        <p:spPr>
          <a:xfrm>
            <a:off x="8385048" y="4764024"/>
            <a:ext cx="3054096" cy="502920"/>
          </a:xfrm>
          <a:prstGeom prst="rect">
            <a:avLst/>
          </a:prstGeom>
          <a:noFill/>
          <a:ln/>
        </p:spPr>
        <p:txBody>
          <a:bodyPr wrap="square" lIns="0" tIns="0" rIns="0" bIns="0" rtlCol="0" anchor="t"/>
          <a:lstStyle/>
          <a:p>
            <a:pPr marL="0" indent="0">
              <a:lnSpc>
                <a:spcPct val="100000"/>
              </a:lnSpc>
              <a:buNone/>
            </a:pPr>
            <a:r>
              <a:rPr lang="en-US" sz="1500" b="1" dirty="0">
                <a:solidFill>
                  <a:srgbClr val="C2554A"/>
                </a:solidFill>
                <a:latin typeface="Cambria" pitchFamily="34" charset="0"/>
                <a:ea typeface="Cambria" pitchFamily="34" charset="-122"/>
                <a:cs typeface="Cambria" pitchFamily="34" charset="-120"/>
              </a:rPr>
              <a:t>r = +0,11  </a:t>
            </a:r>
            <a:r>
              <a:rPr lang="en-US" sz="1080" dirty="0">
                <a:solidFill>
                  <a:srgbClr val="1F2A3A"/>
                </a:solidFill>
                <a:latin typeface="Calibri" pitchFamily="34" charset="0"/>
                <a:ea typeface="Calibri" pitchFamily="34" charset="-122"/>
                <a:cs typeface="Calibri" pitchFamily="34" charset="-120"/>
              </a:rPr>
              <a:t>pernah batal → cenderung batal lagi</a:t>
            </a:r>
            <a:endParaRPr lang="en-US" sz="1500" dirty="0"/>
          </a:p>
        </p:txBody>
      </p:sp>
      <p:sp>
        <p:nvSpPr>
          <p:cNvPr id="31" name="Text 28"/>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CLEANING &amp; FEATURE ENGINEERING</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Dari data mentah ke fitur siap-model</a:t>
            </a:r>
            <a:endParaRPr lang="en-US" sz="3000" dirty="0"/>
          </a:p>
        </p:txBody>
      </p:sp>
      <p:sp>
        <p:nvSpPr>
          <p:cNvPr id="4" name="Shape 2"/>
          <p:cNvSpPr/>
          <p:nvPr/>
        </p:nvSpPr>
        <p:spPr>
          <a:xfrm>
            <a:off x="566928" y="1627632"/>
            <a:ext cx="2448306" cy="1417320"/>
          </a:xfrm>
          <a:prstGeom prst="roundRect">
            <a:avLst>
              <a:gd name="adj" fmla="val 4516"/>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5" name="Shape 3"/>
          <p:cNvSpPr/>
          <p:nvPr/>
        </p:nvSpPr>
        <p:spPr>
          <a:xfrm>
            <a:off x="749808" y="1810512"/>
            <a:ext cx="420624" cy="420624"/>
          </a:xfrm>
          <a:prstGeom prst="ellipse">
            <a:avLst/>
          </a:prstGeom>
          <a:solidFill>
            <a:srgbClr val="C8A04B"/>
          </a:solidFill>
          <a:ln/>
        </p:spPr>
        <p:txBody>
          <a:bodyPr/>
          <a:lstStyle/>
          <a:p>
            <a:endParaRPr lang="en-US"/>
          </a:p>
        </p:txBody>
      </p:sp>
      <p:sp>
        <p:nvSpPr>
          <p:cNvPr id="6" name="Text 4"/>
          <p:cNvSpPr/>
          <p:nvPr/>
        </p:nvSpPr>
        <p:spPr>
          <a:xfrm>
            <a:off x="749808" y="1810512"/>
            <a:ext cx="420624" cy="420624"/>
          </a:xfrm>
          <a:prstGeom prst="rect">
            <a:avLst/>
          </a:prstGeom>
          <a:noFill/>
          <a:ln/>
        </p:spPr>
        <p:txBody>
          <a:bodyPr wrap="square" lIns="0" tIns="0" rIns="0" bIns="0" rtlCol="0" anchor="ctr"/>
          <a:lstStyle/>
          <a:p>
            <a:pPr marL="0" indent="0" algn="ctr">
              <a:buNone/>
            </a:pPr>
            <a:r>
              <a:rPr lang="en-US" sz="1600" b="1" dirty="0">
                <a:solidFill>
                  <a:srgbClr val="16253D"/>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280160" y="1828800"/>
            <a:ext cx="1579626" cy="411480"/>
          </a:xfrm>
          <a:prstGeom prst="rect">
            <a:avLst/>
          </a:prstGeom>
          <a:noFill/>
          <a:ln/>
        </p:spPr>
        <p:txBody>
          <a:bodyPr wrap="square" lIns="0" tIns="0" rIns="0" bIns="0" rtlCol="0" anchor="ctr"/>
          <a:lstStyle/>
          <a:p>
            <a:pPr marL="0" indent="0">
              <a:buNone/>
            </a:pPr>
            <a:r>
              <a:rPr lang="en-US" sz="1300" b="1" dirty="0">
                <a:solidFill>
                  <a:srgbClr val="16253D"/>
                </a:solidFill>
                <a:latin typeface="Calibri" pitchFamily="34" charset="0"/>
                <a:ea typeface="Calibri" pitchFamily="34" charset="-122"/>
                <a:cs typeface="Calibri" pitchFamily="34" charset="-120"/>
              </a:rPr>
              <a:t>Cleaning</a:t>
            </a:r>
            <a:endParaRPr lang="en-US" sz="1300" dirty="0"/>
          </a:p>
        </p:txBody>
      </p:sp>
      <p:sp>
        <p:nvSpPr>
          <p:cNvPr id="8" name="Text 6"/>
          <p:cNvSpPr/>
          <p:nvPr/>
        </p:nvSpPr>
        <p:spPr>
          <a:xfrm>
            <a:off x="768096" y="2286000"/>
            <a:ext cx="2045970" cy="640080"/>
          </a:xfrm>
          <a:prstGeom prst="rect">
            <a:avLst/>
          </a:prstGeom>
          <a:noFill/>
          <a:ln/>
        </p:spPr>
        <p:txBody>
          <a:bodyPr wrap="square" lIns="0" tIns="0" rIns="0" bIns="0" rtlCol="0" anchor="ctr"/>
          <a:lstStyle/>
          <a:p>
            <a:pPr marL="0" indent="0">
              <a:lnSpc>
                <a:spcPct val="105000"/>
              </a:lnSpc>
              <a:buNone/>
            </a:pPr>
            <a:r>
              <a:rPr lang="en-US" sz="1080" dirty="0">
                <a:solidFill>
                  <a:srgbClr val="1F2A3A"/>
                </a:solidFill>
                <a:latin typeface="Calibri" pitchFamily="34" charset="0"/>
                <a:ea typeface="Calibri" pitchFamily="34" charset="-122"/>
                <a:cs typeface="Calibri" pitchFamily="34" charset="-120"/>
              </a:rPr>
              <a:t>Isi country kosong → 'Unknown'. Cek nilai negatif (tidak ada).</a:t>
            </a:r>
            <a:endParaRPr lang="en-US" sz="1080" dirty="0"/>
          </a:p>
        </p:txBody>
      </p:sp>
      <p:pic>
        <p:nvPicPr>
          <p:cNvPr id="9" name="Image 0" descr="preencoded.png"/>
          <p:cNvPicPr>
            <a:picLocks noChangeAspect="1"/>
          </p:cNvPicPr>
          <p:nvPr/>
        </p:nvPicPr>
        <p:blipFill>
          <a:blip r:embed="rId3"/>
          <a:stretch>
            <a:fillRect/>
          </a:stretch>
        </p:blipFill>
        <p:spPr>
          <a:xfrm>
            <a:off x="3106674" y="2226564"/>
            <a:ext cx="219456" cy="219456"/>
          </a:xfrm>
          <a:prstGeom prst="rect">
            <a:avLst/>
          </a:prstGeom>
        </p:spPr>
      </p:pic>
      <p:sp>
        <p:nvSpPr>
          <p:cNvPr id="10" name="Shape 7"/>
          <p:cNvSpPr/>
          <p:nvPr/>
        </p:nvSpPr>
        <p:spPr>
          <a:xfrm>
            <a:off x="3426714" y="1627632"/>
            <a:ext cx="2448306" cy="1417320"/>
          </a:xfrm>
          <a:prstGeom prst="roundRect">
            <a:avLst>
              <a:gd name="adj" fmla="val 4516"/>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1" name="Shape 8"/>
          <p:cNvSpPr/>
          <p:nvPr/>
        </p:nvSpPr>
        <p:spPr>
          <a:xfrm>
            <a:off x="3609594" y="1810512"/>
            <a:ext cx="420624" cy="420624"/>
          </a:xfrm>
          <a:prstGeom prst="ellipse">
            <a:avLst/>
          </a:prstGeom>
          <a:solidFill>
            <a:srgbClr val="C8A04B"/>
          </a:solidFill>
          <a:ln/>
        </p:spPr>
        <p:txBody>
          <a:bodyPr/>
          <a:lstStyle/>
          <a:p>
            <a:endParaRPr lang="en-US"/>
          </a:p>
        </p:txBody>
      </p:sp>
      <p:sp>
        <p:nvSpPr>
          <p:cNvPr id="12" name="Text 9"/>
          <p:cNvSpPr/>
          <p:nvPr/>
        </p:nvSpPr>
        <p:spPr>
          <a:xfrm>
            <a:off x="3609594" y="1810512"/>
            <a:ext cx="420624" cy="420624"/>
          </a:xfrm>
          <a:prstGeom prst="rect">
            <a:avLst/>
          </a:prstGeom>
          <a:noFill/>
          <a:ln/>
        </p:spPr>
        <p:txBody>
          <a:bodyPr wrap="square" lIns="0" tIns="0" rIns="0" bIns="0" rtlCol="0" anchor="ctr"/>
          <a:lstStyle/>
          <a:p>
            <a:pPr marL="0" indent="0" algn="ctr">
              <a:buNone/>
            </a:pPr>
            <a:r>
              <a:rPr lang="en-US" sz="1600" b="1" dirty="0">
                <a:solidFill>
                  <a:srgbClr val="16253D"/>
                </a:solidFill>
                <a:latin typeface="Cambria" pitchFamily="34" charset="0"/>
                <a:ea typeface="Cambria" pitchFamily="34" charset="-122"/>
                <a:cs typeface="Cambria" pitchFamily="34" charset="-120"/>
              </a:rPr>
              <a:t>2</a:t>
            </a:r>
            <a:endParaRPr lang="en-US" sz="1600" dirty="0"/>
          </a:p>
        </p:txBody>
      </p:sp>
      <p:sp>
        <p:nvSpPr>
          <p:cNvPr id="13" name="Text 10"/>
          <p:cNvSpPr/>
          <p:nvPr/>
        </p:nvSpPr>
        <p:spPr>
          <a:xfrm>
            <a:off x="4139946" y="1828800"/>
            <a:ext cx="1579626" cy="411480"/>
          </a:xfrm>
          <a:prstGeom prst="rect">
            <a:avLst/>
          </a:prstGeom>
          <a:noFill/>
          <a:ln/>
        </p:spPr>
        <p:txBody>
          <a:bodyPr wrap="square" lIns="0" tIns="0" rIns="0" bIns="0" rtlCol="0" anchor="ctr"/>
          <a:lstStyle/>
          <a:p>
            <a:pPr marL="0" indent="0">
              <a:buNone/>
            </a:pPr>
            <a:r>
              <a:rPr lang="en-US" sz="1300" b="1" dirty="0">
                <a:solidFill>
                  <a:srgbClr val="16253D"/>
                </a:solidFill>
                <a:latin typeface="Calibri" pitchFamily="34" charset="0"/>
                <a:ea typeface="Calibri" pitchFamily="34" charset="-122"/>
                <a:cs typeface="Calibri" pitchFamily="34" charset="-120"/>
              </a:rPr>
              <a:t>Feature Engineering</a:t>
            </a:r>
            <a:endParaRPr lang="en-US" sz="1300" dirty="0"/>
          </a:p>
        </p:txBody>
      </p:sp>
      <p:sp>
        <p:nvSpPr>
          <p:cNvPr id="14" name="Text 11"/>
          <p:cNvSpPr/>
          <p:nvPr/>
        </p:nvSpPr>
        <p:spPr>
          <a:xfrm>
            <a:off x="3627882" y="2286000"/>
            <a:ext cx="2045970" cy="640080"/>
          </a:xfrm>
          <a:prstGeom prst="rect">
            <a:avLst/>
          </a:prstGeom>
          <a:noFill/>
          <a:ln/>
        </p:spPr>
        <p:txBody>
          <a:bodyPr wrap="square" lIns="0" tIns="0" rIns="0" bIns="0" rtlCol="0" anchor="ctr"/>
          <a:lstStyle/>
          <a:p>
            <a:pPr marL="0" indent="0">
              <a:lnSpc>
                <a:spcPct val="105000"/>
              </a:lnSpc>
              <a:buNone/>
            </a:pPr>
            <a:r>
              <a:rPr lang="en-US" sz="1080" dirty="0">
                <a:solidFill>
                  <a:srgbClr val="1F2A3A"/>
                </a:solidFill>
                <a:latin typeface="Calibri" pitchFamily="34" charset="0"/>
                <a:ea typeface="Calibri" pitchFamily="34" charset="-122"/>
                <a:cs typeface="Calibri" pitchFamily="34" charset="-120"/>
              </a:rPr>
              <a:t>6 flag biner + kurangi kardinalitas country → top-20 + 'Other'.</a:t>
            </a:r>
            <a:endParaRPr lang="en-US" sz="1080" dirty="0"/>
          </a:p>
        </p:txBody>
      </p:sp>
      <p:pic>
        <p:nvPicPr>
          <p:cNvPr id="15" name="Image 1" descr="preencoded.png"/>
          <p:cNvPicPr>
            <a:picLocks noChangeAspect="1"/>
          </p:cNvPicPr>
          <p:nvPr/>
        </p:nvPicPr>
        <p:blipFill>
          <a:blip r:embed="rId3"/>
          <a:stretch>
            <a:fillRect/>
          </a:stretch>
        </p:blipFill>
        <p:spPr>
          <a:xfrm>
            <a:off x="5966460" y="2226564"/>
            <a:ext cx="219456" cy="219456"/>
          </a:xfrm>
          <a:prstGeom prst="rect">
            <a:avLst/>
          </a:prstGeom>
        </p:spPr>
      </p:pic>
      <p:sp>
        <p:nvSpPr>
          <p:cNvPr id="16" name="Shape 12"/>
          <p:cNvSpPr/>
          <p:nvPr/>
        </p:nvSpPr>
        <p:spPr>
          <a:xfrm>
            <a:off x="6286500" y="1627632"/>
            <a:ext cx="2448306" cy="1417320"/>
          </a:xfrm>
          <a:prstGeom prst="roundRect">
            <a:avLst>
              <a:gd name="adj" fmla="val 4516"/>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7" name="Shape 13"/>
          <p:cNvSpPr/>
          <p:nvPr/>
        </p:nvSpPr>
        <p:spPr>
          <a:xfrm>
            <a:off x="6469380" y="1810512"/>
            <a:ext cx="420624" cy="420624"/>
          </a:xfrm>
          <a:prstGeom prst="ellipse">
            <a:avLst/>
          </a:prstGeom>
          <a:solidFill>
            <a:srgbClr val="C8A04B"/>
          </a:solidFill>
          <a:ln/>
        </p:spPr>
        <p:txBody>
          <a:bodyPr/>
          <a:lstStyle/>
          <a:p>
            <a:endParaRPr lang="en-US"/>
          </a:p>
        </p:txBody>
      </p:sp>
      <p:sp>
        <p:nvSpPr>
          <p:cNvPr id="18" name="Text 14"/>
          <p:cNvSpPr/>
          <p:nvPr/>
        </p:nvSpPr>
        <p:spPr>
          <a:xfrm>
            <a:off x="6469380" y="1810512"/>
            <a:ext cx="420624" cy="420624"/>
          </a:xfrm>
          <a:prstGeom prst="rect">
            <a:avLst/>
          </a:prstGeom>
          <a:noFill/>
          <a:ln/>
        </p:spPr>
        <p:txBody>
          <a:bodyPr wrap="square" lIns="0" tIns="0" rIns="0" bIns="0" rtlCol="0" anchor="ctr"/>
          <a:lstStyle/>
          <a:p>
            <a:pPr marL="0" indent="0" algn="ctr">
              <a:buNone/>
            </a:pPr>
            <a:r>
              <a:rPr lang="en-US" sz="1600" b="1" dirty="0">
                <a:solidFill>
                  <a:srgbClr val="16253D"/>
                </a:solidFill>
                <a:latin typeface="Cambria" pitchFamily="34" charset="0"/>
                <a:ea typeface="Cambria" pitchFamily="34" charset="-122"/>
                <a:cs typeface="Cambria" pitchFamily="34" charset="-120"/>
              </a:rPr>
              <a:t>3</a:t>
            </a:r>
            <a:endParaRPr lang="en-US" sz="1600" dirty="0"/>
          </a:p>
        </p:txBody>
      </p:sp>
      <p:sp>
        <p:nvSpPr>
          <p:cNvPr id="19" name="Text 15"/>
          <p:cNvSpPr/>
          <p:nvPr/>
        </p:nvSpPr>
        <p:spPr>
          <a:xfrm>
            <a:off x="6999732" y="1828800"/>
            <a:ext cx="1579626" cy="411480"/>
          </a:xfrm>
          <a:prstGeom prst="rect">
            <a:avLst/>
          </a:prstGeom>
          <a:noFill/>
          <a:ln/>
        </p:spPr>
        <p:txBody>
          <a:bodyPr wrap="square" lIns="0" tIns="0" rIns="0" bIns="0" rtlCol="0" anchor="ctr"/>
          <a:lstStyle/>
          <a:p>
            <a:pPr marL="0" indent="0">
              <a:buNone/>
            </a:pPr>
            <a:r>
              <a:rPr lang="en-US" sz="1300" b="1" dirty="0">
                <a:solidFill>
                  <a:srgbClr val="16253D"/>
                </a:solidFill>
                <a:latin typeface="Calibri" pitchFamily="34" charset="0"/>
                <a:ea typeface="Calibri" pitchFamily="34" charset="-122"/>
                <a:cs typeface="Calibri" pitchFamily="34" charset="-120"/>
              </a:rPr>
              <a:t>Preprocessing</a:t>
            </a:r>
            <a:endParaRPr lang="en-US" sz="1300" dirty="0"/>
          </a:p>
        </p:txBody>
      </p:sp>
      <p:sp>
        <p:nvSpPr>
          <p:cNvPr id="20" name="Text 16"/>
          <p:cNvSpPr/>
          <p:nvPr/>
        </p:nvSpPr>
        <p:spPr>
          <a:xfrm>
            <a:off x="6487668" y="2286000"/>
            <a:ext cx="2045970" cy="640080"/>
          </a:xfrm>
          <a:prstGeom prst="rect">
            <a:avLst/>
          </a:prstGeom>
          <a:noFill/>
          <a:ln/>
        </p:spPr>
        <p:txBody>
          <a:bodyPr wrap="square" lIns="0" tIns="0" rIns="0" bIns="0" rtlCol="0" anchor="ctr"/>
          <a:lstStyle/>
          <a:p>
            <a:pPr marL="0" indent="0">
              <a:lnSpc>
                <a:spcPct val="105000"/>
              </a:lnSpc>
              <a:buNone/>
            </a:pPr>
            <a:r>
              <a:rPr lang="en-US" sz="1080" dirty="0">
                <a:solidFill>
                  <a:srgbClr val="1F2A3A"/>
                </a:solidFill>
                <a:latin typeface="Calibri" pitchFamily="34" charset="0"/>
                <a:ea typeface="Calibri" pitchFamily="34" charset="-122"/>
                <a:cs typeface="Calibri" pitchFamily="34" charset="-120"/>
              </a:rPr>
              <a:t>Stratified split 80/20, lalu RobustScaler + OneHotEncoder dalam Pipeline.</a:t>
            </a:r>
            <a:endParaRPr lang="en-US" sz="1080" dirty="0"/>
          </a:p>
        </p:txBody>
      </p:sp>
      <p:pic>
        <p:nvPicPr>
          <p:cNvPr id="21" name="Image 2" descr="preencoded.png"/>
          <p:cNvPicPr>
            <a:picLocks noChangeAspect="1"/>
          </p:cNvPicPr>
          <p:nvPr/>
        </p:nvPicPr>
        <p:blipFill>
          <a:blip r:embed="rId3"/>
          <a:stretch>
            <a:fillRect/>
          </a:stretch>
        </p:blipFill>
        <p:spPr>
          <a:xfrm>
            <a:off x="8826246" y="2226564"/>
            <a:ext cx="219456" cy="219456"/>
          </a:xfrm>
          <a:prstGeom prst="rect">
            <a:avLst/>
          </a:prstGeom>
        </p:spPr>
      </p:pic>
      <p:sp>
        <p:nvSpPr>
          <p:cNvPr id="22" name="Shape 17"/>
          <p:cNvSpPr/>
          <p:nvPr/>
        </p:nvSpPr>
        <p:spPr>
          <a:xfrm>
            <a:off x="9146286" y="1627632"/>
            <a:ext cx="2448306" cy="1417320"/>
          </a:xfrm>
          <a:prstGeom prst="roundRect">
            <a:avLst>
              <a:gd name="adj" fmla="val 4516"/>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3" name="Shape 18"/>
          <p:cNvSpPr/>
          <p:nvPr/>
        </p:nvSpPr>
        <p:spPr>
          <a:xfrm>
            <a:off x="9329166" y="1810512"/>
            <a:ext cx="420624" cy="420624"/>
          </a:xfrm>
          <a:prstGeom prst="ellipse">
            <a:avLst/>
          </a:prstGeom>
          <a:solidFill>
            <a:srgbClr val="C8A04B"/>
          </a:solidFill>
          <a:ln/>
        </p:spPr>
        <p:txBody>
          <a:bodyPr/>
          <a:lstStyle/>
          <a:p>
            <a:endParaRPr lang="en-US"/>
          </a:p>
        </p:txBody>
      </p:sp>
      <p:sp>
        <p:nvSpPr>
          <p:cNvPr id="24" name="Text 19"/>
          <p:cNvSpPr/>
          <p:nvPr/>
        </p:nvSpPr>
        <p:spPr>
          <a:xfrm>
            <a:off x="9329166" y="1810512"/>
            <a:ext cx="420624" cy="420624"/>
          </a:xfrm>
          <a:prstGeom prst="rect">
            <a:avLst/>
          </a:prstGeom>
          <a:noFill/>
          <a:ln/>
        </p:spPr>
        <p:txBody>
          <a:bodyPr wrap="square" lIns="0" tIns="0" rIns="0" bIns="0" rtlCol="0" anchor="ctr"/>
          <a:lstStyle/>
          <a:p>
            <a:pPr marL="0" indent="0" algn="ctr">
              <a:buNone/>
            </a:pPr>
            <a:r>
              <a:rPr lang="en-US" sz="1600" b="1" dirty="0">
                <a:solidFill>
                  <a:srgbClr val="16253D"/>
                </a:solidFill>
                <a:latin typeface="Cambria" pitchFamily="34" charset="0"/>
                <a:ea typeface="Cambria" pitchFamily="34" charset="-122"/>
                <a:cs typeface="Cambria" pitchFamily="34" charset="-120"/>
              </a:rPr>
              <a:t>4</a:t>
            </a:r>
            <a:endParaRPr lang="en-US" sz="1600" dirty="0"/>
          </a:p>
        </p:txBody>
      </p:sp>
      <p:sp>
        <p:nvSpPr>
          <p:cNvPr id="25" name="Text 20"/>
          <p:cNvSpPr/>
          <p:nvPr/>
        </p:nvSpPr>
        <p:spPr>
          <a:xfrm>
            <a:off x="9859518" y="1828800"/>
            <a:ext cx="1579626" cy="411480"/>
          </a:xfrm>
          <a:prstGeom prst="rect">
            <a:avLst/>
          </a:prstGeom>
          <a:noFill/>
          <a:ln/>
        </p:spPr>
        <p:txBody>
          <a:bodyPr wrap="square" lIns="0" tIns="0" rIns="0" bIns="0" rtlCol="0" anchor="ctr"/>
          <a:lstStyle/>
          <a:p>
            <a:pPr marL="0" indent="0">
              <a:buNone/>
            </a:pPr>
            <a:r>
              <a:rPr lang="en-US" sz="1300" b="1" dirty="0">
                <a:solidFill>
                  <a:srgbClr val="16253D"/>
                </a:solidFill>
                <a:latin typeface="Calibri" pitchFamily="34" charset="0"/>
                <a:ea typeface="Calibri" pitchFamily="34" charset="-122"/>
                <a:cs typeface="Calibri" pitchFamily="34" charset="-120"/>
              </a:rPr>
              <a:t>Imbalance</a:t>
            </a:r>
            <a:endParaRPr lang="en-US" sz="1300" dirty="0"/>
          </a:p>
        </p:txBody>
      </p:sp>
      <p:sp>
        <p:nvSpPr>
          <p:cNvPr id="26" name="Text 21"/>
          <p:cNvSpPr/>
          <p:nvPr/>
        </p:nvSpPr>
        <p:spPr>
          <a:xfrm>
            <a:off x="9347454" y="2286000"/>
            <a:ext cx="2045970" cy="640080"/>
          </a:xfrm>
          <a:prstGeom prst="rect">
            <a:avLst/>
          </a:prstGeom>
          <a:noFill/>
          <a:ln/>
        </p:spPr>
        <p:txBody>
          <a:bodyPr wrap="square" lIns="0" tIns="0" rIns="0" bIns="0" rtlCol="0" anchor="ctr"/>
          <a:lstStyle/>
          <a:p>
            <a:pPr marL="0" indent="0">
              <a:lnSpc>
                <a:spcPct val="105000"/>
              </a:lnSpc>
              <a:buNone/>
            </a:pPr>
            <a:r>
              <a:rPr lang="en-US" sz="1080" dirty="0">
                <a:solidFill>
                  <a:srgbClr val="1F2A3A"/>
                </a:solidFill>
                <a:latin typeface="Calibri" pitchFamily="34" charset="0"/>
                <a:ea typeface="Calibri" pitchFamily="34" charset="-122"/>
                <a:cs typeface="Calibri" pitchFamily="34" charset="-120"/>
              </a:rPr>
              <a:t>class_weight = 'balanced' (bukan oversampling).</a:t>
            </a:r>
            <a:endParaRPr lang="en-US" sz="1080" dirty="0"/>
          </a:p>
        </p:txBody>
      </p:sp>
      <p:sp>
        <p:nvSpPr>
          <p:cNvPr id="27" name="Shape 22"/>
          <p:cNvSpPr/>
          <p:nvPr/>
        </p:nvSpPr>
        <p:spPr>
          <a:xfrm>
            <a:off x="566928" y="3337560"/>
            <a:ext cx="11027664" cy="2697480"/>
          </a:xfrm>
          <a:prstGeom prst="roundRect">
            <a:avLst>
              <a:gd name="adj" fmla="val 2373"/>
            </a:avLst>
          </a:prstGeom>
          <a:solidFill>
            <a:srgbClr val="16253D"/>
          </a:solidFill>
          <a:ln/>
          <a:effectLst>
            <a:outerShdw blurRad="88900" dist="38100" dir="5400000" algn="bl" rotWithShape="0">
              <a:srgbClr val="0B1626">
                <a:alpha val="16000"/>
              </a:srgbClr>
            </a:outerShdw>
          </a:effectLst>
        </p:spPr>
        <p:txBody>
          <a:bodyPr/>
          <a:lstStyle/>
          <a:p>
            <a:endParaRPr lang="en-US"/>
          </a:p>
        </p:txBody>
      </p:sp>
      <p:sp>
        <p:nvSpPr>
          <p:cNvPr id="28" name="Text 23"/>
          <p:cNvSpPr/>
          <p:nvPr/>
        </p:nvSpPr>
        <p:spPr>
          <a:xfrm>
            <a:off x="932688" y="3611880"/>
            <a:ext cx="10296144" cy="41148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KEPUTUSAN KUNCI  </a:t>
            </a:r>
            <a:r>
              <a:rPr lang="en-US" sz="1900" b="1" dirty="0">
                <a:solidFill>
                  <a:srgbClr val="FFFFFF"/>
                </a:solidFill>
                <a:latin typeface="Cambria" pitchFamily="34" charset="0"/>
                <a:ea typeface="Cambria" pitchFamily="34" charset="-122"/>
                <a:cs typeface="Cambria" pitchFamily="34" charset="-120"/>
              </a:rPr>
              <a:t>Baris duplikat dipertahankan</a:t>
            </a:r>
            <a:endParaRPr lang="en-US" sz="1200" dirty="0"/>
          </a:p>
        </p:txBody>
      </p:sp>
      <p:sp>
        <p:nvSpPr>
          <p:cNvPr id="29" name="Text 24"/>
          <p:cNvSpPr/>
          <p:nvPr/>
        </p:nvSpPr>
        <p:spPr>
          <a:xfrm>
            <a:off x="932688" y="4206240"/>
            <a:ext cx="3188208" cy="502920"/>
          </a:xfrm>
          <a:prstGeom prst="rect">
            <a:avLst/>
          </a:prstGeom>
          <a:noFill/>
          <a:ln/>
        </p:spPr>
        <p:txBody>
          <a:bodyPr wrap="square" lIns="0" tIns="0" rIns="0" bIns="0" rtlCol="0" anchor="t"/>
          <a:lstStyle/>
          <a:p>
            <a:pPr marL="0" indent="0">
              <a:lnSpc>
                <a:spcPct val="100000"/>
              </a:lnSpc>
              <a:buNone/>
            </a:pPr>
            <a:r>
              <a:rPr lang="en-US" sz="1300" b="1" dirty="0">
                <a:solidFill>
                  <a:srgbClr val="C8A04B"/>
                </a:solidFill>
                <a:latin typeface="Calibri" pitchFamily="34" charset="0"/>
                <a:ea typeface="Calibri" pitchFamily="34" charset="-122"/>
                <a:cs typeface="Calibri" pitchFamily="34" charset="-120"/>
              </a:rPr>
              <a:t>Kenapa tidak dihapus?</a:t>
            </a:r>
            <a:endParaRPr lang="en-US" sz="1300" dirty="0"/>
          </a:p>
        </p:txBody>
      </p:sp>
      <p:sp>
        <p:nvSpPr>
          <p:cNvPr id="30" name="Text 25"/>
          <p:cNvSpPr/>
          <p:nvPr/>
        </p:nvSpPr>
        <p:spPr>
          <a:xfrm>
            <a:off x="932688" y="4709160"/>
            <a:ext cx="3188208" cy="1143000"/>
          </a:xfrm>
          <a:prstGeom prst="rect">
            <a:avLst/>
          </a:prstGeom>
          <a:noFill/>
          <a:ln/>
        </p:spPr>
        <p:txBody>
          <a:bodyPr wrap="square" lIns="0" tIns="0" rIns="0" bIns="0" rtlCol="0" anchor="t"/>
          <a:lstStyle/>
          <a:p>
            <a:pPr marL="0" indent="0">
              <a:lnSpc>
                <a:spcPct val="112000"/>
              </a:lnSpc>
              <a:buNone/>
            </a:pPr>
            <a:r>
              <a:rPr lang="en-US" sz="1120" dirty="0">
                <a:solidFill>
                  <a:srgbClr val="DCE3EE"/>
                </a:solidFill>
                <a:latin typeface="Calibri" pitchFamily="34" charset="0"/>
                <a:ea typeface="Calibri" pitchFamily="34" charset="-122"/>
                <a:cs typeface="Calibri" pitchFamily="34" charset="-120"/>
              </a:rPr>
              <a:t>Menghapus duplikat membuang ~88% data dan menggeser tingkat pembatalan 36,8% → 23,6%. Tanpa kolom pembeda (tanggal/harga), baris identik = pemesanan yang valid (tamu memesan &gt;1x), bukan kesalahan input.</a:t>
            </a:r>
            <a:endParaRPr lang="en-US" sz="1120" dirty="0"/>
          </a:p>
        </p:txBody>
      </p:sp>
      <p:sp>
        <p:nvSpPr>
          <p:cNvPr id="31" name="Text 26"/>
          <p:cNvSpPr/>
          <p:nvPr/>
        </p:nvSpPr>
        <p:spPr>
          <a:xfrm>
            <a:off x="4486656" y="4206240"/>
            <a:ext cx="3188208" cy="502920"/>
          </a:xfrm>
          <a:prstGeom prst="rect">
            <a:avLst/>
          </a:prstGeom>
          <a:noFill/>
          <a:ln/>
        </p:spPr>
        <p:txBody>
          <a:bodyPr wrap="square" lIns="0" tIns="0" rIns="0" bIns="0" rtlCol="0" anchor="t"/>
          <a:lstStyle/>
          <a:p>
            <a:pPr marL="0" indent="0">
              <a:lnSpc>
                <a:spcPct val="100000"/>
              </a:lnSpc>
              <a:buNone/>
            </a:pPr>
            <a:r>
              <a:rPr lang="en-US" sz="1300" b="1" dirty="0">
                <a:solidFill>
                  <a:srgbClr val="C8A04B"/>
                </a:solidFill>
                <a:latin typeface="Calibri" pitchFamily="34" charset="0"/>
                <a:ea typeface="Calibri" pitchFamily="34" charset="-122"/>
                <a:cs typeface="Calibri" pitchFamily="34" charset="-120"/>
              </a:rPr>
              <a:t>Risiko sebenarnya</a:t>
            </a:r>
            <a:endParaRPr lang="en-US" sz="1300" dirty="0"/>
          </a:p>
        </p:txBody>
      </p:sp>
      <p:sp>
        <p:nvSpPr>
          <p:cNvPr id="32" name="Text 27"/>
          <p:cNvSpPr/>
          <p:nvPr/>
        </p:nvSpPr>
        <p:spPr>
          <a:xfrm>
            <a:off x="4486656" y="4709160"/>
            <a:ext cx="3188208" cy="1143000"/>
          </a:xfrm>
          <a:prstGeom prst="rect">
            <a:avLst/>
          </a:prstGeom>
          <a:noFill/>
          <a:ln/>
        </p:spPr>
        <p:txBody>
          <a:bodyPr wrap="square" lIns="0" tIns="0" rIns="0" bIns="0" rtlCol="0" anchor="t"/>
          <a:lstStyle/>
          <a:p>
            <a:pPr marL="0" indent="0">
              <a:lnSpc>
                <a:spcPct val="112000"/>
              </a:lnSpc>
              <a:buNone/>
            </a:pPr>
            <a:r>
              <a:rPr lang="en-US" sz="1120" dirty="0">
                <a:solidFill>
                  <a:srgbClr val="DCE3EE"/>
                </a:solidFill>
                <a:latin typeface="Calibri" pitchFamily="34" charset="0"/>
                <a:ea typeface="Calibri" pitchFamily="34" charset="-122"/>
                <a:cs typeface="Calibri" pitchFamily="34" charset="-120"/>
              </a:rPr>
              <a:t>Bukan duplikatnya, melainkan KEBOCORAN DATA: baris identik bisa muncul di data latih &amp; uji sekaligus, membuat skor optimis. Besar kebocoran diukur terpisah dan dilaporkan sebagai batas bawah.</a:t>
            </a:r>
            <a:endParaRPr lang="en-US" sz="1120" dirty="0"/>
          </a:p>
        </p:txBody>
      </p:sp>
      <p:sp>
        <p:nvSpPr>
          <p:cNvPr id="33" name="Text 28"/>
          <p:cNvSpPr/>
          <p:nvPr/>
        </p:nvSpPr>
        <p:spPr>
          <a:xfrm>
            <a:off x="8040624" y="4206240"/>
            <a:ext cx="3188208" cy="502920"/>
          </a:xfrm>
          <a:prstGeom prst="rect">
            <a:avLst/>
          </a:prstGeom>
          <a:noFill/>
          <a:ln/>
        </p:spPr>
        <p:txBody>
          <a:bodyPr wrap="square" lIns="0" tIns="0" rIns="0" bIns="0" rtlCol="0" anchor="t"/>
          <a:lstStyle/>
          <a:p>
            <a:pPr marL="0" indent="0">
              <a:lnSpc>
                <a:spcPct val="100000"/>
              </a:lnSpc>
              <a:buNone/>
            </a:pPr>
            <a:r>
              <a:rPr lang="en-US" sz="1300" b="1" dirty="0">
                <a:solidFill>
                  <a:srgbClr val="C8A04B"/>
                </a:solidFill>
                <a:latin typeface="Calibri" pitchFamily="34" charset="0"/>
                <a:ea typeface="Calibri" pitchFamily="34" charset="-122"/>
                <a:cs typeface="Calibri" pitchFamily="34" charset="-120"/>
              </a:rPr>
              <a:t>Kenapa class weighting, bukan oversampling?</a:t>
            </a:r>
            <a:endParaRPr lang="en-US" sz="1300" dirty="0"/>
          </a:p>
        </p:txBody>
      </p:sp>
      <p:sp>
        <p:nvSpPr>
          <p:cNvPr id="34" name="Text 29"/>
          <p:cNvSpPr/>
          <p:nvPr/>
        </p:nvSpPr>
        <p:spPr>
          <a:xfrm>
            <a:off x="8040624" y="4709160"/>
            <a:ext cx="3188208" cy="1143000"/>
          </a:xfrm>
          <a:prstGeom prst="rect">
            <a:avLst/>
          </a:prstGeom>
          <a:noFill/>
          <a:ln/>
        </p:spPr>
        <p:txBody>
          <a:bodyPr wrap="square" lIns="0" tIns="0" rIns="0" bIns="0" rtlCol="0" anchor="t"/>
          <a:lstStyle/>
          <a:p>
            <a:pPr marL="0" indent="0">
              <a:lnSpc>
                <a:spcPct val="112000"/>
              </a:lnSpc>
              <a:buNone/>
            </a:pPr>
            <a:r>
              <a:rPr lang="en-US" sz="1120" dirty="0">
                <a:solidFill>
                  <a:srgbClr val="DCE3EE"/>
                </a:solidFill>
                <a:latin typeface="Calibri" pitchFamily="34" charset="0"/>
                <a:ea typeface="Calibri" pitchFamily="34" charset="-122"/>
                <a:cs typeface="Calibri" pitchFamily="34" charset="-120"/>
              </a:rPr>
              <a:t>Data didominasi duplikat, sehingga baris sintetis berisiko merusak prediksi. class_weight='balanced' menjaga distribusi asli &amp; tak menambah risiko kebocoran saat CV.</a:t>
            </a:r>
            <a:endParaRPr lang="en-US" sz="1120" dirty="0"/>
          </a:p>
        </p:txBody>
      </p:sp>
      <p:sp>
        <p:nvSpPr>
          <p:cNvPr id="35" name="Text 30"/>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PEMODELAN</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HistGradientBoosting menang tipis di seluruh metrik</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6766560" cy="2651760"/>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53035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16253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F1 Score</a:t>
                      </a:r>
                      <a:endParaRPr lang="en-US" sz="130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16253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16253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PR-AUC</a:t>
                      </a:r>
                      <a:endParaRPr lang="en-US" sz="130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16253D"/>
                    </a:solidFill>
                  </a:tcPr>
                </a:tc>
                <a:extLst>
                  <a:ext uri="{0D108BD9-81ED-4DB2-BD59-A6C34878D82A}">
                    <a16:rowId xmlns:a16="http://schemas.microsoft.com/office/drawing/2014/main" val="10000"/>
                  </a:ext>
                </a:extLst>
              </a:tr>
              <a:tr h="530352">
                <a:tc>
                  <a:txBody>
                    <a:bodyPr/>
                    <a:lstStyle/>
                    <a:p>
                      <a:pPr marL="0" indent="0" algn="l">
                        <a:buNone/>
                      </a:pPr>
                      <a:r>
                        <a:rPr lang="en-US" sz="1250" b="1" dirty="0">
                          <a:solidFill>
                            <a:srgbClr val="A6822F"/>
                          </a:solidFill>
                          <a:latin typeface="Calibri" pitchFamily="34" charset="0"/>
                          <a:ea typeface="Calibri" pitchFamily="34" charset="-122"/>
                          <a:cs typeface="Calibri" pitchFamily="34" charset="-120"/>
                        </a:rPr>
                        <a:t>HistGradientBoosting</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BF4E3"/>
                    </a:solidFill>
                  </a:tcPr>
                </a:tc>
                <a:tc>
                  <a:txBody>
                    <a:bodyPr/>
                    <a:lstStyle/>
                    <a:p>
                      <a:pPr marL="0" indent="0" algn="ctr">
                        <a:buNone/>
                      </a:pPr>
                      <a:r>
                        <a:rPr lang="en-US" sz="1250" b="1" dirty="0">
                          <a:solidFill>
                            <a:srgbClr val="A6822F"/>
                          </a:solidFill>
                          <a:latin typeface="Calibri" pitchFamily="34" charset="0"/>
                          <a:ea typeface="Calibri" pitchFamily="34" charset="-122"/>
                          <a:cs typeface="Calibri" pitchFamily="34" charset="-120"/>
                        </a:rPr>
                        <a:t>0,7413</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BF4E3"/>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0,8934</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BF4E3"/>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0,8502</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BF4E3"/>
                    </a:solidFill>
                  </a:tcPr>
                </a:tc>
                <a:extLst>
                  <a:ext uri="{0D108BD9-81ED-4DB2-BD59-A6C34878D82A}">
                    <a16:rowId xmlns:a16="http://schemas.microsoft.com/office/drawing/2014/main" val="10001"/>
                  </a:ext>
                </a:extLst>
              </a:tr>
              <a:tr h="530352">
                <a:tc>
                  <a:txBody>
                    <a:bodyPr/>
                    <a:lstStyle/>
                    <a:p>
                      <a:pPr marL="0" indent="0" algn="l">
                        <a:buNone/>
                      </a:pPr>
                      <a:r>
                        <a:rPr lang="en-US" sz="1250" dirty="0">
                          <a:solidFill>
                            <a:srgbClr val="1F2A3A"/>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0,7390</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0,8875</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0,8449</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lgn="l">
                        <a:buNone/>
                      </a:pPr>
                      <a:r>
                        <a:rPr lang="en-US" sz="1250" dirty="0">
                          <a:solidFill>
                            <a:srgbClr val="1F2A3A"/>
                          </a:solidFill>
                          <a:latin typeface="Calibri" pitchFamily="34" charset="0"/>
                          <a:ea typeface="Calibri" pitchFamily="34" charset="-122"/>
                          <a:cs typeface="Calibri" pitchFamily="34" charset="-120"/>
                        </a:rPr>
                        <a:t>Decision Tree</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0,7369</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0,8797</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0,8233</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250" dirty="0">
                          <a:solidFill>
                            <a:srgbClr val="1F2A3A"/>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0,7193</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0,8700</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A"/>
                          </a:solidFill>
                          <a:latin typeface="Calibri" pitchFamily="34" charset="0"/>
                          <a:ea typeface="Calibri" pitchFamily="34" charset="-122"/>
                          <a:cs typeface="Calibri" pitchFamily="34" charset="-120"/>
                        </a:rPr>
                        <a:t>0,8229</a:t>
                      </a:r>
                      <a:endParaRPr lang="en-US" sz="1250" dirty="0">
                        <a:latin typeface="Calibri" charset="0"/>
                        <a:ea typeface="Calibri" charset="0"/>
                        <a:cs typeface="Calibri" charset="0"/>
                      </a:endParaRPr>
                    </a:p>
                  </a:txBody>
                  <a:tcPr marL="76200" marR="76200" marT="38100" marB="38100" anchor="ctr">
                    <a:lnL w="6350" cap="flat" cmpd="sng" algn="ctr">
                      <a:solidFill>
                        <a:srgbClr val="D7DDE6"/>
                      </a:solidFill>
                      <a:prstDash val="solid"/>
                      <a:round/>
                      <a:headEnd type="none" w="med" len="med"/>
                      <a:tailEnd type="none" w="med" len="med"/>
                    </a:lnL>
                    <a:lnR w="6350" cap="flat" cmpd="sng" algn="ctr">
                      <a:solidFill>
                        <a:srgbClr val="D7DDE6"/>
                      </a:solidFill>
                      <a:prstDash val="solid"/>
                      <a:round/>
                      <a:headEnd type="none" w="med" len="med"/>
                      <a:tailEnd type="none" w="med" len="med"/>
                    </a:lnR>
                    <a:lnT w="6350" cap="flat" cmpd="sng" algn="ctr">
                      <a:solidFill>
                        <a:srgbClr val="D7DDE6"/>
                      </a:solidFill>
                      <a:prstDash val="solid"/>
                      <a:round/>
                      <a:headEnd type="none" w="med" len="med"/>
                      <a:tailEnd type="none" w="med" len="med"/>
                    </a:lnT>
                    <a:lnB w="6350" cap="flat" cmpd="sng" algn="ctr">
                      <a:solidFill>
                        <a:srgbClr val="D7DD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66928" y="4663440"/>
            <a:ext cx="6766560" cy="822960"/>
          </a:xfrm>
          <a:prstGeom prst="rect">
            <a:avLst/>
          </a:prstGeom>
          <a:noFill/>
          <a:ln/>
        </p:spPr>
        <p:txBody>
          <a:bodyPr wrap="square" lIns="0" tIns="0" rIns="0" bIns="0" rtlCol="0" anchor="ctr"/>
          <a:lstStyle/>
          <a:p>
            <a:pPr marL="0" indent="0">
              <a:lnSpc>
                <a:spcPct val="115000"/>
              </a:lnSpc>
              <a:buNone/>
            </a:pPr>
            <a:r>
              <a:rPr lang="en-US" sz="1150" i="1" dirty="0">
                <a:solidFill>
                  <a:srgbClr val="6B7785"/>
                </a:solidFill>
                <a:latin typeface="Calibri" pitchFamily="34" charset="0"/>
                <a:ea typeface="Calibri" pitchFamily="34" charset="-122"/>
                <a:cs typeface="Calibri" pitchFamily="34" charset="-120"/>
              </a:rPr>
              <a:t>Protokol: StratifiedKFold 5-fold pada data latih; keempat model memakai class_weight='balanced'. Tujuannya menguji apakah kompleksitas tambahan membayar dirinya.</a:t>
            </a:r>
            <a:endParaRPr lang="en-US" sz="1150" dirty="0"/>
          </a:p>
        </p:txBody>
      </p:sp>
      <p:sp>
        <p:nvSpPr>
          <p:cNvPr id="6" name="Shape 3"/>
          <p:cNvSpPr/>
          <p:nvPr/>
        </p:nvSpPr>
        <p:spPr>
          <a:xfrm>
            <a:off x="7699248" y="1783080"/>
            <a:ext cx="3895344" cy="4023360"/>
          </a:xfrm>
          <a:prstGeom prst="roundRect">
            <a:avLst>
              <a:gd name="adj" fmla="val 1878"/>
            </a:avLst>
          </a:prstGeom>
          <a:solidFill>
            <a:srgbClr val="F3F5F8"/>
          </a:solidFill>
          <a:ln w="12700">
            <a:solidFill>
              <a:srgbClr val="D7DDE6"/>
            </a:solidFill>
            <a:prstDash val="solid"/>
          </a:ln>
        </p:spPr>
        <p:txBody>
          <a:bodyPr/>
          <a:lstStyle/>
          <a:p>
            <a:endParaRPr lang="en-US"/>
          </a:p>
        </p:txBody>
      </p:sp>
      <p:sp>
        <p:nvSpPr>
          <p:cNvPr id="7" name="Text 4"/>
          <p:cNvSpPr/>
          <p:nvPr/>
        </p:nvSpPr>
        <p:spPr>
          <a:xfrm>
            <a:off x="7973568" y="2011680"/>
            <a:ext cx="3346704" cy="365760"/>
          </a:xfrm>
          <a:prstGeom prst="rect">
            <a:avLst/>
          </a:prstGeom>
          <a:noFill/>
          <a:ln/>
        </p:spPr>
        <p:txBody>
          <a:bodyPr wrap="square" lIns="0" tIns="0" rIns="0" bIns="0" rtlCol="0" anchor="ctr"/>
          <a:lstStyle/>
          <a:p>
            <a:pPr marL="0" indent="0">
              <a:buNone/>
            </a:pPr>
            <a:r>
              <a:rPr lang="en-US" sz="1400" b="1" dirty="0">
                <a:solidFill>
                  <a:srgbClr val="16253D"/>
                </a:solidFill>
                <a:latin typeface="Calibri" pitchFamily="34" charset="0"/>
                <a:ea typeface="Calibri" pitchFamily="34" charset="-122"/>
                <a:cs typeface="Calibri" pitchFamily="34" charset="-120"/>
              </a:rPr>
              <a:t>Catatan jujur soal tuning</a:t>
            </a:r>
            <a:endParaRPr lang="en-US" sz="1400" dirty="0"/>
          </a:p>
        </p:txBody>
      </p:sp>
      <p:sp>
        <p:nvSpPr>
          <p:cNvPr id="4" name="Text 5"/>
          <p:cNvSpPr/>
          <p:nvPr/>
        </p:nvSpPr>
        <p:spPr>
          <a:xfrm>
            <a:off x="7973568" y="2468880"/>
            <a:ext cx="3346704" cy="640080"/>
          </a:xfrm>
          <a:prstGeom prst="rect">
            <a:avLst/>
          </a:prstGeom>
          <a:noFill/>
          <a:ln/>
        </p:spPr>
        <p:txBody>
          <a:bodyPr wrap="square" lIns="0" tIns="0" rIns="0" bIns="0" rtlCol="0" anchor="ctr"/>
          <a:lstStyle/>
          <a:p>
            <a:pPr marL="0" indent="0" algn="ctr">
              <a:buNone/>
            </a:pPr>
            <a:r>
              <a:rPr lang="en-US" sz="3000" b="1" dirty="0">
                <a:solidFill>
                  <a:srgbClr val="6B7785"/>
                </a:solidFill>
                <a:latin typeface="Cambria" pitchFamily="34" charset="0"/>
                <a:ea typeface="Cambria" pitchFamily="34" charset="-122"/>
                <a:cs typeface="Cambria" pitchFamily="34" charset="-120"/>
              </a:rPr>
              <a:t>0,7413</a:t>
            </a:r>
            <a:r>
              <a:rPr lang="en-US" sz="2000" dirty="0">
                <a:solidFill>
                  <a:srgbClr val="6B7785"/>
                </a:solidFill>
                <a:latin typeface="Cambria" pitchFamily="34" charset="0"/>
                <a:ea typeface="Cambria" pitchFamily="34" charset="-122"/>
                <a:cs typeface="Cambria" pitchFamily="34" charset="-120"/>
              </a:rPr>
              <a:t>  →  </a:t>
            </a:r>
            <a:r>
              <a:rPr lang="en-US" sz="3000" b="1" dirty="0">
                <a:solidFill>
                  <a:srgbClr val="A6822F"/>
                </a:solidFill>
                <a:latin typeface="Cambria" pitchFamily="34" charset="0"/>
                <a:ea typeface="Cambria" pitchFamily="34" charset="-122"/>
                <a:cs typeface="Cambria" pitchFamily="34" charset="-120"/>
              </a:rPr>
              <a:t>0,7435</a:t>
            </a:r>
            <a:endParaRPr lang="en-US" sz="3000" dirty="0"/>
          </a:p>
        </p:txBody>
      </p:sp>
      <p:sp>
        <p:nvSpPr>
          <p:cNvPr id="9" name="Text 6"/>
          <p:cNvSpPr/>
          <p:nvPr/>
        </p:nvSpPr>
        <p:spPr>
          <a:xfrm>
            <a:off x="7973568" y="3108960"/>
            <a:ext cx="3346704" cy="320040"/>
          </a:xfrm>
          <a:prstGeom prst="rect">
            <a:avLst/>
          </a:prstGeom>
          <a:noFill/>
          <a:ln/>
        </p:spPr>
        <p:txBody>
          <a:bodyPr wrap="square" lIns="0" tIns="0" rIns="0" bIns="0" rtlCol="0" anchor="ctr"/>
          <a:lstStyle/>
          <a:p>
            <a:pPr marL="0" indent="0" algn="ctr">
              <a:buNone/>
            </a:pPr>
            <a:r>
              <a:rPr lang="en-US" sz="1100" dirty="0">
                <a:solidFill>
                  <a:srgbClr val="6B7785"/>
                </a:solidFill>
                <a:latin typeface="Calibri" pitchFamily="34" charset="0"/>
                <a:ea typeface="Calibri" pitchFamily="34" charset="-122"/>
                <a:cs typeface="Calibri" pitchFamily="34" charset="-120"/>
              </a:rPr>
              <a:t>CV-F1 sebelum → sesudah GridSearchCV</a:t>
            </a:r>
            <a:endParaRPr lang="en-US" sz="1100" dirty="0"/>
          </a:p>
        </p:txBody>
      </p:sp>
      <p:sp>
        <p:nvSpPr>
          <p:cNvPr id="10" name="Text 7"/>
          <p:cNvSpPr/>
          <p:nvPr/>
        </p:nvSpPr>
        <p:spPr>
          <a:xfrm>
            <a:off x="7973568" y="3611880"/>
            <a:ext cx="3346704" cy="1920240"/>
          </a:xfrm>
          <a:prstGeom prst="rect">
            <a:avLst/>
          </a:prstGeom>
          <a:noFill/>
          <a:ln/>
        </p:spPr>
        <p:txBody>
          <a:bodyPr wrap="square" lIns="0" tIns="0" rIns="0" bIns="0" rtlCol="0" anchor="t"/>
          <a:lstStyle/>
          <a:p>
            <a:pPr marL="0" indent="0">
              <a:lnSpc>
                <a:spcPct val="120000"/>
              </a:lnSpc>
              <a:buNone/>
            </a:pPr>
            <a:r>
              <a:rPr lang="en-US" sz="1200" dirty="0">
                <a:solidFill>
                  <a:srgbClr val="1F2A3A"/>
                </a:solidFill>
                <a:latin typeface="Calibri" pitchFamily="34" charset="0"/>
                <a:ea typeface="Calibri" pitchFamily="34" charset="-122"/>
                <a:cs typeface="Calibri" pitchFamily="34" charset="-120"/>
              </a:rPr>
              <a:t>Tuning hanya menaikkan F1 sebesar +0,0022 — selisih setara derau. Ini bukan lonjakan performa, melainkan konfirmasi bahwa baseline sudah mendekati optimal untuk data ini.</a:t>
            </a:r>
            <a:endParaRPr lang="en-US" sz="1200" dirty="0"/>
          </a:p>
        </p:txBody>
      </p:sp>
      <p:sp>
        <p:nvSpPr>
          <p:cNvPr id="11" name="Text 8"/>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MODEL FINAL</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Bagaimana HistGradientBoosting bekerja</a:t>
            </a:r>
            <a:endParaRPr lang="en-US" sz="3000" dirty="0"/>
          </a:p>
        </p:txBody>
      </p:sp>
      <p:sp>
        <p:nvSpPr>
          <p:cNvPr id="4" name="Text 2"/>
          <p:cNvSpPr/>
          <p:nvPr/>
        </p:nvSpPr>
        <p:spPr>
          <a:xfrm>
            <a:off x="566928" y="1540764"/>
            <a:ext cx="6583680" cy="365760"/>
          </a:xfrm>
          <a:prstGeom prst="rect">
            <a:avLst/>
          </a:prstGeom>
          <a:noFill/>
          <a:ln/>
        </p:spPr>
        <p:txBody>
          <a:bodyPr wrap="square" lIns="0" tIns="0" rIns="0" bIns="0" rtlCol="0" anchor="ctr"/>
          <a:lstStyle/>
          <a:p>
            <a:pPr marL="0" indent="0">
              <a:buNone/>
            </a:pPr>
            <a:r>
              <a:rPr lang="en-US" sz="3200" b="1" dirty="0">
                <a:solidFill>
                  <a:srgbClr val="16253D"/>
                </a:solidFill>
                <a:latin typeface="Calibri" pitchFamily="34" charset="0"/>
                <a:ea typeface="Calibri" pitchFamily="34" charset="-122"/>
                <a:cs typeface="Calibri" pitchFamily="34" charset="-120"/>
              </a:rPr>
              <a:t>Cara kerja — boosting sekuensial</a:t>
            </a:r>
            <a:endParaRPr lang="en-US" sz="3200" dirty="0"/>
          </a:p>
        </p:txBody>
      </p:sp>
      <p:sp>
        <p:nvSpPr>
          <p:cNvPr id="5" name="Text 3"/>
          <p:cNvSpPr/>
          <p:nvPr/>
        </p:nvSpPr>
        <p:spPr>
          <a:xfrm>
            <a:off x="566928" y="2148840"/>
            <a:ext cx="6583680" cy="2377440"/>
          </a:xfrm>
          <a:prstGeom prst="rect">
            <a:avLst/>
          </a:prstGeom>
          <a:noFill/>
          <a:ln/>
        </p:spPr>
        <p:txBody>
          <a:bodyPr wrap="square" lIns="0" tIns="0" rIns="0" bIns="0" rtlCol="0" anchor="t"/>
          <a:lstStyle/>
          <a:p>
            <a:pPr marL="228600" indent="-228600">
              <a:lnSpc>
                <a:spcPct val="112000"/>
              </a:lnSpc>
              <a:spcAft>
                <a:spcPts val="900"/>
              </a:spcAft>
              <a:buSzPct val="100000"/>
              <a:buChar char="•"/>
            </a:pPr>
            <a:r>
              <a:rPr lang="en-US" dirty="0">
                <a:solidFill>
                  <a:srgbClr val="1F2A3A"/>
                </a:solidFill>
                <a:latin typeface="Calibri" pitchFamily="34" charset="0"/>
                <a:ea typeface="Calibri" pitchFamily="34" charset="-122"/>
                <a:cs typeface="Calibri" pitchFamily="34" charset="-120"/>
              </a:rPr>
              <a:t>Melatih banyak pohon dangkal secara berurutan, di mana setiap pohon baru fokus memperbaiki kesalahan pohon-pohon sebelumnya.</a:t>
            </a:r>
            <a:endParaRPr lang="en-US" dirty="0"/>
          </a:p>
          <a:p>
            <a:pPr marL="228600" indent="-228600">
              <a:lnSpc>
                <a:spcPct val="112000"/>
              </a:lnSpc>
              <a:spcAft>
                <a:spcPts val="900"/>
              </a:spcAft>
              <a:buSzPct val="100000"/>
              <a:buChar char="•"/>
            </a:pPr>
            <a:r>
              <a:rPr lang="en-US" dirty="0">
                <a:solidFill>
                  <a:srgbClr val="1F2A3A"/>
                </a:solidFill>
                <a:latin typeface="Calibri" pitchFamily="34" charset="0"/>
                <a:ea typeface="Calibri" pitchFamily="34" charset="-122"/>
                <a:cs typeface="Calibri" pitchFamily="34" charset="-120"/>
              </a:rPr>
              <a:t>Versi berbasis histogram (gaya LightGBM): nilai numerik di-bin menjadi histogram, sehingga sangat cepat untuk data tabular berukuran puluhan ribu baris.</a:t>
            </a:r>
            <a:endParaRPr lang="en-US" dirty="0"/>
          </a:p>
          <a:p>
            <a:pPr marL="228600" indent="-228600">
              <a:lnSpc>
                <a:spcPct val="112000"/>
              </a:lnSpc>
              <a:spcAft>
                <a:spcPts val="900"/>
              </a:spcAft>
              <a:buSzPct val="100000"/>
              <a:buChar char="•"/>
            </a:pPr>
            <a:r>
              <a:rPr lang="en-US" dirty="0">
                <a:solidFill>
                  <a:srgbClr val="1F2A3A"/>
                </a:solidFill>
                <a:latin typeface="Calibri" pitchFamily="34" charset="0"/>
                <a:ea typeface="Calibri" pitchFamily="34" charset="-122"/>
                <a:cs typeface="Calibri" pitchFamily="34" charset="-120"/>
              </a:rPr>
              <a:t>Menangkap interaksi non-linear &amp; campuran fitur numerik–kategorik tanpa banyak asumsi distribusi — cocok untuk dataset ini.</a:t>
            </a:r>
            <a:endParaRPr lang="en-US" dirty="0"/>
          </a:p>
        </p:txBody>
      </p:sp>
      <p:sp>
        <p:nvSpPr>
          <p:cNvPr id="6" name="Text 4"/>
          <p:cNvSpPr/>
          <p:nvPr/>
        </p:nvSpPr>
        <p:spPr>
          <a:xfrm>
            <a:off x="566928" y="5074920"/>
            <a:ext cx="6583680" cy="731520"/>
          </a:xfrm>
          <a:prstGeom prst="rect">
            <a:avLst/>
          </a:prstGeom>
          <a:noFill/>
          <a:ln/>
        </p:spPr>
        <p:txBody>
          <a:bodyPr wrap="square" lIns="0" tIns="0" rIns="0" bIns="0" rtlCol="0" anchor="ctr"/>
          <a:lstStyle/>
          <a:p>
            <a:pPr marL="0" indent="0">
              <a:lnSpc>
                <a:spcPct val="115000"/>
              </a:lnSpc>
              <a:buNone/>
            </a:pPr>
            <a:r>
              <a:rPr lang="en-US" sz="1150" i="1" dirty="0">
                <a:solidFill>
                  <a:srgbClr val="6B7785"/>
                </a:solidFill>
                <a:latin typeface="Calibri" pitchFamily="34" charset="0"/>
                <a:ea typeface="Calibri" pitchFamily="34" charset="-122"/>
                <a:cs typeface="Calibri" pitchFamily="34" charset="-120"/>
              </a:rPr>
              <a:t>Kenapa bukan KNN / SVM? Keduanya kurang scalable pada &gt;60 ribu baris dan lebih sulit diinterpretasi.</a:t>
            </a:r>
            <a:endParaRPr lang="en-US" sz="1150" dirty="0"/>
          </a:p>
        </p:txBody>
      </p:sp>
      <p:sp>
        <p:nvSpPr>
          <p:cNvPr id="7" name="Shape 5"/>
          <p:cNvSpPr/>
          <p:nvPr/>
        </p:nvSpPr>
        <p:spPr>
          <a:xfrm>
            <a:off x="7516368" y="1691640"/>
            <a:ext cx="4078224" cy="4114800"/>
          </a:xfrm>
          <a:prstGeom prst="roundRect">
            <a:avLst>
              <a:gd name="adj" fmla="val 1794"/>
            </a:avLst>
          </a:prstGeom>
          <a:solidFill>
            <a:srgbClr val="16253D"/>
          </a:solidFill>
          <a:ln/>
          <a:effectLst>
            <a:outerShdw blurRad="88900" dist="38100" dir="5400000" algn="bl" rotWithShape="0">
              <a:srgbClr val="0B1626">
                <a:alpha val="16000"/>
              </a:srgbClr>
            </a:outerShdw>
          </a:effectLst>
        </p:spPr>
        <p:txBody>
          <a:bodyPr/>
          <a:lstStyle/>
          <a:p>
            <a:endParaRPr lang="en-US"/>
          </a:p>
        </p:txBody>
      </p:sp>
      <p:sp>
        <p:nvSpPr>
          <p:cNvPr id="8" name="Text 6"/>
          <p:cNvSpPr/>
          <p:nvPr/>
        </p:nvSpPr>
        <p:spPr>
          <a:xfrm>
            <a:off x="7836408" y="1938528"/>
            <a:ext cx="3438144" cy="365760"/>
          </a:xfrm>
          <a:prstGeom prst="rect">
            <a:avLst/>
          </a:prstGeom>
          <a:noFill/>
          <a:ln/>
        </p:spPr>
        <p:txBody>
          <a:bodyPr wrap="square" lIns="0" tIns="0" rIns="0" bIns="0" rtlCol="0" anchor="ctr"/>
          <a:lstStyle/>
          <a:p>
            <a:pPr marL="0" indent="0">
              <a:buNone/>
            </a:pPr>
            <a:r>
              <a:rPr lang="en-US" sz="1450" b="1" dirty="0">
                <a:solidFill>
                  <a:srgbClr val="C8A04B"/>
                </a:solidFill>
                <a:latin typeface="Calibri" pitchFamily="34" charset="0"/>
                <a:ea typeface="Calibri" pitchFamily="34" charset="-122"/>
                <a:cs typeface="Calibri" pitchFamily="34" charset="-120"/>
              </a:rPr>
              <a:t>Hyperparameter Final</a:t>
            </a:r>
            <a:endParaRPr lang="en-US" sz="1450" dirty="0"/>
          </a:p>
        </p:txBody>
      </p:sp>
      <p:sp>
        <p:nvSpPr>
          <p:cNvPr id="9" name="Text 7"/>
          <p:cNvSpPr/>
          <p:nvPr/>
        </p:nvSpPr>
        <p:spPr>
          <a:xfrm>
            <a:off x="7836408" y="2286000"/>
            <a:ext cx="3438144" cy="320040"/>
          </a:xfrm>
          <a:prstGeom prst="rect">
            <a:avLst/>
          </a:prstGeom>
          <a:noFill/>
          <a:ln/>
        </p:spPr>
        <p:txBody>
          <a:bodyPr wrap="square" lIns="0" tIns="0" rIns="0" bIns="0" rtlCol="0" anchor="ctr"/>
          <a:lstStyle/>
          <a:p>
            <a:pPr marL="0" indent="0">
              <a:buNone/>
            </a:pPr>
            <a:r>
              <a:rPr lang="en-US" sz="1100" dirty="0">
                <a:solidFill>
                  <a:srgbClr val="9FB0C7"/>
                </a:solidFill>
                <a:latin typeface="Calibri" pitchFamily="34" charset="0"/>
                <a:ea typeface="Calibri" pitchFamily="34" charset="-122"/>
                <a:cs typeface="Calibri" pitchFamily="34" charset="-120"/>
              </a:rPr>
              <a:t>dipilih via GridSearchCV (scoring = F1)</a:t>
            </a:r>
            <a:endParaRPr lang="en-US" sz="1100" dirty="0"/>
          </a:p>
        </p:txBody>
      </p:sp>
      <p:sp>
        <p:nvSpPr>
          <p:cNvPr id="10" name="Shape 8"/>
          <p:cNvSpPr/>
          <p:nvPr/>
        </p:nvSpPr>
        <p:spPr>
          <a:xfrm>
            <a:off x="7836408" y="3355848"/>
            <a:ext cx="3438144" cy="0"/>
          </a:xfrm>
          <a:prstGeom prst="line">
            <a:avLst/>
          </a:prstGeom>
          <a:noFill/>
          <a:ln w="9525">
            <a:solidFill>
              <a:srgbClr val="35506B"/>
            </a:solidFill>
            <a:prstDash val="solid"/>
          </a:ln>
        </p:spPr>
        <p:txBody>
          <a:bodyPr/>
          <a:lstStyle/>
          <a:p>
            <a:endParaRPr lang="en-US"/>
          </a:p>
        </p:txBody>
      </p:sp>
      <p:sp>
        <p:nvSpPr>
          <p:cNvPr id="11" name="Text 9"/>
          <p:cNvSpPr/>
          <p:nvPr/>
        </p:nvSpPr>
        <p:spPr>
          <a:xfrm>
            <a:off x="7836408" y="2788920"/>
            <a:ext cx="2615184" cy="502920"/>
          </a:xfrm>
          <a:prstGeom prst="rect">
            <a:avLst/>
          </a:prstGeom>
          <a:noFill/>
          <a:ln/>
        </p:spPr>
        <p:txBody>
          <a:bodyPr wrap="square" lIns="0" tIns="0" rIns="0" bIns="0" rtlCol="0" anchor="ctr"/>
          <a:lstStyle/>
          <a:p>
            <a:pPr marL="0" indent="0">
              <a:buNone/>
            </a:pPr>
            <a:r>
              <a:rPr lang="en-US" sz="1300" dirty="0">
                <a:solidFill>
                  <a:srgbClr val="DCE3EE"/>
                </a:solidFill>
                <a:latin typeface="Courier New" pitchFamily="34" charset="0"/>
                <a:ea typeface="Courier New" pitchFamily="34" charset="-122"/>
                <a:cs typeface="Courier New" pitchFamily="34" charset="-120"/>
              </a:rPr>
              <a:t>learning_rate</a:t>
            </a:r>
            <a:endParaRPr lang="en-US" sz="1300" dirty="0"/>
          </a:p>
        </p:txBody>
      </p:sp>
      <p:sp>
        <p:nvSpPr>
          <p:cNvPr id="12" name="Text 10"/>
          <p:cNvSpPr/>
          <p:nvPr/>
        </p:nvSpPr>
        <p:spPr>
          <a:xfrm>
            <a:off x="10177272" y="2788920"/>
            <a:ext cx="1097280" cy="502920"/>
          </a:xfrm>
          <a:prstGeom prst="rect">
            <a:avLst/>
          </a:prstGeom>
          <a:noFill/>
          <a:ln/>
        </p:spPr>
        <p:txBody>
          <a:bodyPr wrap="square" lIns="0" tIns="0" rIns="0" bIns="0" rtlCol="0" anchor="ctr"/>
          <a:lstStyle/>
          <a:p>
            <a:pPr marL="0" indent="0" algn="r">
              <a:buNone/>
            </a:pPr>
            <a:r>
              <a:rPr lang="en-US" sz="1900" b="1" dirty="0">
                <a:solidFill>
                  <a:srgbClr val="FFFFFF"/>
                </a:solidFill>
                <a:latin typeface="Cambria" pitchFamily="34" charset="0"/>
                <a:ea typeface="Cambria" pitchFamily="34" charset="-122"/>
                <a:cs typeface="Cambria" pitchFamily="34" charset="-120"/>
              </a:rPr>
              <a:t>0,1</a:t>
            </a:r>
            <a:endParaRPr lang="en-US" sz="1900" dirty="0"/>
          </a:p>
        </p:txBody>
      </p:sp>
      <p:sp>
        <p:nvSpPr>
          <p:cNvPr id="13" name="Shape 11"/>
          <p:cNvSpPr/>
          <p:nvPr/>
        </p:nvSpPr>
        <p:spPr>
          <a:xfrm>
            <a:off x="7836408" y="4069080"/>
            <a:ext cx="3438144" cy="0"/>
          </a:xfrm>
          <a:prstGeom prst="line">
            <a:avLst/>
          </a:prstGeom>
          <a:noFill/>
          <a:ln w="9525">
            <a:solidFill>
              <a:srgbClr val="35506B"/>
            </a:solidFill>
            <a:prstDash val="solid"/>
          </a:ln>
        </p:spPr>
        <p:txBody>
          <a:bodyPr/>
          <a:lstStyle/>
          <a:p>
            <a:endParaRPr lang="en-US"/>
          </a:p>
        </p:txBody>
      </p:sp>
      <p:sp>
        <p:nvSpPr>
          <p:cNvPr id="14" name="Text 12"/>
          <p:cNvSpPr/>
          <p:nvPr/>
        </p:nvSpPr>
        <p:spPr>
          <a:xfrm>
            <a:off x="7836408" y="3502152"/>
            <a:ext cx="2615184" cy="502920"/>
          </a:xfrm>
          <a:prstGeom prst="rect">
            <a:avLst/>
          </a:prstGeom>
          <a:noFill/>
          <a:ln/>
        </p:spPr>
        <p:txBody>
          <a:bodyPr wrap="square" lIns="0" tIns="0" rIns="0" bIns="0" rtlCol="0" anchor="ctr"/>
          <a:lstStyle/>
          <a:p>
            <a:pPr marL="0" indent="0">
              <a:buNone/>
            </a:pPr>
            <a:r>
              <a:rPr lang="en-US" sz="1300" dirty="0">
                <a:solidFill>
                  <a:srgbClr val="DCE3EE"/>
                </a:solidFill>
                <a:latin typeface="Courier New" pitchFamily="34" charset="0"/>
                <a:ea typeface="Courier New" pitchFamily="34" charset="-122"/>
                <a:cs typeface="Courier New" pitchFamily="34" charset="-120"/>
              </a:rPr>
              <a:t>max_iter</a:t>
            </a:r>
            <a:endParaRPr lang="en-US" sz="1300" dirty="0"/>
          </a:p>
        </p:txBody>
      </p:sp>
      <p:sp>
        <p:nvSpPr>
          <p:cNvPr id="15" name="Text 13"/>
          <p:cNvSpPr/>
          <p:nvPr/>
        </p:nvSpPr>
        <p:spPr>
          <a:xfrm>
            <a:off x="10177272" y="3502152"/>
            <a:ext cx="1097280" cy="502920"/>
          </a:xfrm>
          <a:prstGeom prst="rect">
            <a:avLst/>
          </a:prstGeom>
          <a:noFill/>
          <a:ln/>
        </p:spPr>
        <p:txBody>
          <a:bodyPr wrap="square" lIns="0" tIns="0" rIns="0" bIns="0" rtlCol="0" anchor="ctr"/>
          <a:lstStyle/>
          <a:p>
            <a:pPr marL="0" indent="0" algn="r">
              <a:buNone/>
            </a:pPr>
            <a:r>
              <a:rPr lang="en-US" sz="1900" b="1" dirty="0">
                <a:solidFill>
                  <a:srgbClr val="FFFFFF"/>
                </a:solidFill>
                <a:latin typeface="Cambria" pitchFamily="34" charset="0"/>
                <a:ea typeface="Cambria" pitchFamily="34" charset="-122"/>
                <a:cs typeface="Cambria" pitchFamily="34" charset="-120"/>
              </a:rPr>
              <a:t>200</a:t>
            </a:r>
            <a:endParaRPr lang="en-US" sz="1900" dirty="0"/>
          </a:p>
        </p:txBody>
      </p:sp>
      <p:sp>
        <p:nvSpPr>
          <p:cNvPr id="16" name="Shape 14"/>
          <p:cNvSpPr/>
          <p:nvPr/>
        </p:nvSpPr>
        <p:spPr>
          <a:xfrm>
            <a:off x="7836408" y="4782312"/>
            <a:ext cx="3438144" cy="0"/>
          </a:xfrm>
          <a:prstGeom prst="line">
            <a:avLst/>
          </a:prstGeom>
          <a:noFill/>
          <a:ln w="9525">
            <a:solidFill>
              <a:srgbClr val="35506B"/>
            </a:solidFill>
            <a:prstDash val="solid"/>
          </a:ln>
        </p:spPr>
        <p:txBody>
          <a:bodyPr/>
          <a:lstStyle/>
          <a:p>
            <a:endParaRPr lang="en-US"/>
          </a:p>
        </p:txBody>
      </p:sp>
      <p:sp>
        <p:nvSpPr>
          <p:cNvPr id="17" name="Text 15"/>
          <p:cNvSpPr/>
          <p:nvPr/>
        </p:nvSpPr>
        <p:spPr>
          <a:xfrm>
            <a:off x="7836408" y="4215384"/>
            <a:ext cx="2615184" cy="502920"/>
          </a:xfrm>
          <a:prstGeom prst="rect">
            <a:avLst/>
          </a:prstGeom>
          <a:noFill/>
          <a:ln/>
        </p:spPr>
        <p:txBody>
          <a:bodyPr wrap="square" lIns="0" tIns="0" rIns="0" bIns="0" rtlCol="0" anchor="ctr"/>
          <a:lstStyle/>
          <a:p>
            <a:pPr marL="0" indent="0">
              <a:buNone/>
            </a:pPr>
            <a:r>
              <a:rPr lang="en-US" sz="1300" dirty="0">
                <a:solidFill>
                  <a:srgbClr val="DCE3EE"/>
                </a:solidFill>
                <a:latin typeface="Courier New" pitchFamily="34" charset="0"/>
                <a:ea typeface="Courier New" pitchFamily="34" charset="-122"/>
                <a:cs typeface="Courier New" pitchFamily="34" charset="-120"/>
              </a:rPr>
              <a:t>max_leaf_nodes</a:t>
            </a:r>
            <a:endParaRPr lang="en-US" sz="1300" dirty="0"/>
          </a:p>
        </p:txBody>
      </p:sp>
      <p:sp>
        <p:nvSpPr>
          <p:cNvPr id="18" name="Text 16"/>
          <p:cNvSpPr/>
          <p:nvPr/>
        </p:nvSpPr>
        <p:spPr>
          <a:xfrm>
            <a:off x="10177272" y="4215384"/>
            <a:ext cx="1097280" cy="502920"/>
          </a:xfrm>
          <a:prstGeom prst="rect">
            <a:avLst/>
          </a:prstGeom>
          <a:noFill/>
          <a:ln/>
        </p:spPr>
        <p:txBody>
          <a:bodyPr wrap="square" lIns="0" tIns="0" rIns="0" bIns="0" rtlCol="0" anchor="ctr"/>
          <a:lstStyle/>
          <a:p>
            <a:pPr marL="0" indent="0" algn="r">
              <a:buNone/>
            </a:pPr>
            <a:r>
              <a:rPr lang="en-US" sz="1900" b="1" dirty="0">
                <a:solidFill>
                  <a:srgbClr val="FFFFFF"/>
                </a:solidFill>
                <a:latin typeface="Cambria" pitchFamily="34" charset="0"/>
                <a:ea typeface="Cambria" pitchFamily="34" charset="-122"/>
                <a:cs typeface="Cambria" pitchFamily="34" charset="-120"/>
              </a:rPr>
              <a:t>63</a:t>
            </a:r>
            <a:endParaRPr lang="en-US" sz="1900" dirty="0"/>
          </a:p>
        </p:txBody>
      </p:sp>
      <p:sp>
        <p:nvSpPr>
          <p:cNvPr id="19" name="Shape 17"/>
          <p:cNvSpPr/>
          <p:nvPr/>
        </p:nvSpPr>
        <p:spPr>
          <a:xfrm>
            <a:off x="7836408" y="5495544"/>
            <a:ext cx="3438144" cy="0"/>
          </a:xfrm>
          <a:prstGeom prst="line">
            <a:avLst/>
          </a:prstGeom>
          <a:noFill/>
          <a:ln w="9525">
            <a:solidFill>
              <a:srgbClr val="35506B"/>
            </a:solidFill>
            <a:prstDash val="solid"/>
          </a:ln>
        </p:spPr>
        <p:txBody>
          <a:bodyPr/>
          <a:lstStyle/>
          <a:p>
            <a:endParaRPr lang="en-US"/>
          </a:p>
        </p:txBody>
      </p:sp>
      <p:sp>
        <p:nvSpPr>
          <p:cNvPr id="20" name="Text 18"/>
          <p:cNvSpPr/>
          <p:nvPr/>
        </p:nvSpPr>
        <p:spPr>
          <a:xfrm>
            <a:off x="7836408" y="4928616"/>
            <a:ext cx="2615184" cy="502920"/>
          </a:xfrm>
          <a:prstGeom prst="rect">
            <a:avLst/>
          </a:prstGeom>
          <a:noFill/>
          <a:ln/>
        </p:spPr>
        <p:txBody>
          <a:bodyPr wrap="square" lIns="0" tIns="0" rIns="0" bIns="0" rtlCol="0" anchor="ctr"/>
          <a:lstStyle/>
          <a:p>
            <a:pPr marL="0" indent="0">
              <a:buNone/>
            </a:pPr>
            <a:r>
              <a:rPr lang="en-US" sz="1300" dirty="0">
                <a:solidFill>
                  <a:srgbClr val="DCE3EE"/>
                </a:solidFill>
                <a:latin typeface="Courier New" pitchFamily="34" charset="0"/>
                <a:ea typeface="Courier New" pitchFamily="34" charset="-122"/>
                <a:cs typeface="Courier New" pitchFamily="34" charset="-120"/>
              </a:rPr>
              <a:t>min_samples_leaf</a:t>
            </a:r>
            <a:endParaRPr lang="en-US" sz="1300" dirty="0"/>
          </a:p>
        </p:txBody>
      </p:sp>
      <p:sp>
        <p:nvSpPr>
          <p:cNvPr id="21" name="Text 19"/>
          <p:cNvSpPr/>
          <p:nvPr/>
        </p:nvSpPr>
        <p:spPr>
          <a:xfrm>
            <a:off x="10177272" y="4928616"/>
            <a:ext cx="1097280" cy="502920"/>
          </a:xfrm>
          <a:prstGeom prst="rect">
            <a:avLst/>
          </a:prstGeom>
          <a:noFill/>
          <a:ln/>
        </p:spPr>
        <p:txBody>
          <a:bodyPr wrap="square" lIns="0" tIns="0" rIns="0" bIns="0" rtlCol="0" anchor="ctr"/>
          <a:lstStyle/>
          <a:p>
            <a:pPr marL="0" indent="0" algn="r">
              <a:buNone/>
            </a:pPr>
            <a:r>
              <a:rPr lang="en-US" sz="1900" b="1" dirty="0">
                <a:solidFill>
                  <a:srgbClr val="FFFFFF"/>
                </a:solidFill>
                <a:latin typeface="Cambria" pitchFamily="34" charset="0"/>
                <a:ea typeface="Cambria" pitchFamily="34" charset="-122"/>
                <a:cs typeface="Cambria" pitchFamily="34" charset="-120"/>
              </a:rPr>
              <a:t>50</a:t>
            </a:r>
            <a:endParaRPr lang="en-US" sz="1900" dirty="0"/>
          </a:p>
        </p:txBody>
      </p:sp>
      <p:sp>
        <p:nvSpPr>
          <p:cNvPr id="22" name="Text 20"/>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MODEL EVALUATION</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Hasil pada data uji (ambang default 0,5)</a:t>
            </a:r>
            <a:endParaRPr lang="en-US" sz="3000" dirty="0"/>
          </a:p>
        </p:txBody>
      </p:sp>
      <p:sp>
        <p:nvSpPr>
          <p:cNvPr id="4" name="Text 2"/>
          <p:cNvSpPr/>
          <p:nvPr/>
        </p:nvSpPr>
        <p:spPr>
          <a:xfrm>
            <a:off x="566928" y="1627632"/>
            <a:ext cx="3200400" cy="228600"/>
          </a:xfrm>
          <a:prstGeom prst="rect">
            <a:avLst/>
          </a:prstGeom>
          <a:noFill/>
          <a:ln/>
        </p:spPr>
        <p:txBody>
          <a:bodyPr wrap="square" lIns="0" tIns="0" rIns="0" bIns="0" rtlCol="0" anchor="ctr"/>
          <a:lstStyle/>
          <a:p>
            <a:pPr marL="0" indent="0">
              <a:buNone/>
            </a:pPr>
            <a:r>
              <a:rPr lang="en-US" sz="1250" b="1" dirty="0">
                <a:solidFill>
                  <a:srgbClr val="16253D"/>
                </a:solidFill>
                <a:latin typeface="Calibri" pitchFamily="34" charset="0"/>
                <a:ea typeface="Calibri" pitchFamily="34" charset="-122"/>
                <a:cs typeface="Calibri" pitchFamily="34" charset="-120"/>
              </a:rPr>
              <a:t>Confusion Matrix</a:t>
            </a:r>
            <a:endParaRPr lang="en-US" sz="1250" dirty="0"/>
          </a:p>
        </p:txBody>
      </p:sp>
      <p:sp>
        <p:nvSpPr>
          <p:cNvPr id="5" name="Text 3"/>
          <p:cNvSpPr/>
          <p:nvPr/>
        </p:nvSpPr>
        <p:spPr>
          <a:xfrm>
            <a:off x="1161288" y="1810512"/>
            <a:ext cx="2761488" cy="228600"/>
          </a:xfrm>
          <a:prstGeom prst="rect">
            <a:avLst/>
          </a:prstGeom>
          <a:noFill/>
          <a:ln/>
        </p:spPr>
        <p:txBody>
          <a:bodyPr wrap="square" lIns="0" tIns="0" rIns="0" bIns="0" rtlCol="0" anchor="ctr"/>
          <a:lstStyle/>
          <a:p>
            <a:pPr marL="0" indent="0" algn="ctr">
              <a:buNone/>
            </a:pPr>
            <a:r>
              <a:rPr lang="en-US" sz="1000" i="1" dirty="0">
                <a:solidFill>
                  <a:srgbClr val="6B7785"/>
                </a:solidFill>
                <a:latin typeface="Calibri" pitchFamily="34" charset="0"/>
                <a:ea typeface="Calibri" pitchFamily="34" charset="-122"/>
                <a:cs typeface="Calibri" pitchFamily="34" charset="-120"/>
              </a:rPr>
              <a:t>Prediksi →</a:t>
            </a:r>
            <a:endParaRPr lang="en-US" sz="1000" dirty="0"/>
          </a:p>
        </p:txBody>
      </p:sp>
      <p:sp>
        <p:nvSpPr>
          <p:cNvPr id="6" name="Text 4"/>
          <p:cNvSpPr/>
          <p:nvPr/>
        </p:nvSpPr>
        <p:spPr>
          <a:xfrm>
            <a:off x="1161288" y="2011680"/>
            <a:ext cx="1325880" cy="274320"/>
          </a:xfrm>
          <a:prstGeom prst="rect">
            <a:avLst/>
          </a:prstGeom>
          <a:noFill/>
          <a:ln/>
        </p:spPr>
        <p:txBody>
          <a:bodyPr wrap="square" lIns="0" tIns="0" rIns="0" bIns="0" rtlCol="0" anchor="ctr"/>
          <a:lstStyle/>
          <a:p>
            <a:pPr marL="0" indent="0" algn="ctr">
              <a:buNone/>
            </a:pPr>
            <a:r>
              <a:rPr lang="en-US" sz="1050" b="1" dirty="0">
                <a:solidFill>
                  <a:srgbClr val="16253D"/>
                </a:solidFill>
                <a:latin typeface="Calibri" pitchFamily="34" charset="0"/>
                <a:ea typeface="Calibri" pitchFamily="34" charset="-122"/>
                <a:cs typeface="Calibri" pitchFamily="34" charset="-120"/>
              </a:rPr>
              <a:t>Pred: Tidak</a:t>
            </a:r>
            <a:endParaRPr lang="en-US" sz="1050" dirty="0"/>
          </a:p>
        </p:txBody>
      </p:sp>
      <p:sp>
        <p:nvSpPr>
          <p:cNvPr id="7" name="Text 5"/>
          <p:cNvSpPr/>
          <p:nvPr/>
        </p:nvSpPr>
        <p:spPr>
          <a:xfrm>
            <a:off x="2596896" y="2011680"/>
            <a:ext cx="1325880" cy="274320"/>
          </a:xfrm>
          <a:prstGeom prst="rect">
            <a:avLst/>
          </a:prstGeom>
          <a:noFill/>
          <a:ln/>
        </p:spPr>
        <p:txBody>
          <a:bodyPr wrap="square" lIns="0" tIns="0" rIns="0" bIns="0" rtlCol="0" anchor="ctr"/>
          <a:lstStyle/>
          <a:p>
            <a:pPr marL="0" indent="0" algn="ctr">
              <a:buNone/>
            </a:pPr>
            <a:r>
              <a:rPr lang="en-US" sz="1050" b="1" dirty="0">
                <a:solidFill>
                  <a:srgbClr val="16253D"/>
                </a:solidFill>
                <a:latin typeface="Calibri" pitchFamily="34" charset="0"/>
                <a:ea typeface="Calibri" pitchFamily="34" charset="-122"/>
                <a:cs typeface="Calibri" pitchFamily="34" charset="-120"/>
              </a:rPr>
              <a:t>Pred: Batal</a:t>
            </a:r>
            <a:endParaRPr lang="en-US" sz="1050" dirty="0"/>
          </a:p>
        </p:txBody>
      </p:sp>
      <p:sp>
        <p:nvSpPr>
          <p:cNvPr id="8" name="Text 6"/>
          <p:cNvSpPr/>
          <p:nvPr/>
        </p:nvSpPr>
        <p:spPr>
          <a:xfrm>
            <a:off x="521208" y="2331720"/>
            <a:ext cx="603504" cy="1325880"/>
          </a:xfrm>
          <a:prstGeom prst="rect">
            <a:avLst/>
          </a:prstGeom>
          <a:noFill/>
          <a:ln/>
        </p:spPr>
        <p:txBody>
          <a:bodyPr wrap="square" lIns="0" tIns="0" rIns="0" bIns="0" rtlCol="0" anchor="ctr"/>
          <a:lstStyle/>
          <a:p>
            <a:pPr marL="0" indent="0" algn="ctr">
              <a:lnSpc>
                <a:spcPct val="95000"/>
              </a:lnSpc>
              <a:buNone/>
            </a:pPr>
            <a:r>
              <a:rPr lang="en-US" sz="1050" b="1" dirty="0">
                <a:solidFill>
                  <a:srgbClr val="16253D"/>
                </a:solidFill>
                <a:latin typeface="Calibri" pitchFamily="34" charset="0"/>
                <a:ea typeface="Calibri" pitchFamily="34" charset="-122"/>
                <a:cs typeface="Calibri" pitchFamily="34" charset="-120"/>
              </a:rPr>
              <a:t>Aktual:</a:t>
            </a:r>
            <a:endParaRPr lang="en-US" sz="1050" dirty="0"/>
          </a:p>
          <a:p>
            <a:pPr marL="0" indent="0" algn="ctr">
              <a:lnSpc>
                <a:spcPct val="95000"/>
              </a:lnSpc>
              <a:buNone/>
            </a:pPr>
            <a:r>
              <a:rPr lang="en-US" sz="1050" b="1" dirty="0">
                <a:solidFill>
                  <a:srgbClr val="16253D"/>
                </a:solidFill>
                <a:latin typeface="Calibri" pitchFamily="34" charset="0"/>
                <a:ea typeface="Calibri" pitchFamily="34" charset="-122"/>
                <a:cs typeface="Calibri" pitchFamily="34" charset="-120"/>
              </a:rPr>
              <a:t>Tidak</a:t>
            </a:r>
            <a:endParaRPr lang="en-US" sz="1050" dirty="0"/>
          </a:p>
        </p:txBody>
      </p:sp>
      <p:sp>
        <p:nvSpPr>
          <p:cNvPr id="9" name="Text 7"/>
          <p:cNvSpPr/>
          <p:nvPr/>
        </p:nvSpPr>
        <p:spPr>
          <a:xfrm>
            <a:off x="521208" y="3767328"/>
            <a:ext cx="603504" cy="1325880"/>
          </a:xfrm>
          <a:prstGeom prst="rect">
            <a:avLst/>
          </a:prstGeom>
          <a:noFill/>
          <a:ln/>
        </p:spPr>
        <p:txBody>
          <a:bodyPr wrap="square" lIns="0" tIns="0" rIns="0" bIns="0" rtlCol="0" anchor="ctr"/>
          <a:lstStyle/>
          <a:p>
            <a:pPr marL="0" indent="0" algn="ctr">
              <a:lnSpc>
                <a:spcPct val="95000"/>
              </a:lnSpc>
              <a:buNone/>
            </a:pPr>
            <a:r>
              <a:rPr lang="en-US" sz="1050" b="1" dirty="0">
                <a:solidFill>
                  <a:srgbClr val="16253D"/>
                </a:solidFill>
                <a:latin typeface="Calibri" pitchFamily="34" charset="0"/>
                <a:ea typeface="Calibri" pitchFamily="34" charset="-122"/>
                <a:cs typeface="Calibri" pitchFamily="34" charset="-120"/>
              </a:rPr>
              <a:t>Aktual:</a:t>
            </a:r>
            <a:endParaRPr lang="en-US" sz="1050" dirty="0"/>
          </a:p>
          <a:p>
            <a:pPr marL="0" indent="0" algn="ctr">
              <a:lnSpc>
                <a:spcPct val="95000"/>
              </a:lnSpc>
              <a:buNone/>
            </a:pPr>
            <a:r>
              <a:rPr lang="en-US" sz="1050" b="1" dirty="0">
                <a:solidFill>
                  <a:srgbClr val="16253D"/>
                </a:solidFill>
                <a:latin typeface="Calibri" pitchFamily="34" charset="0"/>
                <a:ea typeface="Calibri" pitchFamily="34" charset="-122"/>
                <a:cs typeface="Calibri" pitchFamily="34" charset="-120"/>
              </a:rPr>
              <a:t>Batal</a:t>
            </a:r>
            <a:endParaRPr lang="en-US" sz="1050" dirty="0"/>
          </a:p>
        </p:txBody>
      </p:sp>
      <p:sp>
        <p:nvSpPr>
          <p:cNvPr id="10" name="Shape 8"/>
          <p:cNvSpPr/>
          <p:nvPr/>
        </p:nvSpPr>
        <p:spPr>
          <a:xfrm>
            <a:off x="1161288" y="2331720"/>
            <a:ext cx="1325880" cy="1325880"/>
          </a:xfrm>
          <a:prstGeom prst="roundRect">
            <a:avLst>
              <a:gd name="adj" fmla="val 3448"/>
            </a:avLst>
          </a:prstGeom>
          <a:solidFill>
            <a:srgbClr val="2E6E5E">
              <a:alpha val="92000"/>
            </a:srgbClr>
          </a:solidFill>
          <a:ln/>
        </p:spPr>
        <p:txBody>
          <a:bodyPr/>
          <a:lstStyle/>
          <a:p>
            <a:endParaRPr lang="en-US"/>
          </a:p>
        </p:txBody>
      </p:sp>
      <p:sp>
        <p:nvSpPr>
          <p:cNvPr id="11" name="Text 9"/>
          <p:cNvSpPr/>
          <p:nvPr/>
        </p:nvSpPr>
        <p:spPr>
          <a:xfrm>
            <a:off x="1161288" y="2459736"/>
            <a:ext cx="13258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TN</a:t>
            </a:r>
            <a:endParaRPr lang="en-US" sz="1200" dirty="0"/>
          </a:p>
        </p:txBody>
      </p:sp>
      <p:sp>
        <p:nvSpPr>
          <p:cNvPr id="12" name="Text 10"/>
          <p:cNvSpPr/>
          <p:nvPr/>
        </p:nvSpPr>
        <p:spPr>
          <a:xfrm>
            <a:off x="1161288" y="2715768"/>
            <a:ext cx="132588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8.488</a:t>
            </a:r>
            <a:endParaRPr lang="en-US" sz="2400" dirty="0"/>
          </a:p>
        </p:txBody>
      </p:sp>
      <p:sp>
        <p:nvSpPr>
          <p:cNvPr id="13" name="Text 11"/>
          <p:cNvSpPr/>
          <p:nvPr/>
        </p:nvSpPr>
        <p:spPr>
          <a:xfrm>
            <a:off x="1252728" y="3227832"/>
            <a:ext cx="1143000" cy="365760"/>
          </a:xfrm>
          <a:prstGeom prst="rect">
            <a:avLst/>
          </a:prstGeom>
          <a:noFill/>
          <a:ln/>
        </p:spPr>
        <p:txBody>
          <a:bodyPr wrap="square" lIns="0" tIns="0" rIns="0" bIns="0" rtlCol="0" anchor="ctr"/>
          <a:lstStyle/>
          <a:p>
            <a:pPr marL="0" indent="0" algn="ctr">
              <a:lnSpc>
                <a:spcPct val="90000"/>
              </a:lnSpc>
              <a:buNone/>
            </a:pPr>
            <a:r>
              <a:rPr lang="en-US" sz="900" dirty="0">
                <a:solidFill>
                  <a:srgbClr val="FFFFFF"/>
                </a:solidFill>
                <a:latin typeface="Calibri" pitchFamily="34" charset="0"/>
                <a:ea typeface="Calibri" pitchFamily="34" charset="-122"/>
                <a:cs typeface="Calibri" pitchFamily="34" charset="-120"/>
              </a:rPr>
              <a:t>Benar: tidak batal</a:t>
            </a:r>
            <a:endParaRPr lang="en-US" sz="900" dirty="0"/>
          </a:p>
        </p:txBody>
      </p:sp>
      <p:sp>
        <p:nvSpPr>
          <p:cNvPr id="14" name="Shape 12"/>
          <p:cNvSpPr/>
          <p:nvPr/>
        </p:nvSpPr>
        <p:spPr>
          <a:xfrm>
            <a:off x="2596896" y="2331720"/>
            <a:ext cx="1325880" cy="1325880"/>
          </a:xfrm>
          <a:prstGeom prst="roundRect">
            <a:avLst>
              <a:gd name="adj" fmla="val 3448"/>
            </a:avLst>
          </a:prstGeom>
          <a:solidFill>
            <a:srgbClr val="C2554A">
              <a:alpha val="92000"/>
            </a:srgbClr>
          </a:solidFill>
          <a:ln/>
        </p:spPr>
        <p:txBody>
          <a:bodyPr/>
          <a:lstStyle/>
          <a:p>
            <a:endParaRPr lang="en-US"/>
          </a:p>
        </p:txBody>
      </p:sp>
      <p:sp>
        <p:nvSpPr>
          <p:cNvPr id="15" name="Text 13"/>
          <p:cNvSpPr/>
          <p:nvPr/>
        </p:nvSpPr>
        <p:spPr>
          <a:xfrm>
            <a:off x="2596896" y="2459736"/>
            <a:ext cx="13258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FP</a:t>
            </a:r>
            <a:endParaRPr lang="en-US" sz="1200" dirty="0"/>
          </a:p>
        </p:txBody>
      </p:sp>
      <p:sp>
        <p:nvSpPr>
          <p:cNvPr id="16" name="Text 14"/>
          <p:cNvSpPr/>
          <p:nvPr/>
        </p:nvSpPr>
        <p:spPr>
          <a:xfrm>
            <a:off x="2596896" y="2715768"/>
            <a:ext cx="132588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2.071</a:t>
            </a:r>
            <a:endParaRPr lang="en-US" sz="2400" dirty="0"/>
          </a:p>
        </p:txBody>
      </p:sp>
      <p:sp>
        <p:nvSpPr>
          <p:cNvPr id="17" name="Text 15"/>
          <p:cNvSpPr/>
          <p:nvPr/>
        </p:nvSpPr>
        <p:spPr>
          <a:xfrm>
            <a:off x="2688336" y="3227832"/>
            <a:ext cx="1143000" cy="365760"/>
          </a:xfrm>
          <a:prstGeom prst="rect">
            <a:avLst/>
          </a:prstGeom>
          <a:noFill/>
          <a:ln/>
        </p:spPr>
        <p:txBody>
          <a:bodyPr wrap="square" lIns="0" tIns="0" rIns="0" bIns="0" rtlCol="0" anchor="ctr"/>
          <a:lstStyle/>
          <a:p>
            <a:pPr marL="0" indent="0" algn="ctr">
              <a:lnSpc>
                <a:spcPct val="90000"/>
              </a:lnSpc>
              <a:buNone/>
            </a:pPr>
            <a:r>
              <a:rPr lang="en-US" sz="900" dirty="0">
                <a:solidFill>
                  <a:srgbClr val="FFFFFF"/>
                </a:solidFill>
                <a:latin typeface="Calibri" pitchFamily="34" charset="0"/>
                <a:ea typeface="Calibri" pitchFamily="34" charset="-122"/>
                <a:cs typeface="Calibri" pitchFamily="34" charset="-120"/>
              </a:rPr>
              <a:t>Salah alarm</a:t>
            </a:r>
            <a:endParaRPr lang="en-US" sz="900" dirty="0"/>
          </a:p>
        </p:txBody>
      </p:sp>
      <p:sp>
        <p:nvSpPr>
          <p:cNvPr id="18" name="Shape 16"/>
          <p:cNvSpPr/>
          <p:nvPr/>
        </p:nvSpPr>
        <p:spPr>
          <a:xfrm>
            <a:off x="1161288" y="3767328"/>
            <a:ext cx="1325880" cy="1325880"/>
          </a:xfrm>
          <a:prstGeom prst="roundRect">
            <a:avLst>
              <a:gd name="adj" fmla="val 3448"/>
            </a:avLst>
          </a:prstGeom>
          <a:solidFill>
            <a:srgbClr val="C2554A">
              <a:alpha val="92000"/>
            </a:srgbClr>
          </a:solidFill>
          <a:ln/>
        </p:spPr>
        <p:txBody>
          <a:bodyPr/>
          <a:lstStyle/>
          <a:p>
            <a:endParaRPr lang="en-US"/>
          </a:p>
        </p:txBody>
      </p:sp>
      <p:sp>
        <p:nvSpPr>
          <p:cNvPr id="19" name="Text 17"/>
          <p:cNvSpPr/>
          <p:nvPr/>
        </p:nvSpPr>
        <p:spPr>
          <a:xfrm>
            <a:off x="1161288" y="3895344"/>
            <a:ext cx="13258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FN</a:t>
            </a:r>
            <a:endParaRPr lang="en-US" sz="1200" dirty="0"/>
          </a:p>
        </p:txBody>
      </p:sp>
      <p:sp>
        <p:nvSpPr>
          <p:cNvPr id="20" name="Text 18"/>
          <p:cNvSpPr/>
          <p:nvPr/>
        </p:nvSpPr>
        <p:spPr>
          <a:xfrm>
            <a:off x="1161288" y="4151376"/>
            <a:ext cx="132588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1.302</a:t>
            </a:r>
            <a:endParaRPr lang="en-US" sz="2400" dirty="0"/>
          </a:p>
        </p:txBody>
      </p:sp>
      <p:sp>
        <p:nvSpPr>
          <p:cNvPr id="21" name="Text 19"/>
          <p:cNvSpPr/>
          <p:nvPr/>
        </p:nvSpPr>
        <p:spPr>
          <a:xfrm>
            <a:off x="1252728" y="4663440"/>
            <a:ext cx="1143000" cy="365760"/>
          </a:xfrm>
          <a:prstGeom prst="rect">
            <a:avLst/>
          </a:prstGeom>
          <a:noFill/>
          <a:ln/>
        </p:spPr>
        <p:txBody>
          <a:bodyPr wrap="square" lIns="0" tIns="0" rIns="0" bIns="0" rtlCol="0" anchor="ctr"/>
          <a:lstStyle/>
          <a:p>
            <a:pPr marL="0" indent="0" algn="ctr">
              <a:lnSpc>
                <a:spcPct val="90000"/>
              </a:lnSpc>
              <a:buNone/>
            </a:pPr>
            <a:r>
              <a:rPr lang="en-US" sz="900" dirty="0">
                <a:solidFill>
                  <a:srgbClr val="FFFFFF"/>
                </a:solidFill>
                <a:latin typeface="Calibri" pitchFamily="34" charset="0"/>
                <a:ea typeface="Calibri" pitchFamily="34" charset="-122"/>
                <a:cs typeface="Calibri" pitchFamily="34" charset="-120"/>
              </a:rPr>
              <a:t>Batal terlewat</a:t>
            </a:r>
            <a:endParaRPr lang="en-US" sz="900" dirty="0"/>
          </a:p>
        </p:txBody>
      </p:sp>
      <p:sp>
        <p:nvSpPr>
          <p:cNvPr id="22" name="Shape 20"/>
          <p:cNvSpPr/>
          <p:nvPr/>
        </p:nvSpPr>
        <p:spPr>
          <a:xfrm>
            <a:off x="2596896" y="3767328"/>
            <a:ext cx="1325880" cy="1325880"/>
          </a:xfrm>
          <a:prstGeom prst="roundRect">
            <a:avLst>
              <a:gd name="adj" fmla="val 3448"/>
            </a:avLst>
          </a:prstGeom>
          <a:solidFill>
            <a:srgbClr val="2E6E5E">
              <a:alpha val="92000"/>
            </a:srgbClr>
          </a:solidFill>
          <a:ln/>
        </p:spPr>
        <p:txBody>
          <a:bodyPr/>
          <a:lstStyle/>
          <a:p>
            <a:endParaRPr lang="en-US"/>
          </a:p>
        </p:txBody>
      </p:sp>
      <p:sp>
        <p:nvSpPr>
          <p:cNvPr id="23" name="Text 21"/>
          <p:cNvSpPr/>
          <p:nvPr/>
        </p:nvSpPr>
        <p:spPr>
          <a:xfrm>
            <a:off x="2596896" y="3895344"/>
            <a:ext cx="132588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TP</a:t>
            </a:r>
            <a:endParaRPr lang="en-US" sz="1200" dirty="0"/>
          </a:p>
        </p:txBody>
      </p:sp>
      <p:sp>
        <p:nvSpPr>
          <p:cNvPr id="24" name="Text 22"/>
          <p:cNvSpPr/>
          <p:nvPr/>
        </p:nvSpPr>
        <p:spPr>
          <a:xfrm>
            <a:off x="2596896" y="4151376"/>
            <a:ext cx="132588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4.854</a:t>
            </a:r>
            <a:endParaRPr lang="en-US" sz="2400" dirty="0"/>
          </a:p>
        </p:txBody>
      </p:sp>
      <p:sp>
        <p:nvSpPr>
          <p:cNvPr id="25" name="Text 23"/>
          <p:cNvSpPr/>
          <p:nvPr/>
        </p:nvSpPr>
        <p:spPr>
          <a:xfrm>
            <a:off x="2688336" y="4663440"/>
            <a:ext cx="1143000" cy="365760"/>
          </a:xfrm>
          <a:prstGeom prst="rect">
            <a:avLst/>
          </a:prstGeom>
          <a:noFill/>
          <a:ln/>
        </p:spPr>
        <p:txBody>
          <a:bodyPr wrap="square" lIns="0" tIns="0" rIns="0" bIns="0" rtlCol="0" anchor="ctr"/>
          <a:lstStyle/>
          <a:p>
            <a:pPr marL="0" indent="0" algn="ctr">
              <a:lnSpc>
                <a:spcPct val="90000"/>
              </a:lnSpc>
              <a:buNone/>
            </a:pPr>
            <a:r>
              <a:rPr lang="en-US" sz="900" dirty="0">
                <a:solidFill>
                  <a:srgbClr val="FFFFFF"/>
                </a:solidFill>
                <a:latin typeface="Calibri" pitchFamily="34" charset="0"/>
                <a:ea typeface="Calibri" pitchFamily="34" charset="-122"/>
                <a:cs typeface="Calibri" pitchFamily="34" charset="-120"/>
              </a:rPr>
              <a:t>Batal tertangkap</a:t>
            </a:r>
            <a:endParaRPr lang="en-US" sz="900" dirty="0"/>
          </a:p>
        </p:txBody>
      </p:sp>
      <p:sp>
        <p:nvSpPr>
          <p:cNvPr id="26" name="Shape 24"/>
          <p:cNvSpPr/>
          <p:nvPr/>
        </p:nvSpPr>
        <p:spPr>
          <a:xfrm>
            <a:off x="4425696" y="1783080"/>
            <a:ext cx="3447288" cy="1051560"/>
          </a:xfrm>
          <a:prstGeom prst="roundRect">
            <a:avLst>
              <a:gd name="adj" fmla="val 608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dirty="0"/>
          </a:p>
        </p:txBody>
      </p:sp>
      <p:sp>
        <p:nvSpPr>
          <p:cNvPr id="27" name="Text 25"/>
          <p:cNvSpPr/>
          <p:nvPr/>
        </p:nvSpPr>
        <p:spPr>
          <a:xfrm>
            <a:off x="4626864" y="1929384"/>
            <a:ext cx="3081528" cy="274320"/>
          </a:xfrm>
          <a:prstGeom prst="rect">
            <a:avLst/>
          </a:prstGeom>
          <a:noFill/>
          <a:ln/>
        </p:spPr>
        <p:txBody>
          <a:bodyPr wrap="square" lIns="0" tIns="0" rIns="0" bIns="0" rtlCol="0" anchor="ctr"/>
          <a:lstStyle/>
          <a:p>
            <a:pPr marL="0" indent="0">
              <a:buNone/>
            </a:pPr>
            <a:r>
              <a:rPr lang="en-US" sz="1200" b="1" dirty="0">
                <a:solidFill>
                  <a:srgbClr val="2E6E5E"/>
                </a:solidFill>
                <a:latin typeface="Calibri" pitchFamily="34" charset="0"/>
                <a:ea typeface="Calibri" pitchFamily="34" charset="-122"/>
                <a:cs typeface="Calibri" pitchFamily="34" charset="-120"/>
              </a:rPr>
              <a:t>Recall</a:t>
            </a:r>
            <a:endParaRPr lang="en-US" sz="1200" dirty="0"/>
          </a:p>
        </p:txBody>
      </p:sp>
      <p:sp>
        <p:nvSpPr>
          <p:cNvPr id="28" name="Text 26"/>
          <p:cNvSpPr/>
          <p:nvPr/>
        </p:nvSpPr>
        <p:spPr>
          <a:xfrm>
            <a:off x="4626864" y="2167128"/>
            <a:ext cx="1280160" cy="502920"/>
          </a:xfrm>
          <a:prstGeom prst="rect">
            <a:avLst/>
          </a:prstGeom>
          <a:noFill/>
          <a:ln/>
        </p:spPr>
        <p:txBody>
          <a:bodyPr wrap="square" lIns="0" tIns="0" rIns="0" bIns="0" rtlCol="0" anchor="ctr"/>
          <a:lstStyle/>
          <a:p>
            <a:pPr marL="0" indent="0">
              <a:buNone/>
            </a:pPr>
            <a:r>
              <a:rPr lang="en-US" sz="2600" b="1" dirty="0">
                <a:solidFill>
                  <a:srgbClr val="16253D"/>
                </a:solidFill>
                <a:latin typeface="Cambria" pitchFamily="34" charset="0"/>
                <a:ea typeface="Cambria" pitchFamily="34" charset="-122"/>
                <a:cs typeface="Cambria" pitchFamily="34" charset="-120"/>
              </a:rPr>
              <a:t>0,788</a:t>
            </a:r>
            <a:endParaRPr lang="en-US" sz="2600" dirty="0"/>
          </a:p>
        </p:txBody>
      </p:sp>
      <p:sp>
        <p:nvSpPr>
          <p:cNvPr id="29" name="Text 27"/>
          <p:cNvSpPr/>
          <p:nvPr/>
        </p:nvSpPr>
        <p:spPr>
          <a:xfrm>
            <a:off x="5843016" y="2167128"/>
            <a:ext cx="1892808" cy="548640"/>
          </a:xfrm>
          <a:prstGeom prst="rect">
            <a:avLst/>
          </a:prstGeom>
          <a:noFill/>
          <a:ln/>
        </p:spPr>
        <p:txBody>
          <a:bodyPr wrap="square" lIns="0" tIns="0" rIns="0" bIns="0" rtlCol="0" anchor="ctr"/>
          <a:lstStyle/>
          <a:p>
            <a:pPr marL="0" indent="0">
              <a:lnSpc>
                <a:spcPct val="95000"/>
              </a:lnSpc>
              <a:buNone/>
            </a:pPr>
            <a:r>
              <a:rPr lang="en-US" sz="980" dirty="0" err="1">
                <a:solidFill>
                  <a:srgbClr val="6B7785"/>
                </a:solidFill>
                <a:latin typeface="Calibri" pitchFamily="34" charset="0"/>
                <a:ea typeface="Calibri" pitchFamily="34" charset="-122"/>
                <a:cs typeface="Calibri" pitchFamily="34" charset="-120"/>
              </a:rPr>
              <a:t>menangkap</a:t>
            </a:r>
            <a:r>
              <a:rPr lang="en-US" sz="980" dirty="0">
                <a:solidFill>
                  <a:srgbClr val="6B7785"/>
                </a:solidFill>
                <a:latin typeface="Calibri" pitchFamily="34" charset="0"/>
                <a:ea typeface="Calibri" pitchFamily="34" charset="-122"/>
                <a:cs typeface="Calibri" pitchFamily="34" charset="-120"/>
              </a:rPr>
              <a:t> ~79% pembatalan nyata</a:t>
            </a:r>
            <a:endParaRPr lang="en-US" sz="980" dirty="0"/>
          </a:p>
        </p:txBody>
      </p:sp>
      <p:sp>
        <p:nvSpPr>
          <p:cNvPr id="30" name="Shape 28"/>
          <p:cNvSpPr/>
          <p:nvPr/>
        </p:nvSpPr>
        <p:spPr>
          <a:xfrm>
            <a:off x="8147304" y="1783080"/>
            <a:ext cx="3447288" cy="1051560"/>
          </a:xfrm>
          <a:prstGeom prst="roundRect">
            <a:avLst>
              <a:gd name="adj" fmla="val 608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31" name="Text 29"/>
          <p:cNvSpPr/>
          <p:nvPr/>
        </p:nvSpPr>
        <p:spPr>
          <a:xfrm>
            <a:off x="8348472" y="1929384"/>
            <a:ext cx="3081528" cy="274320"/>
          </a:xfrm>
          <a:prstGeom prst="rect">
            <a:avLst/>
          </a:prstGeom>
          <a:noFill/>
          <a:ln/>
        </p:spPr>
        <p:txBody>
          <a:bodyPr wrap="square" lIns="0" tIns="0" rIns="0" bIns="0" rtlCol="0" anchor="ctr"/>
          <a:lstStyle/>
          <a:p>
            <a:pPr marL="0" indent="0">
              <a:buNone/>
            </a:pPr>
            <a:r>
              <a:rPr lang="en-US" sz="1200" b="1" dirty="0">
                <a:solidFill>
                  <a:srgbClr val="16253D"/>
                </a:solidFill>
                <a:latin typeface="Calibri" pitchFamily="34" charset="0"/>
                <a:ea typeface="Calibri" pitchFamily="34" charset="-122"/>
                <a:cs typeface="Calibri" pitchFamily="34" charset="-120"/>
              </a:rPr>
              <a:t>Precision</a:t>
            </a:r>
            <a:endParaRPr lang="en-US" sz="1200" dirty="0"/>
          </a:p>
        </p:txBody>
      </p:sp>
      <p:sp>
        <p:nvSpPr>
          <p:cNvPr id="32" name="Text 30"/>
          <p:cNvSpPr/>
          <p:nvPr/>
        </p:nvSpPr>
        <p:spPr>
          <a:xfrm>
            <a:off x="8348472" y="2167128"/>
            <a:ext cx="1280160" cy="502920"/>
          </a:xfrm>
          <a:prstGeom prst="rect">
            <a:avLst/>
          </a:prstGeom>
          <a:noFill/>
          <a:ln/>
        </p:spPr>
        <p:txBody>
          <a:bodyPr wrap="square" lIns="0" tIns="0" rIns="0" bIns="0" rtlCol="0" anchor="ctr"/>
          <a:lstStyle/>
          <a:p>
            <a:pPr marL="0" indent="0">
              <a:buNone/>
            </a:pPr>
            <a:r>
              <a:rPr lang="en-US" sz="2600" b="1" dirty="0">
                <a:solidFill>
                  <a:srgbClr val="16253D"/>
                </a:solidFill>
                <a:latin typeface="Cambria" pitchFamily="34" charset="0"/>
                <a:ea typeface="Cambria" pitchFamily="34" charset="-122"/>
                <a:cs typeface="Cambria" pitchFamily="34" charset="-120"/>
              </a:rPr>
              <a:t>0,701</a:t>
            </a:r>
            <a:endParaRPr lang="en-US" sz="2600" dirty="0"/>
          </a:p>
        </p:txBody>
      </p:sp>
      <p:sp>
        <p:nvSpPr>
          <p:cNvPr id="33" name="Text 31"/>
          <p:cNvSpPr/>
          <p:nvPr/>
        </p:nvSpPr>
        <p:spPr>
          <a:xfrm>
            <a:off x="9564624" y="2167128"/>
            <a:ext cx="1892808" cy="548640"/>
          </a:xfrm>
          <a:prstGeom prst="rect">
            <a:avLst/>
          </a:prstGeom>
          <a:noFill/>
          <a:ln/>
        </p:spPr>
        <p:txBody>
          <a:bodyPr wrap="square" lIns="0" tIns="0" rIns="0" bIns="0" rtlCol="0" anchor="ctr"/>
          <a:lstStyle/>
          <a:p>
            <a:pPr marL="0" indent="0">
              <a:lnSpc>
                <a:spcPct val="95000"/>
              </a:lnSpc>
              <a:buNone/>
            </a:pPr>
            <a:r>
              <a:rPr lang="en-US" sz="980" dirty="0">
                <a:solidFill>
                  <a:srgbClr val="6B7785"/>
                </a:solidFill>
                <a:latin typeface="Calibri" pitchFamily="34" charset="0"/>
                <a:ea typeface="Calibri" pitchFamily="34" charset="-122"/>
                <a:cs typeface="Calibri" pitchFamily="34" charset="-120"/>
              </a:rPr>
              <a:t>70% sinyal 'batal' memang batal</a:t>
            </a:r>
            <a:endParaRPr lang="en-US" sz="980" dirty="0"/>
          </a:p>
        </p:txBody>
      </p:sp>
      <p:sp>
        <p:nvSpPr>
          <p:cNvPr id="34" name="Shape 32"/>
          <p:cNvSpPr/>
          <p:nvPr/>
        </p:nvSpPr>
        <p:spPr>
          <a:xfrm>
            <a:off x="4425696" y="3017520"/>
            <a:ext cx="3447288" cy="1051560"/>
          </a:xfrm>
          <a:prstGeom prst="roundRect">
            <a:avLst>
              <a:gd name="adj" fmla="val 608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35" name="Text 33"/>
          <p:cNvSpPr/>
          <p:nvPr/>
        </p:nvSpPr>
        <p:spPr>
          <a:xfrm>
            <a:off x="4626864" y="3163824"/>
            <a:ext cx="3081528" cy="274320"/>
          </a:xfrm>
          <a:prstGeom prst="rect">
            <a:avLst/>
          </a:prstGeom>
          <a:noFill/>
          <a:ln/>
        </p:spPr>
        <p:txBody>
          <a:bodyPr wrap="square" lIns="0" tIns="0" rIns="0" bIns="0" rtlCol="0" anchor="ctr"/>
          <a:lstStyle/>
          <a:p>
            <a:pPr marL="0" indent="0">
              <a:buNone/>
            </a:pPr>
            <a:r>
              <a:rPr lang="en-US" sz="1200" b="1" dirty="0">
                <a:solidFill>
                  <a:srgbClr val="A6822F"/>
                </a:solidFill>
                <a:latin typeface="Calibri" pitchFamily="34" charset="0"/>
                <a:ea typeface="Calibri" pitchFamily="34" charset="-122"/>
                <a:cs typeface="Calibri" pitchFamily="34" charset="-120"/>
              </a:rPr>
              <a:t>F1</a:t>
            </a:r>
            <a:endParaRPr lang="en-US" sz="1200" dirty="0"/>
          </a:p>
        </p:txBody>
      </p:sp>
      <p:sp>
        <p:nvSpPr>
          <p:cNvPr id="36" name="Text 34"/>
          <p:cNvSpPr/>
          <p:nvPr/>
        </p:nvSpPr>
        <p:spPr>
          <a:xfrm>
            <a:off x="4626864" y="3401568"/>
            <a:ext cx="1280160" cy="502920"/>
          </a:xfrm>
          <a:prstGeom prst="rect">
            <a:avLst/>
          </a:prstGeom>
          <a:noFill/>
          <a:ln/>
        </p:spPr>
        <p:txBody>
          <a:bodyPr wrap="square" lIns="0" tIns="0" rIns="0" bIns="0" rtlCol="0" anchor="ctr"/>
          <a:lstStyle/>
          <a:p>
            <a:pPr marL="0" indent="0">
              <a:buNone/>
            </a:pPr>
            <a:r>
              <a:rPr lang="en-US" sz="2600" b="1" dirty="0">
                <a:solidFill>
                  <a:srgbClr val="16253D"/>
                </a:solidFill>
                <a:latin typeface="Cambria" pitchFamily="34" charset="0"/>
                <a:ea typeface="Cambria" pitchFamily="34" charset="-122"/>
                <a:cs typeface="Cambria" pitchFamily="34" charset="-120"/>
              </a:rPr>
              <a:t>0,742</a:t>
            </a:r>
            <a:endParaRPr lang="en-US" sz="2600" dirty="0"/>
          </a:p>
        </p:txBody>
      </p:sp>
      <p:sp>
        <p:nvSpPr>
          <p:cNvPr id="37" name="Text 35"/>
          <p:cNvSpPr/>
          <p:nvPr/>
        </p:nvSpPr>
        <p:spPr>
          <a:xfrm>
            <a:off x="5843016" y="3401568"/>
            <a:ext cx="1892808" cy="548640"/>
          </a:xfrm>
          <a:prstGeom prst="rect">
            <a:avLst/>
          </a:prstGeom>
          <a:noFill/>
          <a:ln/>
        </p:spPr>
        <p:txBody>
          <a:bodyPr wrap="square" lIns="0" tIns="0" rIns="0" bIns="0" rtlCol="0" anchor="ctr"/>
          <a:lstStyle/>
          <a:p>
            <a:pPr marL="0" indent="0">
              <a:lnSpc>
                <a:spcPct val="95000"/>
              </a:lnSpc>
              <a:buNone/>
            </a:pPr>
            <a:r>
              <a:rPr lang="en-US" sz="980" dirty="0">
                <a:solidFill>
                  <a:srgbClr val="6B7785"/>
                </a:solidFill>
                <a:latin typeface="Calibri" pitchFamily="34" charset="0"/>
                <a:ea typeface="Calibri" pitchFamily="34" charset="-122"/>
                <a:cs typeface="Calibri" pitchFamily="34" charset="-120"/>
              </a:rPr>
              <a:t>metrik utama (keseimbangan)</a:t>
            </a:r>
            <a:endParaRPr lang="en-US" sz="980" dirty="0"/>
          </a:p>
        </p:txBody>
      </p:sp>
      <p:sp>
        <p:nvSpPr>
          <p:cNvPr id="38" name="Shape 36"/>
          <p:cNvSpPr/>
          <p:nvPr/>
        </p:nvSpPr>
        <p:spPr>
          <a:xfrm>
            <a:off x="8147304" y="3017520"/>
            <a:ext cx="3447288" cy="1051560"/>
          </a:xfrm>
          <a:prstGeom prst="roundRect">
            <a:avLst>
              <a:gd name="adj" fmla="val 6087"/>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39" name="Text 37"/>
          <p:cNvSpPr/>
          <p:nvPr/>
        </p:nvSpPr>
        <p:spPr>
          <a:xfrm>
            <a:off x="8348472" y="3163824"/>
            <a:ext cx="3081528" cy="274320"/>
          </a:xfrm>
          <a:prstGeom prst="rect">
            <a:avLst/>
          </a:prstGeom>
          <a:noFill/>
          <a:ln/>
        </p:spPr>
        <p:txBody>
          <a:bodyPr wrap="square" lIns="0" tIns="0" rIns="0" bIns="0" rtlCol="0" anchor="ctr"/>
          <a:lstStyle/>
          <a:p>
            <a:pPr marL="0" indent="0">
              <a:buNone/>
            </a:pPr>
            <a:r>
              <a:rPr lang="en-US" sz="1200" b="1" dirty="0">
                <a:solidFill>
                  <a:srgbClr val="16253D"/>
                </a:solidFill>
                <a:latin typeface="Calibri" pitchFamily="34" charset="0"/>
                <a:ea typeface="Calibri" pitchFamily="34" charset="-122"/>
                <a:cs typeface="Calibri" pitchFamily="34" charset="-120"/>
              </a:rPr>
              <a:t>ROC-AUC</a:t>
            </a:r>
            <a:endParaRPr lang="en-US" sz="1200" dirty="0"/>
          </a:p>
        </p:txBody>
      </p:sp>
      <p:sp>
        <p:nvSpPr>
          <p:cNvPr id="40" name="Text 38"/>
          <p:cNvSpPr/>
          <p:nvPr/>
        </p:nvSpPr>
        <p:spPr>
          <a:xfrm>
            <a:off x="8348472" y="3401568"/>
            <a:ext cx="1280160" cy="502920"/>
          </a:xfrm>
          <a:prstGeom prst="rect">
            <a:avLst/>
          </a:prstGeom>
          <a:noFill/>
          <a:ln/>
        </p:spPr>
        <p:txBody>
          <a:bodyPr wrap="square" lIns="0" tIns="0" rIns="0" bIns="0" rtlCol="0" anchor="ctr"/>
          <a:lstStyle/>
          <a:p>
            <a:pPr marL="0" indent="0">
              <a:buNone/>
            </a:pPr>
            <a:r>
              <a:rPr lang="en-US" sz="2600" b="1" dirty="0">
                <a:solidFill>
                  <a:srgbClr val="16253D"/>
                </a:solidFill>
                <a:latin typeface="Cambria" pitchFamily="34" charset="0"/>
                <a:ea typeface="Cambria" pitchFamily="34" charset="-122"/>
                <a:cs typeface="Cambria" pitchFamily="34" charset="-120"/>
              </a:rPr>
              <a:t>0,894</a:t>
            </a:r>
            <a:endParaRPr lang="en-US" sz="2600" dirty="0"/>
          </a:p>
        </p:txBody>
      </p:sp>
      <p:sp>
        <p:nvSpPr>
          <p:cNvPr id="41" name="Text 39"/>
          <p:cNvSpPr/>
          <p:nvPr/>
        </p:nvSpPr>
        <p:spPr>
          <a:xfrm>
            <a:off x="9564624" y="3401568"/>
            <a:ext cx="1892808" cy="548640"/>
          </a:xfrm>
          <a:prstGeom prst="rect">
            <a:avLst/>
          </a:prstGeom>
          <a:noFill/>
          <a:ln/>
        </p:spPr>
        <p:txBody>
          <a:bodyPr wrap="square" lIns="0" tIns="0" rIns="0" bIns="0" rtlCol="0" anchor="ctr"/>
          <a:lstStyle/>
          <a:p>
            <a:pPr marL="0" indent="0">
              <a:lnSpc>
                <a:spcPct val="95000"/>
              </a:lnSpc>
              <a:buNone/>
            </a:pPr>
            <a:r>
              <a:rPr lang="en-US" sz="980" dirty="0">
                <a:solidFill>
                  <a:srgbClr val="6B7785"/>
                </a:solidFill>
                <a:latin typeface="Calibri" pitchFamily="34" charset="0"/>
                <a:ea typeface="Calibri" pitchFamily="34" charset="-122"/>
                <a:cs typeface="Calibri" pitchFamily="34" charset="-120"/>
              </a:rPr>
              <a:t>pemeringkatan risiko (bebas ambang)</a:t>
            </a:r>
            <a:endParaRPr lang="en-US" sz="980" dirty="0"/>
          </a:p>
        </p:txBody>
      </p:sp>
      <p:sp>
        <p:nvSpPr>
          <p:cNvPr id="42" name="Shape 40"/>
          <p:cNvSpPr/>
          <p:nvPr/>
        </p:nvSpPr>
        <p:spPr>
          <a:xfrm>
            <a:off x="4425696" y="4251960"/>
            <a:ext cx="7168896" cy="914400"/>
          </a:xfrm>
          <a:prstGeom prst="roundRect">
            <a:avLst>
              <a:gd name="adj" fmla="val 7000"/>
            </a:avLst>
          </a:prstGeom>
          <a:solidFill>
            <a:srgbClr val="F3F5F8"/>
          </a:solidFill>
          <a:ln w="12700">
            <a:solidFill>
              <a:srgbClr val="D7DDE6"/>
            </a:solidFill>
            <a:prstDash val="solid"/>
          </a:ln>
        </p:spPr>
        <p:txBody>
          <a:bodyPr/>
          <a:lstStyle/>
          <a:p>
            <a:endParaRPr lang="en-US"/>
          </a:p>
        </p:txBody>
      </p:sp>
      <p:sp>
        <p:nvSpPr>
          <p:cNvPr id="43" name="Text 41"/>
          <p:cNvSpPr/>
          <p:nvPr/>
        </p:nvSpPr>
        <p:spPr>
          <a:xfrm>
            <a:off x="4654296" y="4361688"/>
            <a:ext cx="6711696" cy="694944"/>
          </a:xfrm>
          <a:prstGeom prst="rect">
            <a:avLst/>
          </a:prstGeom>
          <a:noFill/>
          <a:ln/>
        </p:spPr>
        <p:txBody>
          <a:bodyPr wrap="square" lIns="0" tIns="0" rIns="0" bIns="0" rtlCol="0" anchor="ctr"/>
          <a:lstStyle/>
          <a:p>
            <a:pPr marL="0" indent="0">
              <a:lnSpc>
                <a:spcPct val="115000"/>
              </a:lnSpc>
              <a:buNone/>
            </a:pPr>
            <a:r>
              <a:rPr lang="en-US" sz="1200" b="1" dirty="0">
                <a:solidFill>
                  <a:srgbClr val="16253D"/>
                </a:solidFill>
                <a:latin typeface="Calibri" pitchFamily="34" charset="0"/>
                <a:ea typeface="Calibri" pitchFamily="34" charset="-122"/>
                <a:cs typeface="Calibri" pitchFamily="34" charset="-120"/>
              </a:rPr>
              <a:t>Diagnostik over/underfitting:  </a:t>
            </a:r>
            <a:r>
              <a:rPr lang="en-US" sz="1200" dirty="0">
                <a:solidFill>
                  <a:srgbClr val="1F2A3A"/>
                </a:solidFill>
                <a:latin typeface="Calibri" pitchFamily="34" charset="0"/>
                <a:ea typeface="Calibri" pitchFamily="34" charset="-122"/>
                <a:cs typeface="Calibri" pitchFamily="34" charset="-120"/>
              </a:rPr>
              <a:t>F1 latih 0,748  |  uji 0,742  |  CV 0,741</a:t>
            </a:r>
            <a:r>
              <a:rPr lang="en-US" sz="1100" i="1" dirty="0">
                <a:solidFill>
                  <a:srgbClr val="2E6E5E"/>
                </a:solidFill>
                <a:latin typeface="Calibri" pitchFamily="34" charset="0"/>
                <a:ea typeface="Calibri" pitchFamily="34" charset="-122"/>
                <a:cs typeface="Calibri" pitchFamily="34" charset="-120"/>
              </a:rPr>
              <a:t>   → ketiganya berdekatan: model belajar pola, bukan menghafal.</a:t>
            </a:r>
            <a:endParaRPr lang="en-US" sz="1200" dirty="0"/>
          </a:p>
        </p:txBody>
      </p:sp>
      <p:sp>
        <p:nvSpPr>
          <p:cNvPr id="44" name="Text 42"/>
          <p:cNvSpPr/>
          <p:nvPr/>
        </p:nvSpPr>
        <p:spPr>
          <a:xfrm>
            <a:off x="566928" y="5989320"/>
            <a:ext cx="11027664" cy="457200"/>
          </a:xfrm>
          <a:prstGeom prst="rect">
            <a:avLst/>
          </a:prstGeom>
          <a:noFill/>
          <a:ln/>
        </p:spPr>
        <p:txBody>
          <a:bodyPr wrap="square" lIns="0" tIns="0" rIns="0" bIns="0" rtlCol="0" anchor="ctr"/>
          <a:lstStyle/>
          <a:p>
            <a:pPr marL="0" indent="0" algn="ctr">
              <a:buNone/>
            </a:pPr>
            <a:r>
              <a:rPr lang="en-US" sz="1150" i="1" dirty="0">
                <a:solidFill>
                  <a:srgbClr val="6B7785"/>
                </a:solidFill>
                <a:latin typeface="Calibri" pitchFamily="34" charset="0"/>
                <a:ea typeface="Calibri" pitchFamily="34" charset="-122"/>
                <a:cs typeface="Calibri" pitchFamily="34" charset="-120"/>
              </a:rPr>
              <a:t>Recall sengaja dijaga lebih tinggi dari precision: melewatkan pembatalan (kamar kosong) lebih merugikan daripada sekadar salah alarm.</a:t>
            </a:r>
            <a:endParaRPr lang="en-US" sz="1150" dirty="0"/>
          </a:p>
        </p:txBody>
      </p:sp>
      <p:sp>
        <p:nvSpPr>
          <p:cNvPr id="45" name="Text 43"/>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UJI KEJUJURAN</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Performa sebenarnya adalah sebuah rentang, bukan satu angka</a:t>
            </a:r>
            <a:endParaRPr lang="en-US" sz="3000" dirty="0"/>
          </a:p>
        </p:txBody>
      </p:sp>
      <p:sp>
        <p:nvSpPr>
          <p:cNvPr id="4" name="Shape 2"/>
          <p:cNvSpPr/>
          <p:nvPr/>
        </p:nvSpPr>
        <p:spPr>
          <a:xfrm>
            <a:off x="566928" y="1828800"/>
            <a:ext cx="4160520" cy="2194560"/>
          </a:xfrm>
          <a:prstGeom prst="roundRect">
            <a:avLst>
              <a:gd name="adj" fmla="val 3333"/>
            </a:avLst>
          </a:prstGeom>
          <a:solidFill>
            <a:srgbClr val="35506B"/>
          </a:solidFill>
          <a:ln/>
          <a:effectLst>
            <a:outerShdw blurRad="88900" dist="38100" dir="5400000" algn="bl" rotWithShape="0">
              <a:srgbClr val="0B1626">
                <a:alpha val="16000"/>
              </a:srgbClr>
            </a:outerShdw>
          </a:effectLst>
        </p:spPr>
        <p:txBody>
          <a:bodyPr/>
          <a:lstStyle/>
          <a:p>
            <a:endParaRPr lang="en-US"/>
          </a:p>
        </p:txBody>
      </p:sp>
      <p:sp>
        <p:nvSpPr>
          <p:cNvPr id="5" name="Text 3"/>
          <p:cNvSpPr/>
          <p:nvPr/>
        </p:nvSpPr>
        <p:spPr>
          <a:xfrm>
            <a:off x="841248" y="2057400"/>
            <a:ext cx="3611880" cy="548640"/>
          </a:xfrm>
          <a:prstGeom prst="rect">
            <a:avLst/>
          </a:prstGeom>
          <a:noFill/>
          <a:ln/>
        </p:spPr>
        <p:txBody>
          <a:bodyPr wrap="square" lIns="0" tIns="0" rIns="0" bIns="0" rtlCol="0" anchor="ctr"/>
          <a:lstStyle/>
          <a:p>
            <a:pPr marL="0" indent="0">
              <a:lnSpc>
                <a:spcPct val="100000"/>
              </a:lnSpc>
              <a:buNone/>
            </a:pPr>
            <a:r>
              <a:rPr lang="en-US" sz="1400" b="1" dirty="0">
                <a:solidFill>
                  <a:srgbClr val="C8A04B"/>
                </a:solidFill>
                <a:latin typeface="Calibri" pitchFamily="34" charset="0"/>
                <a:ea typeface="Calibri" pitchFamily="34" charset="-122"/>
                <a:cs typeface="Calibri" pitchFamily="34" charset="-120"/>
              </a:rPr>
              <a:t>Split naif (mengandung duplikat)</a:t>
            </a:r>
            <a:endParaRPr lang="en-US" sz="1400" dirty="0"/>
          </a:p>
        </p:txBody>
      </p:sp>
      <p:sp>
        <p:nvSpPr>
          <p:cNvPr id="6" name="Text 4"/>
          <p:cNvSpPr/>
          <p:nvPr/>
        </p:nvSpPr>
        <p:spPr>
          <a:xfrm>
            <a:off x="841248" y="2651760"/>
            <a:ext cx="361188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F1 0,74      </a:t>
            </a:r>
            <a:r>
              <a:rPr lang="en-US" sz="2200" b="1" dirty="0">
                <a:solidFill>
                  <a:srgbClr val="C7D2E2"/>
                </a:solidFill>
                <a:latin typeface="Cambria" pitchFamily="34" charset="0"/>
                <a:ea typeface="Cambria" pitchFamily="34" charset="-122"/>
                <a:cs typeface="Cambria" pitchFamily="34" charset="-120"/>
              </a:rPr>
              <a:t>AUC 0,89</a:t>
            </a:r>
            <a:endParaRPr lang="en-US" sz="3400" dirty="0"/>
          </a:p>
        </p:txBody>
      </p:sp>
      <p:sp>
        <p:nvSpPr>
          <p:cNvPr id="7" name="Text 5"/>
          <p:cNvSpPr/>
          <p:nvPr/>
        </p:nvSpPr>
        <p:spPr>
          <a:xfrm>
            <a:off x="841248" y="3429000"/>
            <a:ext cx="3611880" cy="502920"/>
          </a:xfrm>
          <a:prstGeom prst="rect">
            <a:avLst/>
          </a:prstGeom>
          <a:noFill/>
          <a:ln/>
        </p:spPr>
        <p:txBody>
          <a:bodyPr wrap="square" lIns="0" tIns="0" rIns="0" bIns="0" rtlCol="0" anchor="ctr"/>
          <a:lstStyle/>
          <a:p>
            <a:pPr marL="0" indent="0">
              <a:lnSpc>
                <a:spcPct val="105000"/>
              </a:lnSpc>
              <a:buNone/>
            </a:pPr>
            <a:r>
              <a:rPr lang="en-US" sz="1150" dirty="0">
                <a:solidFill>
                  <a:srgbClr val="DCE3EE"/>
                </a:solidFill>
                <a:latin typeface="Calibri" pitchFamily="34" charset="0"/>
                <a:ea typeface="Calibri" pitchFamily="34" charset="-122"/>
                <a:cs typeface="Calibri" pitchFamily="34" charset="-120"/>
              </a:rPr>
              <a:t>Optimis — baris identik bisa bocor ke data uji.</a:t>
            </a:r>
            <a:endParaRPr lang="en-US" sz="1150" dirty="0"/>
          </a:p>
        </p:txBody>
      </p:sp>
      <p:sp>
        <p:nvSpPr>
          <p:cNvPr id="8" name="Shape 6"/>
          <p:cNvSpPr/>
          <p:nvPr/>
        </p:nvSpPr>
        <p:spPr>
          <a:xfrm>
            <a:off x="5184648" y="1828800"/>
            <a:ext cx="4160520" cy="2194560"/>
          </a:xfrm>
          <a:prstGeom prst="roundRect">
            <a:avLst>
              <a:gd name="adj" fmla="val 3333"/>
            </a:avLst>
          </a:prstGeom>
          <a:solidFill>
            <a:srgbClr val="16253D"/>
          </a:solidFill>
          <a:ln/>
          <a:effectLst>
            <a:outerShdw blurRad="88900" dist="38100" dir="5400000" algn="bl" rotWithShape="0">
              <a:srgbClr val="0B1626">
                <a:alpha val="16000"/>
              </a:srgbClr>
            </a:outerShdw>
          </a:effectLst>
        </p:spPr>
        <p:txBody>
          <a:bodyPr/>
          <a:lstStyle/>
          <a:p>
            <a:endParaRPr lang="en-US"/>
          </a:p>
        </p:txBody>
      </p:sp>
      <p:sp>
        <p:nvSpPr>
          <p:cNvPr id="9" name="Text 7"/>
          <p:cNvSpPr/>
          <p:nvPr/>
        </p:nvSpPr>
        <p:spPr>
          <a:xfrm>
            <a:off x="5458968" y="2057400"/>
            <a:ext cx="3611880" cy="548640"/>
          </a:xfrm>
          <a:prstGeom prst="rect">
            <a:avLst/>
          </a:prstGeom>
          <a:noFill/>
          <a:ln/>
        </p:spPr>
        <p:txBody>
          <a:bodyPr wrap="square" lIns="0" tIns="0" rIns="0" bIns="0" rtlCol="0" anchor="ctr"/>
          <a:lstStyle/>
          <a:p>
            <a:pPr marL="0" indent="0">
              <a:lnSpc>
                <a:spcPct val="100000"/>
              </a:lnSpc>
              <a:buNone/>
            </a:pPr>
            <a:r>
              <a:rPr lang="en-US" sz="1400" b="1" dirty="0">
                <a:solidFill>
                  <a:srgbClr val="C8A04B"/>
                </a:solidFill>
                <a:latin typeface="Calibri" pitchFamily="34" charset="0"/>
                <a:ea typeface="Calibri" pitchFamily="34" charset="-122"/>
                <a:cs typeface="Calibri" pitchFamily="34" charset="-120"/>
              </a:rPr>
              <a:t>Bebas-kebocoran (dedup → split)</a:t>
            </a:r>
            <a:endParaRPr lang="en-US" sz="1400" dirty="0"/>
          </a:p>
        </p:txBody>
      </p:sp>
      <p:sp>
        <p:nvSpPr>
          <p:cNvPr id="10" name="Text 8"/>
          <p:cNvSpPr/>
          <p:nvPr/>
        </p:nvSpPr>
        <p:spPr>
          <a:xfrm>
            <a:off x="5458968" y="2651760"/>
            <a:ext cx="361188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F1 0,56      </a:t>
            </a:r>
            <a:r>
              <a:rPr lang="en-US" sz="2200" b="1" dirty="0">
                <a:solidFill>
                  <a:srgbClr val="C7D2E2"/>
                </a:solidFill>
                <a:latin typeface="Cambria" pitchFamily="34" charset="0"/>
                <a:ea typeface="Cambria" pitchFamily="34" charset="-122"/>
                <a:cs typeface="Cambria" pitchFamily="34" charset="-120"/>
              </a:rPr>
              <a:t>AUC 0,82</a:t>
            </a:r>
            <a:endParaRPr lang="en-US" sz="3400" dirty="0"/>
          </a:p>
        </p:txBody>
      </p:sp>
      <p:sp>
        <p:nvSpPr>
          <p:cNvPr id="11" name="Text 9"/>
          <p:cNvSpPr/>
          <p:nvPr/>
        </p:nvSpPr>
        <p:spPr>
          <a:xfrm>
            <a:off x="5458968" y="3429000"/>
            <a:ext cx="3611880" cy="502920"/>
          </a:xfrm>
          <a:prstGeom prst="rect">
            <a:avLst/>
          </a:prstGeom>
          <a:noFill/>
          <a:ln/>
        </p:spPr>
        <p:txBody>
          <a:bodyPr wrap="square" lIns="0" tIns="0" rIns="0" bIns="0" rtlCol="0" anchor="ctr"/>
          <a:lstStyle/>
          <a:p>
            <a:pPr marL="0" indent="0">
              <a:lnSpc>
                <a:spcPct val="105000"/>
              </a:lnSpc>
              <a:buNone/>
            </a:pPr>
            <a:r>
              <a:rPr lang="en-US" sz="1150" dirty="0">
                <a:solidFill>
                  <a:srgbClr val="DCE3EE"/>
                </a:solidFill>
                <a:latin typeface="Calibri" pitchFamily="34" charset="0"/>
                <a:ea typeface="Calibri" pitchFamily="34" charset="-122"/>
                <a:cs typeface="Calibri" pitchFamily="34" charset="-120"/>
              </a:rPr>
              <a:t>Batas bawah jujur — tidak ada baris yang 'menyontek'.</a:t>
            </a:r>
            <a:endParaRPr lang="en-US" sz="1150" dirty="0"/>
          </a:p>
        </p:txBody>
      </p:sp>
      <p:pic>
        <p:nvPicPr>
          <p:cNvPr id="12" name="Image 0" descr="preencoded.png"/>
          <p:cNvPicPr>
            <a:picLocks noChangeAspect="1"/>
          </p:cNvPicPr>
          <p:nvPr/>
        </p:nvPicPr>
        <p:blipFill>
          <a:blip r:embed="rId3"/>
          <a:stretch>
            <a:fillRect/>
          </a:stretch>
        </p:blipFill>
        <p:spPr>
          <a:xfrm>
            <a:off x="4818888" y="2788920"/>
            <a:ext cx="274320" cy="274320"/>
          </a:xfrm>
          <a:prstGeom prst="rect">
            <a:avLst/>
          </a:prstGeom>
        </p:spPr>
      </p:pic>
      <p:sp>
        <p:nvSpPr>
          <p:cNvPr id="13" name="Shape 10"/>
          <p:cNvSpPr/>
          <p:nvPr/>
        </p:nvSpPr>
        <p:spPr>
          <a:xfrm>
            <a:off x="566928" y="4343400"/>
            <a:ext cx="11027664" cy="1463040"/>
          </a:xfrm>
          <a:prstGeom prst="roundRect">
            <a:avLst>
              <a:gd name="adj" fmla="val 4375"/>
            </a:avLst>
          </a:prstGeom>
          <a:solidFill>
            <a:srgbClr val="FBF4E3"/>
          </a:solidFill>
          <a:ln w="15875">
            <a:solidFill>
              <a:srgbClr val="C8A04B"/>
            </a:solidFill>
            <a:prstDash val="solid"/>
          </a:ln>
        </p:spPr>
        <p:txBody>
          <a:bodyPr/>
          <a:lstStyle/>
          <a:p>
            <a:endParaRPr lang="en-US"/>
          </a:p>
        </p:txBody>
      </p:sp>
      <p:sp>
        <p:nvSpPr>
          <p:cNvPr id="14" name="Text 11"/>
          <p:cNvSpPr/>
          <p:nvPr/>
        </p:nvSpPr>
        <p:spPr>
          <a:xfrm>
            <a:off x="932688" y="4526280"/>
            <a:ext cx="10296144" cy="1097280"/>
          </a:xfrm>
          <a:prstGeom prst="rect">
            <a:avLst/>
          </a:prstGeom>
          <a:noFill/>
          <a:ln/>
        </p:spPr>
        <p:txBody>
          <a:bodyPr wrap="square" lIns="0" tIns="0" rIns="0" bIns="0" rtlCol="0" anchor="ctr"/>
          <a:lstStyle/>
          <a:p>
            <a:pPr marL="0" indent="0">
              <a:lnSpc>
                <a:spcPct val="118000"/>
              </a:lnSpc>
              <a:buNone/>
            </a:pPr>
            <a:r>
              <a:rPr lang="en-US" sz="1700" b="1" dirty="0">
                <a:solidFill>
                  <a:srgbClr val="A6822F"/>
                </a:solidFill>
                <a:latin typeface="Cambria" pitchFamily="34" charset="0"/>
                <a:ea typeface="Cambria" pitchFamily="34" charset="-122"/>
                <a:cs typeface="Cambria" pitchFamily="34" charset="-120"/>
              </a:rPr>
              <a:t>Kemampuan jujur model: F1 0,56 – 0,74.  </a:t>
            </a:r>
            <a:r>
              <a:rPr lang="en-US" sz="1250" dirty="0">
                <a:solidFill>
                  <a:srgbClr val="1F2A3A"/>
                </a:solidFill>
                <a:latin typeface="Calibri" pitchFamily="34" charset="0"/>
                <a:ea typeface="Calibri" pitchFamily="34" charset="-122"/>
                <a:cs typeface="Calibri" pitchFamily="34" charset="-120"/>
              </a:rPr>
              <a:t>Kenapa tetap dilatih dengan duplikat? Menghapusnya mengubah tingkat pembatalan 36,8% → 23,0%, yang artinya mengubah problem statement yang kita modelkan. Maka duplikat dipertahankan untuk melatih, dan versi dedup dilaporkan sebagai batas bawah konservatif.</a:t>
            </a:r>
            <a:endParaRPr lang="en-US" sz="1700" dirty="0"/>
          </a:p>
        </p:txBody>
      </p:sp>
      <p:sp>
        <p:nvSpPr>
          <p:cNvPr id="15" name="Text 12"/>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ANALISA AMBANG BATAS</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Memilih titik operasi sesuai biaya bisnis</a:t>
            </a:r>
            <a:endParaRPr lang="en-US" sz="3000" dirty="0"/>
          </a:p>
        </p:txBody>
      </p:sp>
      <p:sp>
        <p:nvSpPr>
          <p:cNvPr id="4" name="Text 2"/>
          <p:cNvSpPr/>
          <p:nvPr/>
        </p:nvSpPr>
        <p:spPr>
          <a:xfrm>
            <a:off x="566928" y="1645920"/>
            <a:ext cx="11027664" cy="502920"/>
          </a:xfrm>
          <a:prstGeom prst="rect">
            <a:avLst/>
          </a:prstGeom>
          <a:noFill/>
          <a:ln/>
        </p:spPr>
        <p:txBody>
          <a:bodyPr wrap="square" lIns="0" tIns="0" rIns="0" bIns="0" rtlCol="0" anchor="ctr"/>
          <a:lstStyle/>
          <a:p>
            <a:pPr marL="0" indent="0">
              <a:lnSpc>
                <a:spcPct val="110000"/>
              </a:lnSpc>
              <a:buNone/>
            </a:pPr>
            <a:r>
              <a:rPr lang="en-US" sz="1300" dirty="0">
                <a:solidFill>
                  <a:srgbClr val="1F2A3A"/>
                </a:solidFill>
                <a:latin typeface="Calibri" pitchFamily="34" charset="0"/>
                <a:ea typeface="Calibri" pitchFamily="34" charset="-122"/>
                <a:cs typeface="Calibri" pitchFamily="34" charset="-120"/>
              </a:rPr>
              <a:t>Ambang 0,5 bersifat sembarang. Kita beri biaya dolar tiap kesalahan — </a:t>
            </a:r>
            <a:r>
              <a:rPr lang="en-US" sz="1300" b="1" dirty="0">
                <a:solidFill>
                  <a:srgbClr val="16253D"/>
                </a:solidFill>
                <a:latin typeface="Calibri" pitchFamily="34" charset="0"/>
                <a:ea typeface="Calibri" pitchFamily="34" charset="-122"/>
                <a:cs typeface="Calibri" pitchFamily="34" charset="-120"/>
              </a:rPr>
              <a:t>FN = $100 (kamar nganggur), FP = $20 (gangguan)</a:t>
            </a:r>
            <a:r>
              <a:rPr lang="en-US" sz="1300" dirty="0">
                <a:solidFill>
                  <a:srgbClr val="1F2A3A"/>
                </a:solidFill>
                <a:latin typeface="Calibri" pitchFamily="34" charset="0"/>
                <a:ea typeface="Calibri" pitchFamily="34" charset="-122"/>
                <a:cs typeface="Calibri" pitchFamily="34" charset="-120"/>
              </a:rPr>
              <a:t> — lalu pilih ambang yang meminimalkan total biaya.</a:t>
            </a:r>
            <a:endParaRPr lang="en-US" sz="1300" dirty="0"/>
          </a:p>
        </p:txBody>
      </p:sp>
      <p:sp>
        <p:nvSpPr>
          <p:cNvPr id="5" name="Shape 3"/>
          <p:cNvSpPr/>
          <p:nvPr/>
        </p:nvSpPr>
        <p:spPr>
          <a:xfrm>
            <a:off x="566928" y="2377440"/>
            <a:ext cx="4937760" cy="2423160"/>
          </a:xfrm>
          <a:prstGeom prst="roundRect">
            <a:avLst>
              <a:gd name="adj" fmla="val 3019"/>
            </a:avLst>
          </a:prstGeom>
          <a:solidFill>
            <a:srgbClr val="16253D"/>
          </a:solidFill>
          <a:ln/>
          <a:effectLst>
            <a:outerShdw blurRad="88900" dist="38100" dir="5400000" algn="bl" rotWithShape="0">
              <a:srgbClr val="0B1626">
                <a:alpha val="16000"/>
              </a:srgbClr>
            </a:outerShdw>
          </a:effectLst>
        </p:spPr>
        <p:txBody>
          <a:bodyPr/>
          <a:lstStyle/>
          <a:p>
            <a:endParaRPr lang="en-US"/>
          </a:p>
        </p:txBody>
      </p:sp>
      <p:sp>
        <p:nvSpPr>
          <p:cNvPr id="6" name="Text 4"/>
          <p:cNvSpPr/>
          <p:nvPr/>
        </p:nvSpPr>
        <p:spPr>
          <a:xfrm>
            <a:off x="886968" y="2633472"/>
            <a:ext cx="4297680" cy="457200"/>
          </a:xfrm>
          <a:prstGeom prst="rect">
            <a:avLst/>
          </a:prstGeom>
          <a:noFill/>
          <a:ln/>
        </p:spPr>
        <p:txBody>
          <a:bodyPr wrap="square" lIns="0" tIns="0" rIns="0" bIns="0" rtlCol="0" anchor="ctr"/>
          <a:lstStyle/>
          <a:p>
            <a:pPr marL="0" indent="0">
              <a:buNone/>
            </a:pPr>
            <a:r>
              <a:rPr lang="en-US" sz="1200" b="1" kern="0" spc="100" dirty="0">
                <a:solidFill>
                  <a:srgbClr val="C8A04B"/>
                </a:solidFill>
                <a:latin typeface="Calibri" pitchFamily="34" charset="0"/>
                <a:ea typeface="Calibri" pitchFamily="34" charset="-122"/>
                <a:cs typeface="Calibri" pitchFamily="34" charset="-120"/>
              </a:rPr>
              <a:t>AMBANG BIAYA  </a:t>
            </a:r>
            <a:r>
              <a:rPr lang="en-US" sz="2200" b="1" dirty="0">
                <a:solidFill>
                  <a:srgbClr val="FFFFFF"/>
                </a:solidFill>
                <a:latin typeface="Cambria" pitchFamily="34" charset="0"/>
                <a:ea typeface="Cambria" pitchFamily="34" charset="-122"/>
                <a:cs typeface="Cambria" pitchFamily="34" charset="-120"/>
              </a:rPr>
              <a:t>0,265</a:t>
            </a:r>
            <a:r>
              <a:rPr lang="en-US" sz="1300" b="1" dirty="0">
                <a:solidFill>
                  <a:srgbClr val="C8A04B"/>
                </a:solidFill>
                <a:latin typeface="Calibri" pitchFamily="34" charset="0"/>
                <a:ea typeface="Calibri" pitchFamily="34" charset="-122"/>
                <a:cs typeface="Calibri" pitchFamily="34" charset="-120"/>
              </a:rPr>
              <a:t>   ✓ DIPILIH</a:t>
            </a:r>
            <a:endParaRPr lang="en-US" sz="1200" dirty="0"/>
          </a:p>
        </p:txBody>
      </p:sp>
      <p:sp>
        <p:nvSpPr>
          <p:cNvPr id="7" name="Text 5"/>
          <p:cNvSpPr/>
          <p:nvPr/>
        </p:nvSpPr>
        <p:spPr>
          <a:xfrm>
            <a:off x="886968" y="3246120"/>
            <a:ext cx="1432560" cy="548640"/>
          </a:xfrm>
          <a:prstGeom prst="rect">
            <a:avLst/>
          </a:prstGeom>
          <a:noFill/>
          <a:ln/>
        </p:spPr>
        <p:txBody>
          <a:bodyPr wrap="square" lIns="0" tIns="0" rIns="0" bIns="0" rtlCol="0" anchor="ctr"/>
          <a:lstStyle/>
          <a:p>
            <a:pPr marL="0" indent="0" algn="ctr">
              <a:buNone/>
            </a:pPr>
            <a:r>
              <a:rPr lang="en-US" sz="2600" b="1" dirty="0">
                <a:solidFill>
                  <a:srgbClr val="C8A04B"/>
                </a:solidFill>
                <a:latin typeface="Cambria" pitchFamily="34" charset="0"/>
                <a:ea typeface="Cambria" pitchFamily="34" charset="-122"/>
                <a:cs typeface="Cambria" pitchFamily="34" charset="-120"/>
              </a:rPr>
              <a:t>0,957</a:t>
            </a:r>
            <a:endParaRPr lang="en-US" sz="2600" dirty="0"/>
          </a:p>
        </p:txBody>
      </p:sp>
      <p:sp>
        <p:nvSpPr>
          <p:cNvPr id="8" name="Text 6"/>
          <p:cNvSpPr/>
          <p:nvPr/>
        </p:nvSpPr>
        <p:spPr>
          <a:xfrm>
            <a:off x="886968" y="3794760"/>
            <a:ext cx="1432560" cy="274320"/>
          </a:xfrm>
          <a:prstGeom prst="rect">
            <a:avLst/>
          </a:prstGeom>
          <a:noFill/>
          <a:ln/>
        </p:spPr>
        <p:txBody>
          <a:bodyPr wrap="square" lIns="0" tIns="0" rIns="0" bIns="0" rtlCol="0" anchor="ctr"/>
          <a:lstStyle/>
          <a:p>
            <a:pPr marL="0" indent="0" algn="ctr">
              <a:buNone/>
            </a:pPr>
            <a:r>
              <a:rPr lang="en-US" sz="1100" dirty="0">
                <a:solidFill>
                  <a:srgbClr val="9FB0C7"/>
                </a:solidFill>
                <a:latin typeface="Calibri" pitchFamily="34" charset="0"/>
                <a:ea typeface="Calibri" pitchFamily="34" charset="-122"/>
                <a:cs typeface="Calibri" pitchFamily="34" charset="-120"/>
              </a:rPr>
              <a:t>Recall</a:t>
            </a:r>
            <a:endParaRPr lang="en-US" sz="1100" dirty="0"/>
          </a:p>
        </p:txBody>
      </p:sp>
      <p:sp>
        <p:nvSpPr>
          <p:cNvPr id="9" name="Text 7"/>
          <p:cNvSpPr/>
          <p:nvPr/>
        </p:nvSpPr>
        <p:spPr>
          <a:xfrm>
            <a:off x="2319528" y="3246120"/>
            <a:ext cx="1432560" cy="548640"/>
          </a:xfrm>
          <a:prstGeom prst="rect">
            <a:avLst/>
          </a:prstGeom>
          <a:noFill/>
          <a:ln/>
        </p:spPr>
        <p:txBody>
          <a:bodyPr wrap="square" lIns="0" tIns="0" rIns="0" bIns="0" rtlCol="0" anchor="ctr"/>
          <a:lstStyle/>
          <a:p>
            <a:pPr marL="0" indent="0" algn="ctr">
              <a:buNone/>
            </a:pPr>
            <a:r>
              <a:rPr lang="en-US" sz="2600" b="1" dirty="0">
                <a:solidFill>
                  <a:srgbClr val="C7D2E2"/>
                </a:solidFill>
                <a:latin typeface="Cambria" pitchFamily="34" charset="0"/>
                <a:ea typeface="Cambria" pitchFamily="34" charset="-122"/>
                <a:cs typeface="Cambria" pitchFamily="34" charset="-120"/>
              </a:rPr>
              <a:t>0,541</a:t>
            </a:r>
            <a:endParaRPr lang="en-US" sz="2600" dirty="0"/>
          </a:p>
        </p:txBody>
      </p:sp>
      <p:sp>
        <p:nvSpPr>
          <p:cNvPr id="10" name="Text 8"/>
          <p:cNvSpPr/>
          <p:nvPr/>
        </p:nvSpPr>
        <p:spPr>
          <a:xfrm>
            <a:off x="2319528" y="3794760"/>
            <a:ext cx="1432560" cy="274320"/>
          </a:xfrm>
          <a:prstGeom prst="rect">
            <a:avLst/>
          </a:prstGeom>
          <a:noFill/>
          <a:ln/>
        </p:spPr>
        <p:txBody>
          <a:bodyPr wrap="square" lIns="0" tIns="0" rIns="0" bIns="0" rtlCol="0" anchor="ctr"/>
          <a:lstStyle/>
          <a:p>
            <a:pPr marL="0" indent="0" algn="ctr">
              <a:buNone/>
            </a:pPr>
            <a:r>
              <a:rPr lang="en-US" sz="1100" dirty="0">
                <a:solidFill>
                  <a:srgbClr val="9FB0C7"/>
                </a:solidFill>
                <a:latin typeface="Calibri" pitchFamily="34" charset="0"/>
                <a:ea typeface="Calibri" pitchFamily="34" charset="-122"/>
                <a:cs typeface="Calibri" pitchFamily="34" charset="-120"/>
              </a:rPr>
              <a:t>Precision</a:t>
            </a:r>
            <a:endParaRPr lang="en-US" sz="1100" dirty="0"/>
          </a:p>
        </p:txBody>
      </p:sp>
      <p:sp>
        <p:nvSpPr>
          <p:cNvPr id="11" name="Text 9"/>
          <p:cNvSpPr/>
          <p:nvPr/>
        </p:nvSpPr>
        <p:spPr>
          <a:xfrm>
            <a:off x="3752088" y="3246120"/>
            <a:ext cx="1432560" cy="548640"/>
          </a:xfrm>
          <a:prstGeom prst="rect">
            <a:avLst/>
          </a:prstGeom>
          <a:noFill/>
          <a:ln/>
        </p:spPr>
        <p:txBody>
          <a:bodyPr wrap="square" lIns="0" tIns="0" rIns="0" bIns="0" rtlCol="0" anchor="ctr"/>
          <a:lstStyle/>
          <a:p>
            <a:pPr marL="0" indent="0" algn="ctr">
              <a:buNone/>
            </a:pPr>
            <a:r>
              <a:rPr lang="en-US" sz="2600" b="1" dirty="0">
                <a:solidFill>
                  <a:srgbClr val="C7D2E2"/>
                </a:solidFill>
                <a:latin typeface="Cambria" pitchFamily="34" charset="0"/>
                <a:ea typeface="Cambria" pitchFamily="34" charset="-122"/>
                <a:cs typeface="Cambria" pitchFamily="34" charset="-120"/>
              </a:rPr>
              <a:t>0,685</a:t>
            </a:r>
            <a:endParaRPr lang="en-US" sz="2600" dirty="0"/>
          </a:p>
        </p:txBody>
      </p:sp>
      <p:sp>
        <p:nvSpPr>
          <p:cNvPr id="12" name="Text 10"/>
          <p:cNvSpPr/>
          <p:nvPr/>
        </p:nvSpPr>
        <p:spPr>
          <a:xfrm>
            <a:off x="3752088" y="3794760"/>
            <a:ext cx="1432560" cy="274320"/>
          </a:xfrm>
          <a:prstGeom prst="rect">
            <a:avLst/>
          </a:prstGeom>
          <a:noFill/>
          <a:ln/>
        </p:spPr>
        <p:txBody>
          <a:bodyPr wrap="square" lIns="0" tIns="0" rIns="0" bIns="0" rtlCol="0" anchor="ctr"/>
          <a:lstStyle/>
          <a:p>
            <a:pPr marL="0" indent="0" algn="ctr">
              <a:buNone/>
            </a:pPr>
            <a:r>
              <a:rPr lang="en-US" sz="1100" dirty="0">
                <a:solidFill>
                  <a:srgbClr val="9FB0C7"/>
                </a:solidFill>
                <a:latin typeface="Calibri" pitchFamily="34" charset="0"/>
                <a:ea typeface="Calibri" pitchFamily="34" charset="-122"/>
                <a:cs typeface="Calibri" pitchFamily="34" charset="-120"/>
              </a:rPr>
              <a:t>Accuracy</a:t>
            </a:r>
            <a:endParaRPr lang="en-US" sz="1100" dirty="0"/>
          </a:p>
        </p:txBody>
      </p:sp>
      <p:sp>
        <p:nvSpPr>
          <p:cNvPr id="13" name="Text 11"/>
          <p:cNvSpPr/>
          <p:nvPr/>
        </p:nvSpPr>
        <p:spPr>
          <a:xfrm>
            <a:off x="886968" y="4160520"/>
            <a:ext cx="4297680" cy="594360"/>
          </a:xfrm>
          <a:prstGeom prst="rect">
            <a:avLst/>
          </a:prstGeom>
          <a:noFill/>
          <a:ln/>
        </p:spPr>
        <p:txBody>
          <a:bodyPr wrap="square" lIns="0" tIns="0" rIns="0" bIns="0" rtlCol="0" anchor="ctr"/>
          <a:lstStyle/>
          <a:p>
            <a:pPr marL="0" indent="0">
              <a:lnSpc>
                <a:spcPct val="108000"/>
              </a:lnSpc>
              <a:buNone/>
            </a:pPr>
            <a:r>
              <a:rPr lang="en-US" sz="1100" dirty="0">
                <a:solidFill>
                  <a:srgbClr val="DCE3EE"/>
                </a:solidFill>
                <a:latin typeface="Calibri" pitchFamily="34" charset="0"/>
                <a:ea typeface="Calibri" pitchFamily="34" charset="-122"/>
                <a:cs typeface="Calibri" pitchFamily="34" charset="-120"/>
              </a:rPr>
              <a:t>Menangkap ~96% pembatalan nyata. Hampir tak ada kamar kosong yang tak diantisipasi; salah alarm masih murah, jadi dapat ditoleransi.</a:t>
            </a:r>
            <a:endParaRPr lang="en-US" sz="1100" dirty="0"/>
          </a:p>
        </p:txBody>
      </p:sp>
      <p:sp>
        <p:nvSpPr>
          <p:cNvPr id="14" name="Shape 12"/>
          <p:cNvSpPr/>
          <p:nvPr/>
        </p:nvSpPr>
        <p:spPr>
          <a:xfrm>
            <a:off x="6053328" y="2377440"/>
            <a:ext cx="4937760" cy="2423160"/>
          </a:xfrm>
          <a:prstGeom prst="roundRect">
            <a:avLst>
              <a:gd name="adj" fmla="val 3019"/>
            </a:avLst>
          </a:prstGeom>
          <a:solidFill>
            <a:srgbClr val="F3F5F8"/>
          </a:solidFill>
          <a:ln w="12700">
            <a:solidFill>
              <a:srgbClr val="D7DDE6"/>
            </a:solidFill>
            <a:prstDash val="solid"/>
          </a:ln>
        </p:spPr>
        <p:txBody>
          <a:bodyPr/>
          <a:lstStyle/>
          <a:p>
            <a:endParaRPr lang="en-US"/>
          </a:p>
        </p:txBody>
      </p:sp>
      <p:sp>
        <p:nvSpPr>
          <p:cNvPr id="15" name="Text 13"/>
          <p:cNvSpPr/>
          <p:nvPr/>
        </p:nvSpPr>
        <p:spPr>
          <a:xfrm>
            <a:off x="6373368" y="2633472"/>
            <a:ext cx="4297680" cy="457200"/>
          </a:xfrm>
          <a:prstGeom prst="rect">
            <a:avLst/>
          </a:prstGeom>
          <a:noFill/>
          <a:ln/>
        </p:spPr>
        <p:txBody>
          <a:bodyPr wrap="square" lIns="0" tIns="0" rIns="0" bIns="0" rtlCol="0" anchor="ctr"/>
          <a:lstStyle/>
          <a:p>
            <a:pPr marL="0" indent="0">
              <a:buNone/>
            </a:pPr>
            <a:r>
              <a:rPr lang="en-US" sz="1200" b="1" kern="0" spc="100" dirty="0">
                <a:solidFill>
                  <a:srgbClr val="A6822F"/>
                </a:solidFill>
                <a:latin typeface="Calibri" pitchFamily="34" charset="0"/>
                <a:ea typeface="Calibri" pitchFamily="34" charset="-122"/>
                <a:cs typeface="Calibri" pitchFamily="34" charset="-120"/>
              </a:rPr>
              <a:t>AMBANG F1  </a:t>
            </a:r>
            <a:r>
              <a:rPr lang="en-US" sz="2200" b="1" dirty="0">
                <a:solidFill>
                  <a:srgbClr val="16253D"/>
                </a:solidFill>
                <a:latin typeface="Cambria" pitchFamily="34" charset="0"/>
                <a:ea typeface="Cambria" pitchFamily="34" charset="-122"/>
                <a:cs typeface="Cambria" pitchFamily="34" charset="-120"/>
              </a:rPr>
              <a:t>0,485</a:t>
            </a:r>
            <a:r>
              <a:rPr lang="en-US" sz="1300" dirty="0">
                <a:solidFill>
                  <a:srgbClr val="6B7785"/>
                </a:solidFill>
                <a:latin typeface="Calibri" pitchFamily="34" charset="0"/>
                <a:ea typeface="Calibri" pitchFamily="34" charset="-122"/>
                <a:cs typeface="Calibri" pitchFamily="34" charset="-120"/>
              </a:rPr>
              <a:t>   alternatif</a:t>
            </a:r>
            <a:endParaRPr lang="en-US" sz="1200" dirty="0"/>
          </a:p>
        </p:txBody>
      </p:sp>
      <p:sp>
        <p:nvSpPr>
          <p:cNvPr id="16" name="Text 14"/>
          <p:cNvSpPr/>
          <p:nvPr/>
        </p:nvSpPr>
        <p:spPr>
          <a:xfrm>
            <a:off x="6373368" y="3246120"/>
            <a:ext cx="1432560" cy="548640"/>
          </a:xfrm>
          <a:prstGeom prst="rect">
            <a:avLst/>
          </a:prstGeom>
          <a:noFill/>
          <a:ln/>
        </p:spPr>
        <p:txBody>
          <a:bodyPr wrap="square" lIns="0" tIns="0" rIns="0" bIns="0" rtlCol="0" anchor="ctr"/>
          <a:lstStyle/>
          <a:p>
            <a:pPr marL="0" indent="0" algn="ctr">
              <a:buNone/>
            </a:pPr>
            <a:r>
              <a:rPr lang="en-US" sz="2600" b="1" dirty="0">
                <a:solidFill>
                  <a:srgbClr val="16253D"/>
                </a:solidFill>
                <a:latin typeface="Cambria" pitchFamily="34" charset="0"/>
                <a:ea typeface="Cambria" pitchFamily="34" charset="-122"/>
                <a:cs typeface="Cambria" pitchFamily="34" charset="-120"/>
              </a:rPr>
              <a:t>0,800</a:t>
            </a:r>
            <a:endParaRPr lang="en-US" sz="2600" dirty="0"/>
          </a:p>
        </p:txBody>
      </p:sp>
      <p:sp>
        <p:nvSpPr>
          <p:cNvPr id="17" name="Text 15"/>
          <p:cNvSpPr/>
          <p:nvPr/>
        </p:nvSpPr>
        <p:spPr>
          <a:xfrm>
            <a:off x="6373368" y="3794760"/>
            <a:ext cx="1432560" cy="274320"/>
          </a:xfrm>
          <a:prstGeom prst="rect">
            <a:avLst/>
          </a:prstGeom>
          <a:noFill/>
          <a:ln/>
        </p:spPr>
        <p:txBody>
          <a:bodyPr wrap="square" lIns="0" tIns="0" rIns="0" bIns="0" rtlCol="0" anchor="ctr"/>
          <a:lstStyle/>
          <a:p>
            <a:pPr marL="0" indent="0" algn="ctr">
              <a:buNone/>
            </a:pPr>
            <a:r>
              <a:rPr lang="en-US" sz="1100" dirty="0">
                <a:solidFill>
                  <a:srgbClr val="6B7785"/>
                </a:solidFill>
                <a:latin typeface="Calibri" pitchFamily="34" charset="0"/>
                <a:ea typeface="Calibri" pitchFamily="34" charset="-122"/>
                <a:cs typeface="Calibri" pitchFamily="34" charset="-120"/>
              </a:rPr>
              <a:t>Recall</a:t>
            </a:r>
            <a:endParaRPr lang="en-US" sz="1100" dirty="0"/>
          </a:p>
        </p:txBody>
      </p:sp>
      <p:sp>
        <p:nvSpPr>
          <p:cNvPr id="18" name="Text 16"/>
          <p:cNvSpPr/>
          <p:nvPr/>
        </p:nvSpPr>
        <p:spPr>
          <a:xfrm>
            <a:off x="7805928" y="3246120"/>
            <a:ext cx="1432560" cy="548640"/>
          </a:xfrm>
          <a:prstGeom prst="rect">
            <a:avLst/>
          </a:prstGeom>
          <a:noFill/>
          <a:ln/>
        </p:spPr>
        <p:txBody>
          <a:bodyPr wrap="square" lIns="0" tIns="0" rIns="0" bIns="0" rtlCol="0" anchor="ctr"/>
          <a:lstStyle/>
          <a:p>
            <a:pPr marL="0" indent="0" algn="ctr">
              <a:buNone/>
            </a:pPr>
            <a:r>
              <a:rPr lang="en-US" sz="2600" b="1" dirty="0">
                <a:solidFill>
                  <a:srgbClr val="16253D"/>
                </a:solidFill>
                <a:latin typeface="Cambria" pitchFamily="34" charset="0"/>
                <a:ea typeface="Cambria" pitchFamily="34" charset="-122"/>
                <a:cs typeface="Cambria" pitchFamily="34" charset="-120"/>
              </a:rPr>
              <a:t>0,696</a:t>
            </a:r>
            <a:endParaRPr lang="en-US" sz="2600" dirty="0"/>
          </a:p>
        </p:txBody>
      </p:sp>
      <p:sp>
        <p:nvSpPr>
          <p:cNvPr id="19" name="Text 17"/>
          <p:cNvSpPr/>
          <p:nvPr/>
        </p:nvSpPr>
        <p:spPr>
          <a:xfrm>
            <a:off x="7805928" y="3794760"/>
            <a:ext cx="1432560" cy="274320"/>
          </a:xfrm>
          <a:prstGeom prst="rect">
            <a:avLst/>
          </a:prstGeom>
          <a:noFill/>
          <a:ln/>
        </p:spPr>
        <p:txBody>
          <a:bodyPr wrap="square" lIns="0" tIns="0" rIns="0" bIns="0" rtlCol="0" anchor="ctr"/>
          <a:lstStyle/>
          <a:p>
            <a:pPr marL="0" indent="0" algn="ctr">
              <a:buNone/>
            </a:pPr>
            <a:r>
              <a:rPr lang="en-US" sz="1100" dirty="0">
                <a:solidFill>
                  <a:srgbClr val="6B7785"/>
                </a:solidFill>
                <a:latin typeface="Calibri" pitchFamily="34" charset="0"/>
                <a:ea typeface="Calibri" pitchFamily="34" charset="-122"/>
                <a:cs typeface="Calibri" pitchFamily="34" charset="-120"/>
              </a:rPr>
              <a:t>Precision</a:t>
            </a:r>
            <a:endParaRPr lang="en-US" sz="1100" dirty="0"/>
          </a:p>
        </p:txBody>
      </p:sp>
      <p:sp>
        <p:nvSpPr>
          <p:cNvPr id="20" name="Text 18"/>
          <p:cNvSpPr/>
          <p:nvPr/>
        </p:nvSpPr>
        <p:spPr>
          <a:xfrm>
            <a:off x="9238488" y="3246120"/>
            <a:ext cx="1432560" cy="548640"/>
          </a:xfrm>
          <a:prstGeom prst="rect">
            <a:avLst/>
          </a:prstGeom>
          <a:noFill/>
          <a:ln/>
        </p:spPr>
        <p:txBody>
          <a:bodyPr wrap="square" lIns="0" tIns="0" rIns="0" bIns="0" rtlCol="0" anchor="ctr"/>
          <a:lstStyle/>
          <a:p>
            <a:pPr marL="0" indent="0" algn="ctr">
              <a:buNone/>
            </a:pPr>
            <a:r>
              <a:rPr lang="en-US" sz="2600" b="1" dirty="0">
                <a:solidFill>
                  <a:srgbClr val="A6822F"/>
                </a:solidFill>
                <a:latin typeface="Cambria" pitchFamily="34" charset="0"/>
                <a:ea typeface="Cambria" pitchFamily="34" charset="-122"/>
                <a:cs typeface="Cambria" pitchFamily="34" charset="-120"/>
              </a:rPr>
              <a:t>0,745</a:t>
            </a:r>
            <a:endParaRPr lang="en-US" sz="2600" dirty="0"/>
          </a:p>
        </p:txBody>
      </p:sp>
      <p:sp>
        <p:nvSpPr>
          <p:cNvPr id="21" name="Text 19"/>
          <p:cNvSpPr/>
          <p:nvPr/>
        </p:nvSpPr>
        <p:spPr>
          <a:xfrm>
            <a:off x="9238488" y="3794760"/>
            <a:ext cx="1432560" cy="274320"/>
          </a:xfrm>
          <a:prstGeom prst="rect">
            <a:avLst/>
          </a:prstGeom>
          <a:noFill/>
          <a:ln/>
        </p:spPr>
        <p:txBody>
          <a:bodyPr wrap="square" lIns="0" tIns="0" rIns="0" bIns="0" rtlCol="0" anchor="ctr"/>
          <a:lstStyle/>
          <a:p>
            <a:pPr marL="0" indent="0" algn="ctr">
              <a:buNone/>
            </a:pPr>
            <a:r>
              <a:rPr lang="en-US" sz="1100" dirty="0">
                <a:solidFill>
                  <a:srgbClr val="6B7785"/>
                </a:solidFill>
                <a:latin typeface="Calibri" pitchFamily="34" charset="0"/>
                <a:ea typeface="Calibri" pitchFamily="34" charset="-122"/>
                <a:cs typeface="Calibri" pitchFamily="34" charset="-120"/>
              </a:rPr>
              <a:t>F1</a:t>
            </a:r>
            <a:endParaRPr lang="en-US" sz="1100" dirty="0"/>
          </a:p>
        </p:txBody>
      </p:sp>
      <p:sp>
        <p:nvSpPr>
          <p:cNvPr id="22" name="Text 20"/>
          <p:cNvSpPr/>
          <p:nvPr/>
        </p:nvSpPr>
        <p:spPr>
          <a:xfrm>
            <a:off x="6373368" y="4160520"/>
            <a:ext cx="4297680" cy="594360"/>
          </a:xfrm>
          <a:prstGeom prst="rect">
            <a:avLst/>
          </a:prstGeom>
          <a:noFill/>
          <a:ln/>
        </p:spPr>
        <p:txBody>
          <a:bodyPr wrap="square" lIns="0" tIns="0" rIns="0" bIns="0" rtlCol="0" anchor="ctr"/>
          <a:lstStyle/>
          <a:p>
            <a:pPr marL="0" indent="0">
              <a:lnSpc>
                <a:spcPct val="108000"/>
              </a:lnSpc>
              <a:buNone/>
            </a:pPr>
            <a:r>
              <a:rPr lang="en-US" sz="1100" dirty="0">
                <a:solidFill>
                  <a:srgbClr val="1F2A3A"/>
                </a:solidFill>
                <a:latin typeface="Calibri" pitchFamily="34" charset="0"/>
                <a:ea typeface="Calibri" pitchFamily="34" charset="-122"/>
                <a:cs typeface="Calibri" pitchFamily="34" charset="-120"/>
              </a:rPr>
              <a:t>F1 tertinggi &amp; keseimbangan precision–recall terbaik. Tepat bila biaya FP dan FN dianggap setara — tetapi di sini FN jauh lebih mahal.</a:t>
            </a:r>
            <a:endParaRPr lang="en-US" sz="1100" dirty="0"/>
          </a:p>
        </p:txBody>
      </p:sp>
      <p:sp>
        <p:nvSpPr>
          <p:cNvPr id="23" name="Text 21"/>
          <p:cNvSpPr/>
          <p:nvPr/>
        </p:nvSpPr>
        <p:spPr>
          <a:xfrm>
            <a:off x="566928" y="5029200"/>
            <a:ext cx="11027664" cy="457200"/>
          </a:xfrm>
          <a:prstGeom prst="rect">
            <a:avLst/>
          </a:prstGeom>
          <a:noFill/>
          <a:ln/>
        </p:spPr>
        <p:txBody>
          <a:bodyPr wrap="square" lIns="0" tIns="0" rIns="0" bIns="0" rtlCol="0" anchor="ctr"/>
          <a:lstStyle/>
          <a:p>
            <a:pPr marL="0" indent="0" algn="ctr">
              <a:buNone/>
            </a:pPr>
            <a:r>
              <a:rPr lang="en-US" sz="1200" i="1" dirty="0">
                <a:solidFill>
                  <a:srgbClr val="A6822F"/>
                </a:solidFill>
                <a:latin typeface="Calibri" pitchFamily="34" charset="0"/>
                <a:ea typeface="Calibri" pitchFamily="34" charset="-122"/>
                <a:cs typeface="Calibri" pitchFamily="34" charset="-120"/>
              </a:rPr>
              <a:t>Karena melewatkan pembatalan jauh lebih mahal daripada salah alarm, kita memilih recall tinggi pada ambang 0,265.</a:t>
            </a:r>
            <a:endParaRPr lang="en-US" sz="1200" dirty="0"/>
          </a:p>
        </p:txBody>
      </p:sp>
      <p:sp>
        <p:nvSpPr>
          <p:cNvPr id="24" name="Text 22"/>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MODEL INTEPRETATION</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Fitur apa yang sebenarnya menggerakkan prediksi?</a:t>
            </a:r>
            <a:endParaRPr lang="en-US" sz="3000" dirty="0"/>
          </a:p>
        </p:txBody>
      </p:sp>
      <p:sp>
        <p:nvSpPr>
          <p:cNvPr id="4" name="Text 2"/>
          <p:cNvSpPr/>
          <p:nvPr/>
        </p:nvSpPr>
        <p:spPr>
          <a:xfrm>
            <a:off x="566928" y="1645920"/>
            <a:ext cx="11027664" cy="457200"/>
          </a:xfrm>
          <a:prstGeom prst="rect">
            <a:avLst/>
          </a:prstGeom>
          <a:noFill/>
          <a:ln/>
        </p:spPr>
        <p:txBody>
          <a:bodyPr wrap="square" lIns="0" tIns="0" rIns="0" bIns="0" rtlCol="0" anchor="ctr"/>
          <a:lstStyle/>
          <a:p>
            <a:pPr marL="0" indent="0">
              <a:lnSpc>
                <a:spcPct val="110000"/>
              </a:lnSpc>
              <a:buNone/>
            </a:pPr>
            <a:r>
              <a:rPr lang="en-US" sz="1250" dirty="0">
                <a:solidFill>
                  <a:srgbClr val="1F2A3A"/>
                </a:solidFill>
                <a:latin typeface="Calibri" pitchFamily="34" charset="0"/>
                <a:ea typeface="Calibri" pitchFamily="34" charset="-122"/>
                <a:cs typeface="Calibri" pitchFamily="34" charset="-120"/>
              </a:rPr>
              <a:t>Permutation importance — seberapa besar F1 turun ketika tiap fitur diacak. Semakin besar penurunan, semakin penting fitur tersebut.</a:t>
            </a:r>
            <a:endParaRPr lang="en-US" sz="1250" dirty="0"/>
          </a:p>
        </p:txBody>
      </p:sp>
      <p:sp>
        <p:nvSpPr>
          <p:cNvPr id="5" name="Shape 3"/>
          <p:cNvSpPr/>
          <p:nvPr/>
        </p:nvSpPr>
        <p:spPr>
          <a:xfrm>
            <a:off x="566928" y="2286000"/>
            <a:ext cx="11027664" cy="658368"/>
          </a:xfrm>
          <a:prstGeom prst="roundRect">
            <a:avLst>
              <a:gd name="adj" fmla="val 972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6" name="Shape 4"/>
          <p:cNvSpPr/>
          <p:nvPr/>
        </p:nvSpPr>
        <p:spPr>
          <a:xfrm>
            <a:off x="731520" y="2404872"/>
            <a:ext cx="420624" cy="420624"/>
          </a:xfrm>
          <a:prstGeom prst="ellipse">
            <a:avLst/>
          </a:prstGeom>
          <a:solidFill>
            <a:srgbClr val="C8A04B"/>
          </a:solidFill>
          <a:ln/>
        </p:spPr>
        <p:txBody>
          <a:bodyPr/>
          <a:lstStyle/>
          <a:p>
            <a:endParaRPr lang="en-US"/>
          </a:p>
        </p:txBody>
      </p:sp>
      <p:sp>
        <p:nvSpPr>
          <p:cNvPr id="7" name="Text 5"/>
          <p:cNvSpPr/>
          <p:nvPr/>
        </p:nvSpPr>
        <p:spPr>
          <a:xfrm>
            <a:off x="731520" y="2404872"/>
            <a:ext cx="420624" cy="420624"/>
          </a:xfrm>
          <a:prstGeom prst="rect">
            <a:avLst/>
          </a:prstGeom>
          <a:noFill/>
          <a:ln/>
        </p:spPr>
        <p:txBody>
          <a:bodyPr wrap="square" lIns="0" tIns="0" rIns="0" bIns="0" rtlCol="0" anchor="ctr"/>
          <a:lstStyle/>
          <a:p>
            <a:pPr marL="0" indent="0" algn="ctr">
              <a:buNone/>
            </a:pPr>
            <a:r>
              <a:rPr lang="en-US" sz="1300" b="1" dirty="0">
                <a:solidFill>
                  <a:srgbClr val="16253D"/>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298448" y="2286000"/>
            <a:ext cx="3108960" cy="658368"/>
          </a:xfrm>
          <a:prstGeom prst="rect">
            <a:avLst/>
          </a:prstGeom>
          <a:noFill/>
          <a:ln/>
        </p:spPr>
        <p:txBody>
          <a:bodyPr wrap="square" lIns="0" tIns="0" rIns="0" bIns="0" rtlCol="0" anchor="ctr"/>
          <a:lstStyle/>
          <a:p>
            <a:pPr marL="0" indent="0">
              <a:buNone/>
            </a:pPr>
            <a:r>
              <a:rPr lang="en-US" sz="1350" b="1" dirty="0">
                <a:solidFill>
                  <a:srgbClr val="A6822F"/>
                </a:solidFill>
                <a:latin typeface="Courier New" pitchFamily="34" charset="0"/>
                <a:ea typeface="Courier New" pitchFamily="34" charset="-122"/>
                <a:cs typeface="Courier New" pitchFamily="34" charset="-120"/>
              </a:rPr>
              <a:t>deposit_type</a:t>
            </a:r>
            <a:endParaRPr lang="en-US" sz="1350" dirty="0"/>
          </a:p>
        </p:txBody>
      </p:sp>
      <p:sp>
        <p:nvSpPr>
          <p:cNvPr id="9" name="Text 7"/>
          <p:cNvSpPr/>
          <p:nvPr/>
        </p:nvSpPr>
        <p:spPr>
          <a:xfrm>
            <a:off x="4498848" y="2286000"/>
            <a:ext cx="6912864" cy="658368"/>
          </a:xfrm>
          <a:prstGeom prst="rect">
            <a:avLst/>
          </a:prstGeom>
          <a:noFill/>
          <a:ln/>
        </p:spPr>
        <p:txBody>
          <a:bodyPr wrap="square" lIns="0" tIns="0" rIns="0" bIns="0" rtlCol="0" anchor="ctr"/>
          <a:lstStyle/>
          <a:p>
            <a:pPr marL="0" indent="0">
              <a:lnSpc>
                <a:spcPct val="100000"/>
              </a:lnSpc>
              <a:buNone/>
            </a:pPr>
            <a:r>
              <a:rPr lang="en-US" sz="1200" dirty="0">
                <a:solidFill>
                  <a:srgbClr val="1F2A3A"/>
                </a:solidFill>
                <a:latin typeface="Calibri" pitchFamily="34" charset="0"/>
                <a:ea typeface="Calibri" pitchFamily="34" charset="-122"/>
                <a:cs typeface="Calibri" pitchFamily="34" charset="-120"/>
              </a:rPr>
              <a:t>Jenis deposit — Non-Refund hampir selalu batal (pendorong terkuat)</a:t>
            </a:r>
            <a:endParaRPr lang="en-US" sz="1200" dirty="0"/>
          </a:p>
        </p:txBody>
      </p:sp>
      <p:sp>
        <p:nvSpPr>
          <p:cNvPr id="10" name="Shape 8"/>
          <p:cNvSpPr/>
          <p:nvPr/>
        </p:nvSpPr>
        <p:spPr>
          <a:xfrm>
            <a:off x="566928" y="3072384"/>
            <a:ext cx="11027664" cy="658368"/>
          </a:xfrm>
          <a:prstGeom prst="roundRect">
            <a:avLst>
              <a:gd name="adj" fmla="val 972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1" name="Shape 9"/>
          <p:cNvSpPr/>
          <p:nvPr/>
        </p:nvSpPr>
        <p:spPr>
          <a:xfrm>
            <a:off x="731520" y="3191256"/>
            <a:ext cx="420624" cy="420624"/>
          </a:xfrm>
          <a:prstGeom prst="ellipse">
            <a:avLst/>
          </a:prstGeom>
          <a:solidFill>
            <a:srgbClr val="16253D"/>
          </a:solidFill>
          <a:ln/>
        </p:spPr>
        <p:txBody>
          <a:bodyPr/>
          <a:lstStyle/>
          <a:p>
            <a:endParaRPr lang="en-US"/>
          </a:p>
        </p:txBody>
      </p:sp>
      <p:sp>
        <p:nvSpPr>
          <p:cNvPr id="12" name="Text 10"/>
          <p:cNvSpPr/>
          <p:nvPr/>
        </p:nvSpPr>
        <p:spPr>
          <a:xfrm>
            <a:off x="731520" y="3191256"/>
            <a:ext cx="420624" cy="420624"/>
          </a:xfrm>
          <a:prstGeom prst="rect">
            <a:avLst/>
          </a:prstGeom>
          <a:noFill/>
          <a:ln/>
        </p:spPr>
        <p:txBody>
          <a:bodyPr wrap="square" lIns="0" tIns="0" rIns="0" bIns="0" rtlCol="0" anchor="ctr"/>
          <a:lstStyle/>
          <a:p>
            <a:pPr marL="0" indent="0" algn="ctr">
              <a:buNone/>
            </a:pPr>
            <a:r>
              <a:rPr lang="en-US" sz="1300" b="1" dirty="0">
                <a:solidFill>
                  <a:srgbClr val="C8A04B"/>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298448" y="3072384"/>
            <a:ext cx="3108960" cy="658368"/>
          </a:xfrm>
          <a:prstGeom prst="rect">
            <a:avLst/>
          </a:prstGeom>
          <a:noFill/>
          <a:ln/>
        </p:spPr>
        <p:txBody>
          <a:bodyPr wrap="square" lIns="0" tIns="0" rIns="0" bIns="0" rtlCol="0" anchor="ctr"/>
          <a:lstStyle/>
          <a:p>
            <a:pPr marL="0" indent="0">
              <a:buNone/>
            </a:pPr>
            <a:r>
              <a:rPr lang="en-US" sz="1350" b="1" dirty="0">
                <a:solidFill>
                  <a:srgbClr val="16253D"/>
                </a:solidFill>
                <a:latin typeface="Courier New" pitchFamily="34" charset="0"/>
                <a:ea typeface="Courier New" pitchFamily="34" charset="-122"/>
                <a:cs typeface="Courier New" pitchFamily="34" charset="-120"/>
              </a:rPr>
              <a:t>market_segment</a:t>
            </a:r>
            <a:endParaRPr lang="en-US" sz="1350" dirty="0"/>
          </a:p>
        </p:txBody>
      </p:sp>
      <p:sp>
        <p:nvSpPr>
          <p:cNvPr id="14" name="Text 12"/>
          <p:cNvSpPr/>
          <p:nvPr/>
        </p:nvSpPr>
        <p:spPr>
          <a:xfrm>
            <a:off x="4498848" y="3072384"/>
            <a:ext cx="6912864" cy="658368"/>
          </a:xfrm>
          <a:prstGeom prst="rect">
            <a:avLst/>
          </a:prstGeom>
          <a:noFill/>
          <a:ln/>
        </p:spPr>
        <p:txBody>
          <a:bodyPr wrap="square" lIns="0" tIns="0" rIns="0" bIns="0" rtlCol="0" anchor="ctr"/>
          <a:lstStyle/>
          <a:p>
            <a:pPr marL="0" indent="0">
              <a:lnSpc>
                <a:spcPct val="100000"/>
              </a:lnSpc>
              <a:buNone/>
            </a:pPr>
            <a:r>
              <a:rPr lang="en-US" sz="1200" dirty="0">
                <a:solidFill>
                  <a:srgbClr val="1F2A3A"/>
                </a:solidFill>
                <a:latin typeface="Calibri" pitchFamily="34" charset="0"/>
                <a:ea typeface="Calibri" pitchFamily="34" charset="-122"/>
                <a:cs typeface="Calibri" pitchFamily="34" charset="-120"/>
              </a:rPr>
              <a:t>Kanal pemesanan — Groups &amp; Online TA berbeda perilaku</a:t>
            </a:r>
            <a:endParaRPr lang="en-US" sz="1200" dirty="0"/>
          </a:p>
        </p:txBody>
      </p:sp>
      <p:sp>
        <p:nvSpPr>
          <p:cNvPr id="15" name="Shape 13"/>
          <p:cNvSpPr/>
          <p:nvPr/>
        </p:nvSpPr>
        <p:spPr>
          <a:xfrm>
            <a:off x="566928" y="3858768"/>
            <a:ext cx="11027664" cy="658368"/>
          </a:xfrm>
          <a:prstGeom prst="roundRect">
            <a:avLst>
              <a:gd name="adj" fmla="val 972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6" name="Shape 14"/>
          <p:cNvSpPr/>
          <p:nvPr/>
        </p:nvSpPr>
        <p:spPr>
          <a:xfrm>
            <a:off x="731520" y="3977640"/>
            <a:ext cx="420624" cy="420624"/>
          </a:xfrm>
          <a:prstGeom prst="ellipse">
            <a:avLst/>
          </a:prstGeom>
          <a:solidFill>
            <a:srgbClr val="16253D"/>
          </a:solidFill>
          <a:ln/>
        </p:spPr>
        <p:txBody>
          <a:bodyPr/>
          <a:lstStyle/>
          <a:p>
            <a:endParaRPr lang="en-US"/>
          </a:p>
        </p:txBody>
      </p:sp>
      <p:sp>
        <p:nvSpPr>
          <p:cNvPr id="17" name="Text 15"/>
          <p:cNvSpPr/>
          <p:nvPr/>
        </p:nvSpPr>
        <p:spPr>
          <a:xfrm>
            <a:off x="731520" y="3977640"/>
            <a:ext cx="420624" cy="420624"/>
          </a:xfrm>
          <a:prstGeom prst="rect">
            <a:avLst/>
          </a:prstGeom>
          <a:noFill/>
          <a:ln/>
        </p:spPr>
        <p:txBody>
          <a:bodyPr wrap="square" lIns="0" tIns="0" rIns="0" bIns="0" rtlCol="0" anchor="ctr"/>
          <a:lstStyle/>
          <a:p>
            <a:pPr marL="0" indent="0" algn="ctr">
              <a:buNone/>
            </a:pPr>
            <a:r>
              <a:rPr lang="en-US" sz="1300" b="1" dirty="0">
                <a:solidFill>
                  <a:srgbClr val="C8A04B"/>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1298448" y="3858768"/>
            <a:ext cx="3108960" cy="658368"/>
          </a:xfrm>
          <a:prstGeom prst="rect">
            <a:avLst/>
          </a:prstGeom>
          <a:noFill/>
          <a:ln/>
        </p:spPr>
        <p:txBody>
          <a:bodyPr wrap="square" lIns="0" tIns="0" rIns="0" bIns="0" rtlCol="0" anchor="ctr"/>
          <a:lstStyle/>
          <a:p>
            <a:pPr marL="0" indent="0">
              <a:buNone/>
            </a:pPr>
            <a:r>
              <a:rPr lang="en-US" sz="1350" b="1" dirty="0">
                <a:solidFill>
                  <a:srgbClr val="16253D"/>
                </a:solidFill>
                <a:latin typeface="Courier New" pitchFamily="34" charset="0"/>
                <a:ea typeface="Courier New" pitchFamily="34" charset="-122"/>
                <a:cs typeface="Courier New" pitchFamily="34" charset="-120"/>
              </a:rPr>
              <a:t>total_of_special_requests</a:t>
            </a:r>
            <a:endParaRPr lang="en-US" sz="1350" dirty="0"/>
          </a:p>
        </p:txBody>
      </p:sp>
      <p:sp>
        <p:nvSpPr>
          <p:cNvPr id="19" name="Text 17"/>
          <p:cNvSpPr/>
          <p:nvPr/>
        </p:nvSpPr>
        <p:spPr>
          <a:xfrm>
            <a:off x="4498848" y="3858768"/>
            <a:ext cx="6912864" cy="658368"/>
          </a:xfrm>
          <a:prstGeom prst="rect">
            <a:avLst/>
          </a:prstGeom>
          <a:noFill/>
          <a:ln/>
        </p:spPr>
        <p:txBody>
          <a:bodyPr wrap="square" lIns="0" tIns="0" rIns="0" bIns="0" rtlCol="0" anchor="ctr"/>
          <a:lstStyle/>
          <a:p>
            <a:pPr marL="0" indent="0">
              <a:lnSpc>
                <a:spcPct val="100000"/>
              </a:lnSpc>
              <a:buNone/>
            </a:pPr>
            <a:r>
              <a:rPr lang="en-US" sz="1200" dirty="0">
                <a:solidFill>
                  <a:srgbClr val="1F2A3A"/>
                </a:solidFill>
                <a:latin typeface="Calibri" pitchFamily="34" charset="0"/>
                <a:ea typeface="Calibri" pitchFamily="34" charset="-122"/>
                <a:cs typeface="Calibri" pitchFamily="34" charset="-120"/>
              </a:rPr>
              <a:t>Jumlah permintaan khusus — proksi komitmen tamu</a:t>
            </a:r>
            <a:endParaRPr lang="en-US" sz="1200" dirty="0"/>
          </a:p>
        </p:txBody>
      </p:sp>
      <p:sp>
        <p:nvSpPr>
          <p:cNvPr id="20" name="Shape 18"/>
          <p:cNvSpPr/>
          <p:nvPr/>
        </p:nvSpPr>
        <p:spPr>
          <a:xfrm>
            <a:off x="566928" y="4645152"/>
            <a:ext cx="11027664" cy="658368"/>
          </a:xfrm>
          <a:prstGeom prst="roundRect">
            <a:avLst>
              <a:gd name="adj" fmla="val 972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1" name="Shape 19"/>
          <p:cNvSpPr/>
          <p:nvPr/>
        </p:nvSpPr>
        <p:spPr>
          <a:xfrm>
            <a:off x="731520" y="4764024"/>
            <a:ext cx="420624" cy="420624"/>
          </a:xfrm>
          <a:prstGeom prst="ellipse">
            <a:avLst/>
          </a:prstGeom>
          <a:solidFill>
            <a:srgbClr val="16253D"/>
          </a:solidFill>
          <a:ln/>
        </p:spPr>
        <p:txBody>
          <a:bodyPr/>
          <a:lstStyle/>
          <a:p>
            <a:endParaRPr lang="en-US"/>
          </a:p>
        </p:txBody>
      </p:sp>
      <p:sp>
        <p:nvSpPr>
          <p:cNvPr id="22" name="Text 20"/>
          <p:cNvSpPr/>
          <p:nvPr/>
        </p:nvSpPr>
        <p:spPr>
          <a:xfrm>
            <a:off x="731520" y="4764024"/>
            <a:ext cx="420624" cy="420624"/>
          </a:xfrm>
          <a:prstGeom prst="rect">
            <a:avLst/>
          </a:prstGeom>
          <a:noFill/>
          <a:ln/>
        </p:spPr>
        <p:txBody>
          <a:bodyPr wrap="square" lIns="0" tIns="0" rIns="0" bIns="0" rtlCol="0" anchor="ctr"/>
          <a:lstStyle/>
          <a:p>
            <a:pPr marL="0" indent="0" algn="ctr">
              <a:buNone/>
            </a:pPr>
            <a:r>
              <a:rPr lang="en-US" sz="1300" b="1" dirty="0">
                <a:solidFill>
                  <a:srgbClr val="C8A04B"/>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1298448" y="4645152"/>
            <a:ext cx="3108960" cy="658368"/>
          </a:xfrm>
          <a:prstGeom prst="rect">
            <a:avLst/>
          </a:prstGeom>
          <a:noFill/>
          <a:ln/>
        </p:spPr>
        <p:txBody>
          <a:bodyPr wrap="square" lIns="0" tIns="0" rIns="0" bIns="0" rtlCol="0" anchor="ctr"/>
          <a:lstStyle/>
          <a:p>
            <a:pPr marL="0" indent="0">
              <a:buNone/>
            </a:pPr>
            <a:r>
              <a:rPr lang="en-US" sz="1350" b="1" dirty="0">
                <a:solidFill>
                  <a:srgbClr val="16253D"/>
                </a:solidFill>
                <a:latin typeface="Courier New" pitchFamily="34" charset="0"/>
                <a:ea typeface="Courier New" pitchFamily="34" charset="-122"/>
                <a:cs typeface="Courier New" pitchFamily="34" charset="-120"/>
              </a:rPr>
              <a:t>is_domestic</a:t>
            </a:r>
            <a:endParaRPr lang="en-US" sz="1350" dirty="0"/>
          </a:p>
        </p:txBody>
      </p:sp>
      <p:sp>
        <p:nvSpPr>
          <p:cNvPr id="24" name="Text 22"/>
          <p:cNvSpPr/>
          <p:nvPr/>
        </p:nvSpPr>
        <p:spPr>
          <a:xfrm>
            <a:off x="4498848" y="4645152"/>
            <a:ext cx="6912864" cy="658368"/>
          </a:xfrm>
          <a:prstGeom prst="rect">
            <a:avLst/>
          </a:prstGeom>
          <a:noFill/>
          <a:ln/>
        </p:spPr>
        <p:txBody>
          <a:bodyPr wrap="square" lIns="0" tIns="0" rIns="0" bIns="0" rtlCol="0" anchor="ctr"/>
          <a:lstStyle/>
          <a:p>
            <a:pPr marL="0" indent="0">
              <a:lnSpc>
                <a:spcPct val="100000"/>
              </a:lnSpc>
              <a:buNone/>
            </a:pPr>
            <a:r>
              <a:rPr lang="en-US" sz="1200" dirty="0">
                <a:solidFill>
                  <a:srgbClr val="1F2A3A"/>
                </a:solidFill>
                <a:latin typeface="Calibri" pitchFamily="34" charset="0"/>
                <a:ea typeface="Calibri" pitchFamily="34" charset="-122"/>
                <a:cs typeface="Calibri" pitchFamily="34" charset="-120"/>
              </a:rPr>
              <a:t>Tamu domestik (PRT) — pola pembatalan berbeda</a:t>
            </a:r>
            <a:endParaRPr lang="en-US" sz="1200" dirty="0"/>
          </a:p>
        </p:txBody>
      </p:sp>
      <p:sp>
        <p:nvSpPr>
          <p:cNvPr id="25" name="Shape 23"/>
          <p:cNvSpPr/>
          <p:nvPr/>
        </p:nvSpPr>
        <p:spPr>
          <a:xfrm>
            <a:off x="566928" y="5431536"/>
            <a:ext cx="11027664" cy="658368"/>
          </a:xfrm>
          <a:prstGeom prst="roundRect">
            <a:avLst>
              <a:gd name="adj" fmla="val 9722"/>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6" name="Shape 24"/>
          <p:cNvSpPr/>
          <p:nvPr/>
        </p:nvSpPr>
        <p:spPr>
          <a:xfrm>
            <a:off x="731520" y="5550408"/>
            <a:ext cx="420624" cy="420624"/>
          </a:xfrm>
          <a:prstGeom prst="ellipse">
            <a:avLst/>
          </a:prstGeom>
          <a:solidFill>
            <a:srgbClr val="16253D"/>
          </a:solidFill>
          <a:ln/>
        </p:spPr>
        <p:txBody>
          <a:bodyPr/>
          <a:lstStyle/>
          <a:p>
            <a:endParaRPr lang="en-US"/>
          </a:p>
        </p:txBody>
      </p:sp>
      <p:sp>
        <p:nvSpPr>
          <p:cNvPr id="27" name="Text 25"/>
          <p:cNvSpPr/>
          <p:nvPr/>
        </p:nvSpPr>
        <p:spPr>
          <a:xfrm>
            <a:off x="731520" y="5550408"/>
            <a:ext cx="420624" cy="420624"/>
          </a:xfrm>
          <a:prstGeom prst="rect">
            <a:avLst/>
          </a:prstGeom>
          <a:noFill/>
          <a:ln/>
        </p:spPr>
        <p:txBody>
          <a:bodyPr wrap="square" lIns="0" tIns="0" rIns="0" bIns="0" rtlCol="0" anchor="ctr"/>
          <a:lstStyle/>
          <a:p>
            <a:pPr marL="0" indent="0" algn="ctr">
              <a:buNone/>
            </a:pPr>
            <a:r>
              <a:rPr lang="en-US" sz="1300" b="1" dirty="0">
                <a:solidFill>
                  <a:srgbClr val="C8A04B"/>
                </a:solidFill>
                <a:latin typeface="Cambria" pitchFamily="34" charset="0"/>
                <a:ea typeface="Cambria" pitchFamily="34" charset="-122"/>
                <a:cs typeface="Cambria" pitchFamily="34" charset="-120"/>
              </a:rPr>
              <a:t>#5</a:t>
            </a:r>
            <a:endParaRPr lang="en-US" sz="1300" dirty="0"/>
          </a:p>
        </p:txBody>
      </p:sp>
      <p:sp>
        <p:nvSpPr>
          <p:cNvPr id="28" name="Text 26"/>
          <p:cNvSpPr/>
          <p:nvPr/>
        </p:nvSpPr>
        <p:spPr>
          <a:xfrm>
            <a:off x="1298448" y="5431536"/>
            <a:ext cx="3108960" cy="658368"/>
          </a:xfrm>
          <a:prstGeom prst="rect">
            <a:avLst/>
          </a:prstGeom>
          <a:noFill/>
          <a:ln/>
        </p:spPr>
        <p:txBody>
          <a:bodyPr wrap="square" lIns="0" tIns="0" rIns="0" bIns="0" rtlCol="0" anchor="ctr"/>
          <a:lstStyle/>
          <a:p>
            <a:pPr marL="0" indent="0">
              <a:buNone/>
            </a:pPr>
            <a:r>
              <a:rPr lang="en-US" sz="1350" b="1" dirty="0">
                <a:solidFill>
                  <a:srgbClr val="16253D"/>
                </a:solidFill>
                <a:latin typeface="Courier New" pitchFamily="34" charset="0"/>
                <a:ea typeface="Courier New" pitchFamily="34" charset="-122"/>
                <a:cs typeface="Courier New" pitchFamily="34" charset="-120"/>
              </a:rPr>
              <a:t>customer_type</a:t>
            </a:r>
            <a:endParaRPr lang="en-US" sz="1350" dirty="0"/>
          </a:p>
        </p:txBody>
      </p:sp>
      <p:sp>
        <p:nvSpPr>
          <p:cNvPr id="29" name="Text 27"/>
          <p:cNvSpPr/>
          <p:nvPr/>
        </p:nvSpPr>
        <p:spPr>
          <a:xfrm>
            <a:off x="4498848" y="5431536"/>
            <a:ext cx="6912864" cy="658368"/>
          </a:xfrm>
          <a:prstGeom prst="rect">
            <a:avLst/>
          </a:prstGeom>
          <a:noFill/>
          <a:ln/>
        </p:spPr>
        <p:txBody>
          <a:bodyPr wrap="square" lIns="0" tIns="0" rIns="0" bIns="0" rtlCol="0" anchor="ctr"/>
          <a:lstStyle/>
          <a:p>
            <a:pPr marL="0" indent="0">
              <a:lnSpc>
                <a:spcPct val="100000"/>
              </a:lnSpc>
              <a:buNone/>
            </a:pPr>
            <a:r>
              <a:rPr lang="en-US" sz="1200" dirty="0">
                <a:solidFill>
                  <a:srgbClr val="1F2A3A"/>
                </a:solidFill>
                <a:latin typeface="Calibri" pitchFamily="34" charset="0"/>
                <a:ea typeface="Calibri" pitchFamily="34" charset="-122"/>
                <a:cs typeface="Calibri" pitchFamily="34" charset="-120"/>
              </a:rPr>
              <a:t>Transient vs Contract/Group</a:t>
            </a:r>
            <a:endParaRPr lang="en-US" sz="1200" dirty="0"/>
          </a:p>
        </p:txBody>
      </p:sp>
      <p:sp>
        <p:nvSpPr>
          <p:cNvPr id="30" name="Text 28"/>
          <p:cNvSpPr/>
          <p:nvPr/>
        </p:nvSpPr>
        <p:spPr>
          <a:xfrm>
            <a:off x="566928" y="6263640"/>
            <a:ext cx="11027664" cy="502920"/>
          </a:xfrm>
          <a:prstGeom prst="rect">
            <a:avLst/>
          </a:prstGeom>
          <a:noFill/>
          <a:ln/>
        </p:spPr>
        <p:txBody>
          <a:bodyPr wrap="square" lIns="0" tIns="0" rIns="0" bIns="0" rtlCol="0" anchor="ctr"/>
          <a:lstStyle/>
          <a:p>
            <a:pPr marL="0" indent="0">
              <a:lnSpc>
                <a:spcPct val="105000"/>
              </a:lnSpc>
              <a:buNone/>
            </a:pPr>
            <a:r>
              <a:rPr lang="en-US" sz="1100" i="1" dirty="0">
                <a:solidFill>
                  <a:srgbClr val="6B7785"/>
                </a:solidFill>
                <a:latin typeface="Calibri" pitchFamily="34" charset="0"/>
                <a:ea typeface="Calibri" pitchFamily="34" charset="-122"/>
                <a:cs typeface="Calibri" pitchFamily="34" charset="-120"/>
              </a:rPr>
              <a:t>Konsisten dengan temuan EDA. Catatan: dominasi deposit_type bersifat hampir deterministik di data ini — perlu divalidasi sebelum jadi dasar kebijakan (lihat Limitasi).</a:t>
            </a:r>
            <a:endParaRPr lang="en-US" sz="1100" dirty="0"/>
          </a:p>
        </p:txBody>
      </p:sp>
      <p:sp>
        <p:nvSpPr>
          <p:cNvPr id="31" name="Text 29"/>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MODEL LIMITATION</a:t>
            </a:r>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Batas yang harus disadari sebelum dipakai</a:t>
            </a:r>
            <a:endParaRPr lang="en-US" sz="3000" dirty="0"/>
          </a:p>
        </p:txBody>
      </p:sp>
      <p:sp>
        <p:nvSpPr>
          <p:cNvPr id="4" name="Shape 2"/>
          <p:cNvSpPr/>
          <p:nvPr/>
        </p:nvSpPr>
        <p:spPr>
          <a:xfrm>
            <a:off x="566928" y="1691640"/>
            <a:ext cx="3432048" cy="2103120"/>
          </a:xfrm>
          <a:prstGeom prst="roundRect">
            <a:avLst>
              <a:gd name="adj" fmla="val 3043"/>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5" name="Shape 3"/>
          <p:cNvSpPr/>
          <p:nvPr/>
        </p:nvSpPr>
        <p:spPr>
          <a:xfrm>
            <a:off x="795528" y="1920240"/>
            <a:ext cx="502920" cy="502920"/>
          </a:xfrm>
          <a:prstGeom prst="ellipse">
            <a:avLst/>
          </a:prstGeom>
          <a:solidFill>
            <a:srgbClr val="C2554A"/>
          </a:solidFill>
          <a:ln/>
        </p:spPr>
        <p:txBody>
          <a:bodyPr/>
          <a:lstStyle/>
          <a:p>
            <a:endParaRPr lang="en-US"/>
          </a:p>
        </p:txBody>
      </p:sp>
      <p:sp>
        <p:nvSpPr>
          <p:cNvPr id="6" name="Text 4"/>
          <p:cNvSpPr/>
          <p:nvPr/>
        </p:nvSpPr>
        <p:spPr>
          <a:xfrm>
            <a:off x="795528" y="1920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35608" y="1920240"/>
            <a:ext cx="2380488" cy="548640"/>
          </a:xfrm>
          <a:prstGeom prst="rect">
            <a:avLst/>
          </a:prstGeom>
          <a:noFill/>
          <a:ln/>
        </p:spPr>
        <p:txBody>
          <a:bodyPr wrap="square" lIns="0" tIns="0" rIns="0" bIns="0" rtlCol="0" anchor="ctr"/>
          <a:lstStyle/>
          <a:p>
            <a:pPr marL="0" indent="0">
              <a:lnSpc>
                <a:spcPct val="100000"/>
              </a:lnSpc>
              <a:buNone/>
            </a:pPr>
            <a:r>
              <a:rPr lang="en-US" sz="1400" b="1" dirty="0">
                <a:solidFill>
                  <a:srgbClr val="16253D"/>
                </a:solidFill>
                <a:latin typeface="Calibri" pitchFamily="34" charset="0"/>
                <a:ea typeface="Calibri" pitchFamily="34" charset="-122"/>
                <a:cs typeface="Calibri" pitchFamily="34" charset="-120"/>
              </a:rPr>
              <a:t>Hanya 11 kolom</a:t>
            </a:r>
            <a:endParaRPr lang="en-US" sz="1400" dirty="0"/>
          </a:p>
        </p:txBody>
      </p:sp>
      <p:sp>
        <p:nvSpPr>
          <p:cNvPr id="8" name="Text 6"/>
          <p:cNvSpPr/>
          <p:nvPr/>
        </p:nvSpPr>
        <p:spPr>
          <a:xfrm>
            <a:off x="822960" y="2560320"/>
            <a:ext cx="2919984" cy="1097280"/>
          </a:xfrm>
          <a:prstGeom prst="rect">
            <a:avLst/>
          </a:prstGeom>
          <a:noFill/>
          <a:ln/>
        </p:spPr>
        <p:txBody>
          <a:bodyPr wrap="square" lIns="0" tIns="0" rIns="0" bIns="0" rtlCol="0" anchor="t"/>
          <a:lstStyle/>
          <a:p>
            <a:pPr marL="0" indent="0">
              <a:lnSpc>
                <a:spcPct val="112000"/>
              </a:lnSpc>
              <a:buNone/>
            </a:pPr>
            <a:r>
              <a:rPr lang="en-US" sz="1200" dirty="0">
                <a:solidFill>
                  <a:srgbClr val="1F2A3A"/>
                </a:solidFill>
                <a:latin typeface="Calibri" pitchFamily="34" charset="0"/>
                <a:ea typeface="Calibri" pitchFamily="34" charset="-122"/>
                <a:cs typeface="Calibri" pitchFamily="34" charset="-120"/>
              </a:rPr>
              <a:t>Model bisa lebih baik bila ada fitur waktu, lama menginap, dan harga kamar.</a:t>
            </a:r>
            <a:endParaRPr lang="en-US" sz="1200" dirty="0"/>
          </a:p>
        </p:txBody>
      </p:sp>
      <p:sp>
        <p:nvSpPr>
          <p:cNvPr id="9" name="Shape 7"/>
          <p:cNvSpPr/>
          <p:nvPr/>
        </p:nvSpPr>
        <p:spPr>
          <a:xfrm>
            <a:off x="4364736" y="1691640"/>
            <a:ext cx="3432048" cy="2103120"/>
          </a:xfrm>
          <a:prstGeom prst="roundRect">
            <a:avLst>
              <a:gd name="adj" fmla="val 3043"/>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0" name="Shape 8"/>
          <p:cNvSpPr/>
          <p:nvPr/>
        </p:nvSpPr>
        <p:spPr>
          <a:xfrm>
            <a:off x="4593336" y="1920240"/>
            <a:ext cx="502920" cy="502920"/>
          </a:xfrm>
          <a:prstGeom prst="ellipse">
            <a:avLst/>
          </a:prstGeom>
          <a:solidFill>
            <a:srgbClr val="C2554A"/>
          </a:solidFill>
          <a:ln/>
        </p:spPr>
        <p:txBody>
          <a:bodyPr/>
          <a:lstStyle/>
          <a:p>
            <a:endParaRPr lang="en-US"/>
          </a:p>
        </p:txBody>
      </p:sp>
      <p:sp>
        <p:nvSpPr>
          <p:cNvPr id="11" name="Text 9"/>
          <p:cNvSpPr/>
          <p:nvPr/>
        </p:nvSpPr>
        <p:spPr>
          <a:xfrm>
            <a:off x="4593336" y="1920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5233416" y="1920240"/>
            <a:ext cx="2380488" cy="548640"/>
          </a:xfrm>
          <a:prstGeom prst="rect">
            <a:avLst/>
          </a:prstGeom>
          <a:noFill/>
          <a:ln/>
        </p:spPr>
        <p:txBody>
          <a:bodyPr wrap="square" lIns="0" tIns="0" rIns="0" bIns="0" rtlCol="0" anchor="ctr"/>
          <a:lstStyle/>
          <a:p>
            <a:pPr marL="0" indent="0">
              <a:lnSpc>
                <a:spcPct val="100000"/>
              </a:lnSpc>
              <a:buNone/>
            </a:pPr>
            <a:r>
              <a:rPr lang="en-US" sz="1400" b="1" dirty="0">
                <a:solidFill>
                  <a:srgbClr val="16253D"/>
                </a:solidFill>
                <a:latin typeface="Calibri" pitchFamily="34" charset="0"/>
                <a:ea typeface="Calibri" pitchFamily="34" charset="-122"/>
                <a:cs typeface="Calibri" pitchFamily="34" charset="-120"/>
              </a:rPr>
              <a:t>Bias populasi &amp; waktu</a:t>
            </a:r>
            <a:endParaRPr lang="en-US" sz="1400" dirty="0"/>
          </a:p>
        </p:txBody>
      </p:sp>
      <p:sp>
        <p:nvSpPr>
          <p:cNvPr id="13" name="Text 11"/>
          <p:cNvSpPr/>
          <p:nvPr/>
        </p:nvSpPr>
        <p:spPr>
          <a:xfrm>
            <a:off x="4620768" y="2560320"/>
            <a:ext cx="2919984" cy="1097280"/>
          </a:xfrm>
          <a:prstGeom prst="rect">
            <a:avLst/>
          </a:prstGeom>
          <a:noFill/>
          <a:ln/>
        </p:spPr>
        <p:txBody>
          <a:bodyPr wrap="square" lIns="0" tIns="0" rIns="0" bIns="0" rtlCol="0" anchor="t"/>
          <a:lstStyle/>
          <a:p>
            <a:pPr marL="0" indent="0">
              <a:lnSpc>
                <a:spcPct val="112000"/>
              </a:lnSpc>
              <a:buNone/>
            </a:pPr>
            <a:r>
              <a:rPr lang="en-US" sz="1200" dirty="0">
                <a:solidFill>
                  <a:srgbClr val="1F2A3A"/>
                </a:solidFill>
                <a:latin typeface="Calibri" pitchFamily="34" charset="0"/>
                <a:ea typeface="Calibri" pitchFamily="34" charset="-122"/>
                <a:cs typeface="Calibri" pitchFamily="34" charset="-120"/>
              </a:rPr>
              <a:t>Data dari satu hotel di Portugal, periode tidak diketahui. Belum tentu berlaku untuk wilayah/kelas/musim lain.</a:t>
            </a:r>
            <a:endParaRPr lang="en-US" sz="1200" dirty="0"/>
          </a:p>
        </p:txBody>
      </p:sp>
      <p:sp>
        <p:nvSpPr>
          <p:cNvPr id="14" name="Shape 12"/>
          <p:cNvSpPr/>
          <p:nvPr/>
        </p:nvSpPr>
        <p:spPr>
          <a:xfrm>
            <a:off x="8162544" y="1691640"/>
            <a:ext cx="3432048" cy="2103120"/>
          </a:xfrm>
          <a:prstGeom prst="roundRect">
            <a:avLst>
              <a:gd name="adj" fmla="val 3043"/>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5" name="Shape 13"/>
          <p:cNvSpPr/>
          <p:nvPr/>
        </p:nvSpPr>
        <p:spPr>
          <a:xfrm>
            <a:off x="8391144" y="1920240"/>
            <a:ext cx="502920" cy="502920"/>
          </a:xfrm>
          <a:prstGeom prst="ellipse">
            <a:avLst/>
          </a:prstGeom>
          <a:solidFill>
            <a:srgbClr val="C2554A"/>
          </a:solidFill>
          <a:ln/>
        </p:spPr>
        <p:txBody>
          <a:bodyPr/>
          <a:lstStyle/>
          <a:p>
            <a:endParaRPr lang="en-US"/>
          </a:p>
        </p:txBody>
      </p:sp>
      <p:sp>
        <p:nvSpPr>
          <p:cNvPr id="16" name="Text 14"/>
          <p:cNvSpPr/>
          <p:nvPr/>
        </p:nvSpPr>
        <p:spPr>
          <a:xfrm>
            <a:off x="8391144" y="19202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9031224" y="1920240"/>
            <a:ext cx="2380488" cy="548640"/>
          </a:xfrm>
          <a:prstGeom prst="rect">
            <a:avLst/>
          </a:prstGeom>
          <a:noFill/>
          <a:ln/>
        </p:spPr>
        <p:txBody>
          <a:bodyPr wrap="square" lIns="0" tIns="0" rIns="0" bIns="0" rtlCol="0" anchor="ctr"/>
          <a:lstStyle/>
          <a:p>
            <a:pPr marL="0" indent="0">
              <a:lnSpc>
                <a:spcPct val="100000"/>
              </a:lnSpc>
              <a:buNone/>
            </a:pPr>
            <a:r>
              <a:rPr lang="en-US" sz="1400" b="1" dirty="0">
                <a:solidFill>
                  <a:srgbClr val="16253D"/>
                </a:solidFill>
                <a:latin typeface="Calibri" pitchFamily="34" charset="0"/>
                <a:ea typeface="Calibri" pitchFamily="34" charset="-122"/>
                <a:cs typeface="Calibri" pitchFamily="34" charset="-120"/>
              </a:rPr>
              <a:t>Sinyal Non-Refund mencurigakan</a:t>
            </a:r>
            <a:endParaRPr lang="en-US" sz="1400" dirty="0"/>
          </a:p>
        </p:txBody>
      </p:sp>
      <p:sp>
        <p:nvSpPr>
          <p:cNvPr id="18" name="Text 16"/>
          <p:cNvSpPr/>
          <p:nvPr/>
        </p:nvSpPr>
        <p:spPr>
          <a:xfrm>
            <a:off x="8418576" y="2560320"/>
            <a:ext cx="2919984" cy="1097280"/>
          </a:xfrm>
          <a:prstGeom prst="rect">
            <a:avLst/>
          </a:prstGeom>
          <a:noFill/>
          <a:ln/>
        </p:spPr>
        <p:txBody>
          <a:bodyPr wrap="square" lIns="0" tIns="0" rIns="0" bIns="0" rtlCol="0" anchor="t"/>
          <a:lstStyle/>
          <a:p>
            <a:pPr marL="0" indent="0">
              <a:lnSpc>
                <a:spcPct val="112000"/>
              </a:lnSpc>
              <a:buNone/>
            </a:pPr>
            <a:r>
              <a:rPr lang="en-US" sz="1200" dirty="0">
                <a:solidFill>
                  <a:srgbClr val="1F2A3A"/>
                </a:solidFill>
                <a:latin typeface="Calibri" pitchFamily="34" charset="0"/>
                <a:ea typeface="Calibri" pitchFamily="34" charset="-122"/>
                <a:cs typeface="Calibri" pitchFamily="34" charset="-120"/>
              </a:rPr>
              <a:t>Pendorong terkuat, tetapi hampir selalu berakhir batal di data ini. Belum tentu bertahan pada data baru.</a:t>
            </a:r>
            <a:endParaRPr lang="en-US" sz="1200" dirty="0"/>
          </a:p>
        </p:txBody>
      </p:sp>
      <p:sp>
        <p:nvSpPr>
          <p:cNvPr id="19" name="Shape 17"/>
          <p:cNvSpPr/>
          <p:nvPr/>
        </p:nvSpPr>
        <p:spPr>
          <a:xfrm>
            <a:off x="566928" y="4114800"/>
            <a:ext cx="5330952" cy="1417320"/>
          </a:xfrm>
          <a:prstGeom prst="roundRect">
            <a:avLst>
              <a:gd name="adj" fmla="val 4516"/>
            </a:avLst>
          </a:prstGeom>
          <a:solidFill>
            <a:srgbClr val="EAF2EE"/>
          </a:solidFill>
          <a:ln w="12700">
            <a:solidFill>
              <a:srgbClr val="2E6E5E"/>
            </a:solidFill>
            <a:prstDash val="solid"/>
          </a:ln>
        </p:spPr>
        <p:txBody>
          <a:bodyPr/>
          <a:lstStyle/>
          <a:p>
            <a:endParaRPr lang="en-US"/>
          </a:p>
        </p:txBody>
      </p:sp>
      <p:pic>
        <p:nvPicPr>
          <p:cNvPr id="20" name="Image 0" descr="preencoded.png"/>
          <p:cNvPicPr>
            <a:picLocks noChangeAspect="1"/>
          </p:cNvPicPr>
          <p:nvPr/>
        </p:nvPicPr>
        <p:blipFill>
          <a:blip r:embed="rId3"/>
          <a:stretch>
            <a:fillRect/>
          </a:stretch>
        </p:blipFill>
        <p:spPr>
          <a:xfrm>
            <a:off x="822960" y="4370832"/>
            <a:ext cx="365760" cy="365760"/>
          </a:xfrm>
          <a:prstGeom prst="rect">
            <a:avLst/>
          </a:prstGeom>
        </p:spPr>
      </p:pic>
      <p:sp>
        <p:nvSpPr>
          <p:cNvPr id="21" name="Text 18"/>
          <p:cNvSpPr/>
          <p:nvPr/>
        </p:nvSpPr>
        <p:spPr>
          <a:xfrm>
            <a:off x="1298448" y="4352544"/>
            <a:ext cx="4416552" cy="365760"/>
          </a:xfrm>
          <a:prstGeom prst="rect">
            <a:avLst/>
          </a:prstGeom>
          <a:noFill/>
          <a:ln/>
        </p:spPr>
        <p:txBody>
          <a:bodyPr wrap="square" lIns="0" tIns="0" rIns="0" bIns="0" rtlCol="0" anchor="ctr"/>
          <a:lstStyle/>
          <a:p>
            <a:pPr marL="0" indent="0">
              <a:buNone/>
            </a:pPr>
            <a:r>
              <a:rPr lang="en-US" sz="1400" b="1" dirty="0">
                <a:solidFill>
                  <a:srgbClr val="2E6E5E"/>
                </a:solidFill>
                <a:latin typeface="Calibri" pitchFamily="34" charset="0"/>
                <a:ea typeface="Calibri" pitchFamily="34" charset="-122"/>
                <a:cs typeface="Calibri" pitchFamily="34" charset="-120"/>
              </a:rPr>
              <a:t>Dipercaya jika</a:t>
            </a:r>
            <a:endParaRPr lang="en-US" sz="1400" dirty="0"/>
          </a:p>
        </p:txBody>
      </p:sp>
      <p:sp>
        <p:nvSpPr>
          <p:cNvPr id="22" name="Text 19"/>
          <p:cNvSpPr/>
          <p:nvPr/>
        </p:nvSpPr>
        <p:spPr>
          <a:xfrm>
            <a:off x="841248" y="4828032"/>
            <a:ext cx="4782312" cy="640080"/>
          </a:xfrm>
          <a:prstGeom prst="rect">
            <a:avLst/>
          </a:prstGeom>
          <a:noFill/>
          <a:ln/>
        </p:spPr>
        <p:txBody>
          <a:bodyPr wrap="square" lIns="0" tIns="0" rIns="0" bIns="0" rtlCol="0" anchor="ctr"/>
          <a:lstStyle/>
          <a:p>
            <a:pPr marL="0" indent="0">
              <a:lnSpc>
                <a:spcPct val="110000"/>
              </a:lnSpc>
              <a:buNone/>
            </a:pPr>
            <a:r>
              <a:rPr lang="en-US" sz="1200" dirty="0">
                <a:solidFill>
                  <a:srgbClr val="1F2A3A"/>
                </a:solidFill>
                <a:latin typeface="Calibri" pitchFamily="34" charset="0"/>
                <a:ea typeface="Calibri" pitchFamily="34" charset="-122"/>
                <a:cs typeface="Calibri" pitchFamily="34" charset="-120"/>
              </a:rPr>
              <a:t>Segmen umum, negara bervolume besar, dan pola standar yang mirip data latih.</a:t>
            </a:r>
            <a:endParaRPr lang="en-US" sz="1200" dirty="0"/>
          </a:p>
        </p:txBody>
      </p:sp>
      <p:sp>
        <p:nvSpPr>
          <p:cNvPr id="23" name="Shape 20"/>
          <p:cNvSpPr/>
          <p:nvPr/>
        </p:nvSpPr>
        <p:spPr>
          <a:xfrm>
            <a:off x="6263640" y="4114800"/>
            <a:ext cx="5330952" cy="1417320"/>
          </a:xfrm>
          <a:prstGeom prst="roundRect">
            <a:avLst>
              <a:gd name="adj" fmla="val 4516"/>
            </a:avLst>
          </a:prstGeom>
          <a:solidFill>
            <a:srgbClr val="F7ECEA"/>
          </a:solidFill>
          <a:ln w="12700">
            <a:solidFill>
              <a:srgbClr val="C2554A"/>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6519672" y="4370832"/>
            <a:ext cx="365760" cy="365760"/>
          </a:xfrm>
          <a:prstGeom prst="rect">
            <a:avLst/>
          </a:prstGeom>
        </p:spPr>
      </p:pic>
      <p:sp>
        <p:nvSpPr>
          <p:cNvPr id="25" name="Text 21"/>
          <p:cNvSpPr/>
          <p:nvPr/>
        </p:nvSpPr>
        <p:spPr>
          <a:xfrm>
            <a:off x="6995160" y="4352544"/>
            <a:ext cx="4416552" cy="365760"/>
          </a:xfrm>
          <a:prstGeom prst="rect">
            <a:avLst/>
          </a:prstGeom>
          <a:noFill/>
          <a:ln/>
        </p:spPr>
        <p:txBody>
          <a:bodyPr wrap="square" lIns="0" tIns="0" rIns="0" bIns="0" rtlCol="0" anchor="ctr"/>
          <a:lstStyle/>
          <a:p>
            <a:pPr marL="0" indent="0">
              <a:buNone/>
            </a:pPr>
            <a:r>
              <a:rPr lang="en-US" sz="1400" b="1" dirty="0">
                <a:solidFill>
                  <a:srgbClr val="C2554A"/>
                </a:solidFill>
                <a:latin typeface="Calibri" pitchFamily="34" charset="0"/>
                <a:ea typeface="Calibri" pitchFamily="34" charset="-122"/>
                <a:cs typeface="Calibri" pitchFamily="34" charset="-120"/>
              </a:rPr>
              <a:t>Kurang dipercaya jika</a:t>
            </a:r>
            <a:endParaRPr lang="en-US" sz="1400" dirty="0"/>
          </a:p>
        </p:txBody>
      </p:sp>
      <p:sp>
        <p:nvSpPr>
          <p:cNvPr id="26" name="Text 22"/>
          <p:cNvSpPr/>
          <p:nvPr/>
        </p:nvSpPr>
        <p:spPr>
          <a:xfrm>
            <a:off x="6537960" y="4828032"/>
            <a:ext cx="4782312" cy="640080"/>
          </a:xfrm>
          <a:prstGeom prst="rect">
            <a:avLst/>
          </a:prstGeom>
          <a:noFill/>
          <a:ln/>
        </p:spPr>
        <p:txBody>
          <a:bodyPr wrap="square" lIns="0" tIns="0" rIns="0" bIns="0" rtlCol="0" anchor="ctr"/>
          <a:lstStyle/>
          <a:p>
            <a:pPr marL="0" indent="0">
              <a:lnSpc>
                <a:spcPct val="110000"/>
              </a:lnSpc>
              <a:buNone/>
            </a:pPr>
            <a:r>
              <a:rPr lang="en-US" sz="1200" dirty="0">
                <a:solidFill>
                  <a:srgbClr val="1F2A3A"/>
                </a:solidFill>
                <a:latin typeface="Calibri" pitchFamily="34" charset="0"/>
                <a:ea typeface="Calibri" pitchFamily="34" charset="-122"/>
                <a:cs typeface="Calibri" pitchFamily="34" charset="-120"/>
              </a:rPr>
              <a:t>Negara bervolume kecil, segmen pasar baru, atau periode dengan kondisi yang sangat berbeda.</a:t>
            </a:r>
            <a:endParaRPr lang="en-US" sz="1200" dirty="0"/>
          </a:p>
        </p:txBody>
      </p:sp>
      <p:sp>
        <p:nvSpPr>
          <p:cNvPr id="27" name="Text 23"/>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DAMPAK BISNIS</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Dari skor risiko menjadi keputusan &amp; pendapatan</a:t>
            </a:r>
            <a:endParaRPr lang="en-US" sz="3000" dirty="0"/>
          </a:p>
        </p:txBody>
      </p:sp>
      <p:sp>
        <p:nvSpPr>
          <p:cNvPr id="4" name="Text 2"/>
          <p:cNvSpPr/>
          <p:nvPr/>
        </p:nvSpPr>
        <p:spPr>
          <a:xfrm>
            <a:off x="566928" y="1627632"/>
            <a:ext cx="11027664" cy="502920"/>
          </a:xfrm>
          <a:prstGeom prst="rect">
            <a:avLst/>
          </a:prstGeom>
          <a:noFill/>
          <a:ln/>
        </p:spPr>
        <p:txBody>
          <a:bodyPr wrap="square" lIns="0" tIns="0" rIns="0" bIns="0" rtlCol="0" anchor="ctr"/>
          <a:lstStyle/>
          <a:p>
            <a:pPr marL="0" indent="0">
              <a:lnSpc>
                <a:spcPct val="110000"/>
              </a:lnSpc>
              <a:buNone/>
            </a:pPr>
            <a:r>
              <a:rPr lang="en-US" sz="1250" dirty="0">
                <a:solidFill>
                  <a:srgbClr val="1F2A3A"/>
                </a:solidFill>
                <a:latin typeface="Calibri" pitchFamily="34" charset="0"/>
                <a:ea typeface="Calibri" pitchFamily="34" charset="-122"/>
                <a:cs typeface="Calibri" pitchFamily="34" charset="-120"/>
              </a:rPr>
              <a:t>Inti idenya: model mengubah setiap pemesanan menjadi skor risiko pembatalan (0–100%), sehingga keputusan yang dulu mengandalkan firasat kini dapat diarahkan oleh data.</a:t>
            </a:r>
            <a:endParaRPr lang="en-US" sz="1250" dirty="0"/>
          </a:p>
        </p:txBody>
      </p:sp>
      <p:sp>
        <p:nvSpPr>
          <p:cNvPr id="5" name="Shape 3"/>
          <p:cNvSpPr/>
          <p:nvPr/>
        </p:nvSpPr>
        <p:spPr>
          <a:xfrm>
            <a:off x="566928" y="2240280"/>
            <a:ext cx="2551176" cy="1691640"/>
          </a:xfrm>
          <a:prstGeom prst="roundRect">
            <a:avLst>
              <a:gd name="adj" fmla="val 3784"/>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6" name="Shape 4"/>
          <p:cNvSpPr/>
          <p:nvPr/>
        </p:nvSpPr>
        <p:spPr>
          <a:xfrm>
            <a:off x="1549908" y="2441448"/>
            <a:ext cx="585216" cy="585216"/>
          </a:xfrm>
          <a:prstGeom prst="ellipse">
            <a:avLst/>
          </a:prstGeom>
          <a:solidFill>
            <a:srgbClr val="F3F5F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668780" y="2560320"/>
            <a:ext cx="347472" cy="347472"/>
          </a:xfrm>
          <a:prstGeom prst="rect">
            <a:avLst/>
          </a:prstGeom>
        </p:spPr>
      </p:pic>
      <p:sp>
        <p:nvSpPr>
          <p:cNvPr id="8" name="Text 5"/>
          <p:cNvSpPr/>
          <p:nvPr/>
        </p:nvSpPr>
        <p:spPr>
          <a:xfrm>
            <a:off x="704088" y="3108960"/>
            <a:ext cx="2276856" cy="320040"/>
          </a:xfrm>
          <a:prstGeom prst="rect">
            <a:avLst/>
          </a:prstGeom>
          <a:noFill/>
          <a:ln/>
        </p:spPr>
        <p:txBody>
          <a:bodyPr wrap="square" lIns="0" tIns="0" rIns="0" bIns="0" rtlCol="0" anchor="ctr"/>
          <a:lstStyle/>
          <a:p>
            <a:pPr marL="0" indent="0" algn="ctr">
              <a:buNone/>
            </a:pPr>
            <a:r>
              <a:rPr lang="en-US" sz="1300" b="1" dirty="0">
                <a:solidFill>
                  <a:srgbClr val="16253D"/>
                </a:solidFill>
                <a:latin typeface="Calibri" pitchFamily="34" charset="0"/>
                <a:ea typeface="Calibri" pitchFamily="34" charset="-122"/>
                <a:cs typeface="Calibri" pitchFamily="34" charset="-120"/>
              </a:rPr>
              <a:t>Revenue Manager</a:t>
            </a:r>
            <a:endParaRPr lang="en-US" sz="1300" dirty="0"/>
          </a:p>
        </p:txBody>
      </p:sp>
      <p:sp>
        <p:nvSpPr>
          <p:cNvPr id="9" name="Text 6"/>
          <p:cNvSpPr/>
          <p:nvPr/>
        </p:nvSpPr>
        <p:spPr>
          <a:xfrm>
            <a:off x="731520" y="3429000"/>
            <a:ext cx="2221992" cy="457200"/>
          </a:xfrm>
          <a:prstGeom prst="rect">
            <a:avLst/>
          </a:prstGeom>
          <a:noFill/>
          <a:ln/>
        </p:spPr>
        <p:txBody>
          <a:bodyPr wrap="square" lIns="0" tIns="0" rIns="0" bIns="0" rtlCol="0" anchor="ctr"/>
          <a:lstStyle/>
          <a:p>
            <a:pPr marL="0" indent="0" algn="ctr">
              <a:lnSpc>
                <a:spcPct val="100000"/>
              </a:lnSpc>
              <a:buNone/>
            </a:pPr>
            <a:r>
              <a:rPr lang="en-US" sz="1030" dirty="0">
                <a:solidFill>
                  <a:srgbClr val="1F2A3A"/>
                </a:solidFill>
                <a:latin typeface="Calibri" pitchFamily="34" charset="0"/>
                <a:ea typeface="Calibri" pitchFamily="34" charset="-122"/>
                <a:cs typeface="Calibri" pitchFamily="34" charset="-120"/>
              </a:rPr>
              <a:t>Kalibrasi tingkat overbooking dari total risiko portofolio.</a:t>
            </a:r>
            <a:endParaRPr lang="en-US" sz="1030" dirty="0"/>
          </a:p>
        </p:txBody>
      </p:sp>
      <p:sp>
        <p:nvSpPr>
          <p:cNvPr id="10" name="Shape 7"/>
          <p:cNvSpPr/>
          <p:nvPr/>
        </p:nvSpPr>
        <p:spPr>
          <a:xfrm>
            <a:off x="3392424" y="2240280"/>
            <a:ext cx="2551176" cy="1691640"/>
          </a:xfrm>
          <a:prstGeom prst="roundRect">
            <a:avLst>
              <a:gd name="adj" fmla="val 3784"/>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1" name="Shape 8"/>
          <p:cNvSpPr/>
          <p:nvPr/>
        </p:nvSpPr>
        <p:spPr>
          <a:xfrm>
            <a:off x="4375404" y="2441448"/>
            <a:ext cx="585216" cy="585216"/>
          </a:xfrm>
          <a:prstGeom prst="ellipse">
            <a:avLst/>
          </a:prstGeom>
          <a:solidFill>
            <a:srgbClr val="F3F5F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494276" y="2560320"/>
            <a:ext cx="347472" cy="347472"/>
          </a:xfrm>
          <a:prstGeom prst="rect">
            <a:avLst/>
          </a:prstGeom>
        </p:spPr>
      </p:pic>
      <p:sp>
        <p:nvSpPr>
          <p:cNvPr id="13" name="Text 9"/>
          <p:cNvSpPr/>
          <p:nvPr/>
        </p:nvSpPr>
        <p:spPr>
          <a:xfrm>
            <a:off x="3529584" y="3108960"/>
            <a:ext cx="2276856" cy="320040"/>
          </a:xfrm>
          <a:prstGeom prst="rect">
            <a:avLst/>
          </a:prstGeom>
          <a:noFill/>
          <a:ln/>
        </p:spPr>
        <p:txBody>
          <a:bodyPr wrap="square" lIns="0" tIns="0" rIns="0" bIns="0" rtlCol="0" anchor="ctr"/>
          <a:lstStyle/>
          <a:p>
            <a:pPr marL="0" indent="0" algn="ctr">
              <a:buNone/>
            </a:pPr>
            <a:r>
              <a:rPr lang="en-US" sz="1300" b="1" dirty="0">
                <a:solidFill>
                  <a:srgbClr val="16253D"/>
                </a:solidFill>
                <a:latin typeface="Calibri" pitchFamily="34" charset="0"/>
                <a:ea typeface="Calibri" pitchFamily="34" charset="-122"/>
                <a:cs typeface="Calibri" pitchFamily="34" charset="-120"/>
              </a:rPr>
              <a:t>Front-Office</a:t>
            </a:r>
            <a:endParaRPr lang="en-US" sz="1300" dirty="0"/>
          </a:p>
        </p:txBody>
      </p:sp>
      <p:sp>
        <p:nvSpPr>
          <p:cNvPr id="14" name="Text 10"/>
          <p:cNvSpPr/>
          <p:nvPr/>
        </p:nvSpPr>
        <p:spPr>
          <a:xfrm>
            <a:off x="3557016" y="3429000"/>
            <a:ext cx="2221992" cy="457200"/>
          </a:xfrm>
          <a:prstGeom prst="rect">
            <a:avLst/>
          </a:prstGeom>
          <a:noFill/>
          <a:ln/>
        </p:spPr>
        <p:txBody>
          <a:bodyPr wrap="square" lIns="0" tIns="0" rIns="0" bIns="0" rtlCol="0" anchor="ctr"/>
          <a:lstStyle/>
          <a:p>
            <a:pPr marL="0" indent="0" algn="ctr">
              <a:lnSpc>
                <a:spcPct val="100000"/>
              </a:lnSpc>
              <a:buNone/>
            </a:pPr>
            <a:r>
              <a:rPr lang="en-US" sz="1030" dirty="0">
                <a:solidFill>
                  <a:srgbClr val="1F2A3A"/>
                </a:solidFill>
                <a:latin typeface="Calibri" pitchFamily="34" charset="0"/>
                <a:ea typeface="Calibri" pitchFamily="34" charset="-122"/>
                <a:cs typeface="Calibri" pitchFamily="34" charset="-120"/>
              </a:rPr>
              <a:t>Prioritaskan konfirmasi ulang pada pemesanan berisiko tinggi.</a:t>
            </a:r>
            <a:endParaRPr lang="en-US" sz="1030" dirty="0"/>
          </a:p>
        </p:txBody>
      </p:sp>
      <p:sp>
        <p:nvSpPr>
          <p:cNvPr id="15" name="Shape 11"/>
          <p:cNvSpPr/>
          <p:nvPr/>
        </p:nvSpPr>
        <p:spPr>
          <a:xfrm>
            <a:off x="6217920" y="2240280"/>
            <a:ext cx="2551176" cy="1691640"/>
          </a:xfrm>
          <a:prstGeom prst="roundRect">
            <a:avLst>
              <a:gd name="adj" fmla="val 3784"/>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6" name="Shape 12"/>
          <p:cNvSpPr/>
          <p:nvPr/>
        </p:nvSpPr>
        <p:spPr>
          <a:xfrm>
            <a:off x="7200900" y="2441448"/>
            <a:ext cx="585216" cy="585216"/>
          </a:xfrm>
          <a:prstGeom prst="ellipse">
            <a:avLst/>
          </a:prstGeom>
          <a:solidFill>
            <a:srgbClr val="F3F5F8"/>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7319772" y="2560320"/>
            <a:ext cx="347472" cy="347472"/>
          </a:xfrm>
          <a:prstGeom prst="rect">
            <a:avLst/>
          </a:prstGeom>
        </p:spPr>
      </p:pic>
      <p:sp>
        <p:nvSpPr>
          <p:cNvPr id="18" name="Text 13"/>
          <p:cNvSpPr/>
          <p:nvPr/>
        </p:nvSpPr>
        <p:spPr>
          <a:xfrm>
            <a:off x="6355080" y="3108960"/>
            <a:ext cx="2276856" cy="320040"/>
          </a:xfrm>
          <a:prstGeom prst="rect">
            <a:avLst/>
          </a:prstGeom>
          <a:noFill/>
          <a:ln/>
        </p:spPr>
        <p:txBody>
          <a:bodyPr wrap="square" lIns="0" tIns="0" rIns="0" bIns="0" rtlCol="0" anchor="ctr"/>
          <a:lstStyle/>
          <a:p>
            <a:pPr marL="0" indent="0" algn="ctr">
              <a:buNone/>
            </a:pPr>
            <a:r>
              <a:rPr lang="en-US" sz="1300" b="1" dirty="0">
                <a:solidFill>
                  <a:srgbClr val="16253D"/>
                </a:solidFill>
                <a:latin typeface="Calibri" pitchFamily="34" charset="0"/>
                <a:ea typeface="Calibri" pitchFamily="34" charset="-122"/>
                <a:cs typeface="Calibri" pitchFamily="34" charset="-120"/>
              </a:rPr>
              <a:t>Tim Kebijakan</a:t>
            </a:r>
            <a:endParaRPr lang="en-US" sz="1300" dirty="0"/>
          </a:p>
        </p:txBody>
      </p:sp>
      <p:sp>
        <p:nvSpPr>
          <p:cNvPr id="19" name="Text 14"/>
          <p:cNvSpPr/>
          <p:nvPr/>
        </p:nvSpPr>
        <p:spPr>
          <a:xfrm>
            <a:off x="6382512" y="3429000"/>
            <a:ext cx="2221992" cy="457200"/>
          </a:xfrm>
          <a:prstGeom prst="rect">
            <a:avLst/>
          </a:prstGeom>
          <a:noFill/>
          <a:ln/>
        </p:spPr>
        <p:txBody>
          <a:bodyPr wrap="square" lIns="0" tIns="0" rIns="0" bIns="0" rtlCol="0" anchor="ctr"/>
          <a:lstStyle/>
          <a:p>
            <a:pPr marL="0" indent="0" algn="ctr">
              <a:lnSpc>
                <a:spcPct val="100000"/>
              </a:lnSpc>
              <a:buNone/>
            </a:pPr>
            <a:r>
              <a:rPr lang="en-US" sz="1030" dirty="0">
                <a:solidFill>
                  <a:srgbClr val="1F2A3A"/>
                </a:solidFill>
                <a:latin typeface="Calibri" pitchFamily="34" charset="0"/>
                <a:ea typeface="Calibri" pitchFamily="34" charset="-122"/>
                <a:cs typeface="Calibri" pitchFamily="34" charset="-120"/>
              </a:rPr>
              <a:t>Terapkan deposit / non-refundable secara selektif.</a:t>
            </a:r>
            <a:endParaRPr lang="en-US" sz="1030" dirty="0"/>
          </a:p>
        </p:txBody>
      </p:sp>
      <p:sp>
        <p:nvSpPr>
          <p:cNvPr id="20" name="Shape 15"/>
          <p:cNvSpPr/>
          <p:nvPr/>
        </p:nvSpPr>
        <p:spPr>
          <a:xfrm>
            <a:off x="9043416" y="2240280"/>
            <a:ext cx="2551176" cy="1691640"/>
          </a:xfrm>
          <a:prstGeom prst="roundRect">
            <a:avLst>
              <a:gd name="adj" fmla="val 3784"/>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21" name="Shape 16"/>
          <p:cNvSpPr/>
          <p:nvPr/>
        </p:nvSpPr>
        <p:spPr>
          <a:xfrm>
            <a:off x="10026396" y="2441448"/>
            <a:ext cx="585216" cy="585216"/>
          </a:xfrm>
          <a:prstGeom prst="ellipse">
            <a:avLst/>
          </a:prstGeom>
          <a:solidFill>
            <a:srgbClr val="F3F5F8"/>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0145268" y="2560320"/>
            <a:ext cx="347472" cy="347472"/>
          </a:xfrm>
          <a:prstGeom prst="rect">
            <a:avLst/>
          </a:prstGeom>
        </p:spPr>
      </p:pic>
      <p:sp>
        <p:nvSpPr>
          <p:cNvPr id="23" name="Text 17"/>
          <p:cNvSpPr/>
          <p:nvPr/>
        </p:nvSpPr>
        <p:spPr>
          <a:xfrm>
            <a:off x="9180576" y="3108960"/>
            <a:ext cx="2276856" cy="320040"/>
          </a:xfrm>
          <a:prstGeom prst="rect">
            <a:avLst/>
          </a:prstGeom>
          <a:noFill/>
          <a:ln/>
        </p:spPr>
        <p:txBody>
          <a:bodyPr wrap="square" lIns="0" tIns="0" rIns="0" bIns="0" rtlCol="0" anchor="ctr"/>
          <a:lstStyle/>
          <a:p>
            <a:pPr marL="0" indent="0" algn="ctr">
              <a:buNone/>
            </a:pPr>
            <a:r>
              <a:rPr lang="en-US" sz="1300" b="1" dirty="0">
                <a:solidFill>
                  <a:srgbClr val="16253D"/>
                </a:solidFill>
                <a:latin typeface="Calibri" pitchFamily="34" charset="0"/>
                <a:ea typeface="Calibri" pitchFamily="34" charset="-122"/>
                <a:cs typeface="Calibri" pitchFamily="34" charset="-120"/>
              </a:rPr>
              <a:t>Operasional</a:t>
            </a:r>
            <a:endParaRPr lang="en-US" sz="1300" dirty="0"/>
          </a:p>
        </p:txBody>
      </p:sp>
      <p:sp>
        <p:nvSpPr>
          <p:cNvPr id="24" name="Text 18"/>
          <p:cNvSpPr/>
          <p:nvPr/>
        </p:nvSpPr>
        <p:spPr>
          <a:xfrm>
            <a:off x="9208008" y="3429000"/>
            <a:ext cx="2221992" cy="457200"/>
          </a:xfrm>
          <a:prstGeom prst="rect">
            <a:avLst/>
          </a:prstGeom>
          <a:noFill/>
          <a:ln/>
        </p:spPr>
        <p:txBody>
          <a:bodyPr wrap="square" lIns="0" tIns="0" rIns="0" bIns="0" rtlCol="0" anchor="ctr"/>
          <a:lstStyle/>
          <a:p>
            <a:pPr marL="0" indent="0" algn="ctr">
              <a:lnSpc>
                <a:spcPct val="100000"/>
              </a:lnSpc>
              <a:buNone/>
            </a:pPr>
            <a:r>
              <a:rPr lang="en-US" sz="1030" dirty="0">
                <a:solidFill>
                  <a:srgbClr val="1F2A3A"/>
                </a:solidFill>
                <a:latin typeface="Calibri" pitchFamily="34" charset="0"/>
                <a:ea typeface="Calibri" pitchFamily="34" charset="-122"/>
                <a:cs typeface="Calibri" pitchFamily="34" charset="-120"/>
              </a:rPr>
              <a:t>Sesuaikan jadwal staf &amp; pengadaan dari okupansi yang lebih akurat.</a:t>
            </a:r>
            <a:endParaRPr lang="en-US" sz="1030" dirty="0"/>
          </a:p>
        </p:txBody>
      </p:sp>
      <p:sp>
        <p:nvSpPr>
          <p:cNvPr id="25" name="Shape 19"/>
          <p:cNvSpPr/>
          <p:nvPr/>
        </p:nvSpPr>
        <p:spPr>
          <a:xfrm>
            <a:off x="566928" y="4206240"/>
            <a:ext cx="11027664" cy="1508760"/>
          </a:xfrm>
          <a:prstGeom prst="roundRect">
            <a:avLst>
              <a:gd name="adj" fmla="val 4242"/>
            </a:avLst>
          </a:prstGeom>
          <a:solidFill>
            <a:srgbClr val="16253D"/>
          </a:solidFill>
          <a:ln/>
          <a:effectLst>
            <a:outerShdw blurRad="88900" dist="38100" dir="5400000" algn="bl" rotWithShape="0">
              <a:srgbClr val="0B1626">
                <a:alpha val="16000"/>
              </a:srgbClr>
            </a:outerShdw>
          </a:effectLst>
        </p:spPr>
        <p:txBody>
          <a:bodyPr/>
          <a:lstStyle/>
          <a:p>
            <a:endParaRPr lang="en-US"/>
          </a:p>
        </p:txBody>
      </p:sp>
      <p:sp>
        <p:nvSpPr>
          <p:cNvPr id="26" name="Text 20"/>
          <p:cNvSpPr/>
          <p:nvPr/>
        </p:nvSpPr>
        <p:spPr>
          <a:xfrm>
            <a:off x="932688" y="4407408"/>
            <a:ext cx="4114800" cy="365760"/>
          </a:xfrm>
          <a:prstGeom prst="rect">
            <a:avLst/>
          </a:prstGeom>
          <a:noFill/>
          <a:ln/>
        </p:spPr>
        <p:txBody>
          <a:bodyPr wrap="square" lIns="0" tIns="0" rIns="0" bIns="0" rtlCol="0" anchor="ctr"/>
          <a:lstStyle/>
          <a:p>
            <a:pPr marL="0" indent="0">
              <a:buNone/>
            </a:pPr>
            <a:r>
              <a:rPr lang="en-US" sz="1250" b="1" dirty="0">
                <a:solidFill>
                  <a:srgbClr val="C8A04B"/>
                </a:solidFill>
                <a:latin typeface="Calibri" pitchFamily="34" charset="0"/>
                <a:ea typeface="Calibri" pitchFamily="34" charset="-122"/>
                <a:cs typeface="Calibri" pitchFamily="34" charset="-120"/>
              </a:rPr>
              <a:t>Estimasi dampak (PERUMPAMAAN)</a:t>
            </a:r>
            <a:endParaRPr lang="en-US" sz="1250" dirty="0"/>
          </a:p>
        </p:txBody>
      </p:sp>
      <p:sp>
        <p:nvSpPr>
          <p:cNvPr id="27" name="Text 21"/>
          <p:cNvSpPr/>
          <p:nvPr/>
        </p:nvSpPr>
        <p:spPr>
          <a:xfrm>
            <a:off x="932688" y="4773168"/>
            <a:ext cx="2468880" cy="50292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~$29</a:t>
            </a:r>
            <a:endParaRPr lang="en-US" sz="2700" dirty="0"/>
          </a:p>
        </p:txBody>
      </p:sp>
      <p:sp>
        <p:nvSpPr>
          <p:cNvPr id="28" name="Text 22"/>
          <p:cNvSpPr/>
          <p:nvPr/>
        </p:nvSpPr>
        <p:spPr>
          <a:xfrm>
            <a:off x="932688" y="5285232"/>
            <a:ext cx="2468880" cy="320040"/>
          </a:xfrm>
          <a:prstGeom prst="rect">
            <a:avLst/>
          </a:prstGeom>
          <a:noFill/>
          <a:ln/>
        </p:spPr>
        <p:txBody>
          <a:bodyPr wrap="square" lIns="0" tIns="0" rIns="0" bIns="0" rtlCol="0" anchor="ctr"/>
          <a:lstStyle/>
          <a:p>
            <a:pPr marL="0" indent="0">
              <a:buNone/>
            </a:pPr>
            <a:r>
              <a:rPr lang="en-US" sz="1100" dirty="0">
                <a:solidFill>
                  <a:srgbClr val="9FB0C7"/>
                </a:solidFill>
                <a:latin typeface="Calibri" pitchFamily="34" charset="0"/>
                <a:ea typeface="Calibri" pitchFamily="34" charset="-122"/>
                <a:cs typeface="Calibri" pitchFamily="34" charset="-120"/>
              </a:rPr>
              <a:t>untung bersih / pemesanan</a:t>
            </a:r>
            <a:endParaRPr lang="en-US" sz="1100" dirty="0"/>
          </a:p>
        </p:txBody>
      </p:sp>
      <p:sp>
        <p:nvSpPr>
          <p:cNvPr id="29" name="Text 23"/>
          <p:cNvSpPr/>
          <p:nvPr/>
        </p:nvSpPr>
        <p:spPr>
          <a:xfrm>
            <a:off x="3584448" y="4773168"/>
            <a:ext cx="2468880" cy="50292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41.786</a:t>
            </a:r>
            <a:endParaRPr lang="en-US" sz="2700" dirty="0"/>
          </a:p>
        </p:txBody>
      </p:sp>
      <p:sp>
        <p:nvSpPr>
          <p:cNvPr id="30" name="Text 24"/>
          <p:cNvSpPr/>
          <p:nvPr/>
        </p:nvSpPr>
        <p:spPr>
          <a:xfrm>
            <a:off x="3584448" y="5285232"/>
            <a:ext cx="2468880" cy="320040"/>
          </a:xfrm>
          <a:prstGeom prst="rect">
            <a:avLst/>
          </a:prstGeom>
          <a:noFill/>
          <a:ln/>
        </p:spPr>
        <p:txBody>
          <a:bodyPr wrap="square" lIns="0" tIns="0" rIns="0" bIns="0" rtlCol="0" anchor="ctr"/>
          <a:lstStyle/>
          <a:p>
            <a:pPr marL="0" indent="0">
              <a:buNone/>
            </a:pPr>
            <a:r>
              <a:rPr lang="en-US" sz="1100" dirty="0">
                <a:solidFill>
                  <a:srgbClr val="9FB0C7"/>
                </a:solidFill>
                <a:latin typeface="Calibri" pitchFamily="34" charset="0"/>
                <a:ea typeface="Calibri" pitchFamily="34" charset="-122"/>
                <a:cs typeface="Calibri" pitchFamily="34" charset="-120"/>
              </a:rPr>
              <a:t>estimasi pemesanan / tahun</a:t>
            </a:r>
            <a:endParaRPr lang="en-US" sz="1100" dirty="0"/>
          </a:p>
        </p:txBody>
      </p:sp>
      <p:sp>
        <p:nvSpPr>
          <p:cNvPr id="31" name="Text 25"/>
          <p:cNvSpPr/>
          <p:nvPr/>
        </p:nvSpPr>
        <p:spPr>
          <a:xfrm>
            <a:off x="6236208" y="4773168"/>
            <a:ext cx="2468880" cy="50292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~$1,22 jt</a:t>
            </a:r>
            <a:endParaRPr lang="en-US" sz="2700" dirty="0"/>
          </a:p>
        </p:txBody>
      </p:sp>
      <p:sp>
        <p:nvSpPr>
          <p:cNvPr id="32" name="Text 26"/>
          <p:cNvSpPr/>
          <p:nvPr/>
        </p:nvSpPr>
        <p:spPr>
          <a:xfrm>
            <a:off x="6236208" y="5285232"/>
            <a:ext cx="2468880" cy="320040"/>
          </a:xfrm>
          <a:prstGeom prst="rect">
            <a:avLst/>
          </a:prstGeom>
          <a:noFill/>
          <a:ln/>
        </p:spPr>
        <p:txBody>
          <a:bodyPr wrap="square" lIns="0" tIns="0" rIns="0" bIns="0" rtlCol="0" anchor="ctr"/>
          <a:lstStyle/>
          <a:p>
            <a:pPr marL="0" indent="0">
              <a:buNone/>
            </a:pPr>
            <a:r>
              <a:rPr lang="en-US" sz="1100" dirty="0">
                <a:solidFill>
                  <a:srgbClr val="9FB0C7"/>
                </a:solidFill>
                <a:latin typeface="Calibri" pitchFamily="34" charset="0"/>
                <a:ea typeface="Calibri" pitchFamily="34" charset="-122"/>
                <a:cs typeface="Calibri" pitchFamily="34" charset="-120"/>
              </a:rPr>
              <a:t>estimasi nilai pulih / tahun</a:t>
            </a:r>
            <a:endParaRPr lang="en-US" sz="1100" dirty="0"/>
          </a:p>
        </p:txBody>
      </p:sp>
      <p:sp>
        <p:nvSpPr>
          <p:cNvPr id="33" name="Text 27"/>
          <p:cNvSpPr/>
          <p:nvPr/>
        </p:nvSpPr>
        <p:spPr>
          <a:xfrm>
            <a:off x="8887968" y="4480560"/>
            <a:ext cx="2340864" cy="1097280"/>
          </a:xfrm>
          <a:prstGeom prst="rect">
            <a:avLst/>
          </a:prstGeom>
          <a:noFill/>
          <a:ln/>
        </p:spPr>
        <p:txBody>
          <a:bodyPr wrap="square" lIns="0" tIns="0" rIns="0" bIns="0" rtlCol="0" anchor="ctr"/>
          <a:lstStyle/>
          <a:p>
            <a:pPr marL="0" indent="0">
              <a:lnSpc>
                <a:spcPct val="112000"/>
              </a:lnSpc>
              <a:buNone/>
            </a:pPr>
            <a:r>
              <a:rPr lang="en-US" sz="1050" i="1" dirty="0">
                <a:solidFill>
                  <a:srgbClr val="C7D2E2"/>
                </a:solidFill>
                <a:latin typeface="Calibri" pitchFamily="34" charset="0"/>
                <a:ea typeface="Calibri" pitchFamily="34" charset="-122"/>
                <a:cs typeface="Calibri" pitchFamily="34" charset="-120"/>
              </a:rPr>
              <a:t>Asumsi: FN=$100, FP=$20, rentang data 2 tahun. Dihitung pada split naif → cenderung optimis. Angka $ harus dikalibrasi ulang oleh tim keuangan sebelum dipakai.</a:t>
            </a:r>
            <a:endParaRPr lang="en-US" sz="1050" dirty="0"/>
          </a:p>
        </p:txBody>
      </p:sp>
      <p:sp>
        <p:nvSpPr>
          <p:cNvPr id="34" name="Text 28"/>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27664" cy="274320"/>
          </a:xfrm>
          <a:prstGeom prst="rect">
            <a:avLst/>
          </a:prstGeom>
          <a:noFill/>
          <a:ln/>
        </p:spPr>
        <p:txBody>
          <a:bodyPr wrap="square" lIns="0" tIns="0" rIns="0" bIns="0" rtlCol="0" anchor="ctr"/>
          <a:lstStyle/>
          <a:p>
            <a:pPr marL="0" indent="0" algn="l">
              <a:buNone/>
            </a:pPr>
            <a:r>
              <a:rPr lang="en-US" sz="1200" b="1" kern="0" spc="200" dirty="0">
                <a:solidFill>
                  <a:srgbClr val="A6822F"/>
                </a:solidFill>
                <a:latin typeface="Calibri" pitchFamily="34" charset="0"/>
                <a:ea typeface="Calibri" pitchFamily="34" charset="-122"/>
                <a:cs typeface="Calibri" pitchFamily="34" charset="-120"/>
              </a:rPr>
              <a:t>KESIMPULAN &amp; REKOMENDASI</a:t>
            </a:r>
            <a:endParaRPr lang="en-US" sz="1200" dirty="0"/>
          </a:p>
        </p:txBody>
      </p:sp>
      <p:sp>
        <p:nvSpPr>
          <p:cNvPr id="3" name="Text 1"/>
          <p:cNvSpPr/>
          <p:nvPr/>
        </p:nvSpPr>
        <p:spPr>
          <a:xfrm>
            <a:off x="566928" y="658368"/>
            <a:ext cx="11027664" cy="640080"/>
          </a:xfrm>
          <a:prstGeom prst="rect">
            <a:avLst/>
          </a:prstGeom>
          <a:noFill/>
          <a:ln/>
        </p:spPr>
        <p:txBody>
          <a:bodyPr wrap="square" lIns="0" tIns="0" rIns="0" bIns="0" rtlCol="0" anchor="t"/>
          <a:lstStyle/>
          <a:p>
            <a:pPr marL="0" indent="0" algn="l">
              <a:buNone/>
            </a:pPr>
            <a:r>
              <a:rPr lang="en-US" sz="3000" b="1" dirty="0">
                <a:solidFill>
                  <a:srgbClr val="16253D"/>
                </a:solidFill>
                <a:latin typeface="Cambria" pitchFamily="34" charset="0"/>
                <a:ea typeface="Cambria" pitchFamily="34" charset="-122"/>
                <a:cs typeface="Cambria" pitchFamily="34" charset="-120"/>
              </a:rPr>
              <a:t>Apa yang kita simpulkan dan lakukan</a:t>
            </a:r>
            <a:endParaRPr lang="en-US" sz="3000" dirty="0"/>
          </a:p>
        </p:txBody>
      </p:sp>
      <p:sp>
        <p:nvSpPr>
          <p:cNvPr id="4" name="Shape 2"/>
          <p:cNvSpPr/>
          <p:nvPr/>
        </p:nvSpPr>
        <p:spPr>
          <a:xfrm>
            <a:off x="566928" y="1691640"/>
            <a:ext cx="5120640" cy="4160520"/>
          </a:xfrm>
          <a:prstGeom prst="roundRect">
            <a:avLst>
              <a:gd name="adj" fmla="val 1758"/>
            </a:avLst>
          </a:prstGeom>
          <a:solidFill>
            <a:srgbClr val="F3F5F8"/>
          </a:solidFill>
          <a:ln w="12700">
            <a:solidFill>
              <a:srgbClr val="D7DDE6"/>
            </a:solidFill>
            <a:prstDash val="solid"/>
          </a:ln>
        </p:spPr>
        <p:txBody>
          <a:bodyPr/>
          <a:lstStyle/>
          <a:p>
            <a:endParaRPr lang="en-US"/>
          </a:p>
        </p:txBody>
      </p:sp>
      <p:sp>
        <p:nvSpPr>
          <p:cNvPr id="5" name="Text 3"/>
          <p:cNvSpPr/>
          <p:nvPr/>
        </p:nvSpPr>
        <p:spPr>
          <a:xfrm>
            <a:off x="859536" y="1920240"/>
            <a:ext cx="4572000" cy="365760"/>
          </a:xfrm>
          <a:prstGeom prst="rect">
            <a:avLst/>
          </a:prstGeom>
          <a:noFill/>
          <a:ln/>
        </p:spPr>
        <p:txBody>
          <a:bodyPr wrap="square" lIns="0" tIns="0" rIns="0" bIns="0" rtlCol="0" anchor="ctr"/>
          <a:lstStyle/>
          <a:p>
            <a:pPr marL="0" indent="0">
              <a:buNone/>
            </a:pPr>
            <a:r>
              <a:rPr lang="en-US" sz="1500" b="1" dirty="0">
                <a:solidFill>
                  <a:srgbClr val="16253D"/>
                </a:solidFill>
                <a:latin typeface="Calibri" pitchFamily="34" charset="0"/>
                <a:ea typeface="Calibri" pitchFamily="34" charset="-122"/>
                <a:cs typeface="Calibri" pitchFamily="34" charset="-120"/>
              </a:rPr>
              <a:t>Kesimpulan</a:t>
            </a:r>
            <a:endParaRPr lang="en-US" sz="1500" dirty="0"/>
          </a:p>
        </p:txBody>
      </p:sp>
      <p:sp>
        <p:nvSpPr>
          <p:cNvPr id="6" name="Text 4"/>
          <p:cNvSpPr/>
          <p:nvPr/>
        </p:nvSpPr>
        <p:spPr>
          <a:xfrm>
            <a:off x="859536" y="2331720"/>
            <a:ext cx="4553712" cy="338328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600" dirty="0">
                <a:solidFill>
                  <a:srgbClr val="1F2A3A"/>
                </a:solidFill>
                <a:latin typeface="Calibri" pitchFamily="34" charset="0"/>
                <a:ea typeface="Calibri" pitchFamily="34" charset="-122"/>
                <a:cs typeface="Calibri" pitchFamily="34" charset="-120"/>
              </a:rPr>
              <a:t>HistGradientBoosting terpilih sebagai model terbaik via cross-validation 5-fold, dengan F1 kelas 'Dibatalkan' sebagai tumpuan.</a:t>
            </a:r>
            <a:endParaRPr lang="en-US" sz="1600" dirty="0"/>
          </a:p>
          <a:p>
            <a:pPr marL="203200" indent="-203200">
              <a:lnSpc>
                <a:spcPct val="110000"/>
              </a:lnSpc>
              <a:spcAft>
                <a:spcPts val="800"/>
              </a:spcAft>
              <a:buSzPct val="100000"/>
              <a:buChar char="•"/>
            </a:pPr>
            <a:r>
              <a:rPr lang="en-US" sz="1600" dirty="0">
                <a:solidFill>
                  <a:srgbClr val="1F2A3A"/>
                </a:solidFill>
                <a:latin typeface="Calibri" pitchFamily="34" charset="0"/>
                <a:ea typeface="Calibri" pitchFamily="34" charset="-122"/>
                <a:cs typeface="Calibri" pitchFamily="34" charset="-120"/>
              </a:rPr>
              <a:t>Dua titik operasi tersedia: ambang biaya 0,26 (recall 96%) untuk menekan kamar kosong, dan ambang F1 0,48 untuk keseimbangan.</a:t>
            </a:r>
            <a:endParaRPr lang="en-US" sz="1600" dirty="0"/>
          </a:p>
          <a:p>
            <a:pPr marL="203200" indent="-203200">
              <a:lnSpc>
                <a:spcPct val="110000"/>
              </a:lnSpc>
              <a:spcAft>
                <a:spcPts val="800"/>
              </a:spcAft>
              <a:buSzPct val="100000"/>
              <a:buChar char="•"/>
            </a:pPr>
            <a:r>
              <a:rPr lang="en-US" sz="1600" dirty="0">
                <a:solidFill>
                  <a:srgbClr val="1F2A3A"/>
                </a:solidFill>
                <a:latin typeface="Calibri" pitchFamily="34" charset="0"/>
                <a:ea typeface="Calibri" pitchFamily="34" charset="-122"/>
                <a:cs typeface="Calibri" pitchFamily="34" charset="-120"/>
              </a:rPr>
              <a:t>Kemampuan jujur model berada di rentang F1 0,56–0,74 setelah memperhitungkan kebocoran duplikat.</a:t>
            </a:r>
            <a:endParaRPr lang="en-US" sz="1600" dirty="0"/>
          </a:p>
          <a:p>
            <a:pPr marL="203200" indent="-203200">
              <a:lnSpc>
                <a:spcPct val="110000"/>
              </a:lnSpc>
              <a:spcAft>
                <a:spcPts val="800"/>
              </a:spcAft>
              <a:buSzPct val="100000"/>
              <a:buChar char="•"/>
            </a:pPr>
            <a:r>
              <a:rPr lang="en-US" sz="1600" dirty="0">
                <a:solidFill>
                  <a:srgbClr val="1F2A3A"/>
                </a:solidFill>
                <a:latin typeface="Calibri" pitchFamily="34" charset="0"/>
                <a:ea typeface="Calibri" pitchFamily="34" charset="-122"/>
                <a:cs typeface="Calibri" pitchFamily="34" charset="-120"/>
              </a:rPr>
              <a:t>Pendorong utama: jenis deposit, kanal pemesanan, dan permintaan khusus.</a:t>
            </a:r>
            <a:endParaRPr lang="en-US" sz="1600" dirty="0"/>
          </a:p>
        </p:txBody>
      </p:sp>
      <p:sp>
        <p:nvSpPr>
          <p:cNvPr id="7" name="Text 5"/>
          <p:cNvSpPr/>
          <p:nvPr/>
        </p:nvSpPr>
        <p:spPr>
          <a:xfrm>
            <a:off x="6053328" y="1691640"/>
            <a:ext cx="5541264" cy="365760"/>
          </a:xfrm>
          <a:prstGeom prst="rect">
            <a:avLst/>
          </a:prstGeom>
          <a:noFill/>
          <a:ln/>
        </p:spPr>
        <p:txBody>
          <a:bodyPr wrap="square" lIns="0" tIns="0" rIns="0" bIns="0" rtlCol="0" anchor="ctr"/>
          <a:lstStyle/>
          <a:p>
            <a:pPr marL="0" indent="0">
              <a:buNone/>
            </a:pPr>
            <a:r>
              <a:rPr lang="en-US" sz="1500" b="1" dirty="0">
                <a:solidFill>
                  <a:srgbClr val="16253D"/>
                </a:solidFill>
                <a:latin typeface="Calibri" pitchFamily="34" charset="0"/>
                <a:ea typeface="Calibri" pitchFamily="34" charset="-122"/>
                <a:cs typeface="Calibri" pitchFamily="34" charset="-120"/>
              </a:rPr>
              <a:t>Rekomendasi</a:t>
            </a:r>
            <a:endParaRPr lang="en-US" sz="1500" dirty="0"/>
          </a:p>
        </p:txBody>
      </p:sp>
      <p:sp>
        <p:nvSpPr>
          <p:cNvPr id="8" name="Shape 6"/>
          <p:cNvSpPr/>
          <p:nvPr/>
        </p:nvSpPr>
        <p:spPr>
          <a:xfrm>
            <a:off x="6053328" y="2103120"/>
            <a:ext cx="5541264" cy="914400"/>
          </a:xfrm>
          <a:prstGeom prst="roundRect">
            <a:avLst>
              <a:gd name="adj" fmla="val 7000"/>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9" name="Shape 7"/>
          <p:cNvSpPr/>
          <p:nvPr/>
        </p:nvSpPr>
        <p:spPr>
          <a:xfrm>
            <a:off x="6236208" y="2350008"/>
            <a:ext cx="420624" cy="420624"/>
          </a:xfrm>
          <a:prstGeom prst="ellipse">
            <a:avLst/>
          </a:prstGeom>
          <a:solidFill>
            <a:srgbClr val="C8A04B"/>
          </a:solidFill>
          <a:ln/>
        </p:spPr>
        <p:txBody>
          <a:bodyPr/>
          <a:lstStyle/>
          <a:p>
            <a:endParaRPr lang="en-US"/>
          </a:p>
        </p:txBody>
      </p:sp>
      <p:sp>
        <p:nvSpPr>
          <p:cNvPr id="10" name="Text 8"/>
          <p:cNvSpPr/>
          <p:nvPr/>
        </p:nvSpPr>
        <p:spPr>
          <a:xfrm>
            <a:off x="6236208" y="2350008"/>
            <a:ext cx="420624" cy="420624"/>
          </a:xfrm>
          <a:prstGeom prst="rect">
            <a:avLst/>
          </a:prstGeom>
          <a:noFill/>
          <a:ln/>
        </p:spPr>
        <p:txBody>
          <a:bodyPr wrap="square" lIns="0" tIns="0" rIns="0" bIns="0" rtlCol="0" anchor="ctr"/>
          <a:lstStyle/>
          <a:p>
            <a:pPr marL="0" indent="0" algn="ctr">
              <a:buNone/>
            </a:pPr>
            <a:r>
              <a:rPr lang="en-US" sz="1500" b="1" dirty="0">
                <a:solidFill>
                  <a:srgbClr val="16253D"/>
                </a:solidFill>
                <a:latin typeface="Cambria" pitchFamily="34" charset="0"/>
                <a:ea typeface="Cambria" pitchFamily="34" charset="-122"/>
                <a:cs typeface="Cambria" pitchFamily="34" charset="-120"/>
              </a:rPr>
              <a:t>1</a:t>
            </a:r>
            <a:endParaRPr lang="en-US" sz="1500" dirty="0"/>
          </a:p>
        </p:txBody>
      </p:sp>
      <p:sp>
        <p:nvSpPr>
          <p:cNvPr id="11" name="Text 9"/>
          <p:cNvSpPr/>
          <p:nvPr/>
        </p:nvSpPr>
        <p:spPr>
          <a:xfrm>
            <a:off x="6803136" y="2212848"/>
            <a:ext cx="4626864" cy="694944"/>
          </a:xfrm>
          <a:prstGeom prst="rect">
            <a:avLst/>
          </a:prstGeom>
          <a:noFill/>
          <a:ln/>
        </p:spPr>
        <p:txBody>
          <a:bodyPr wrap="square" lIns="0" tIns="0" rIns="0" bIns="0" rtlCol="0" anchor="ctr"/>
          <a:lstStyle/>
          <a:p>
            <a:pPr marL="0" indent="0">
              <a:lnSpc>
                <a:spcPct val="105000"/>
              </a:lnSpc>
              <a:buNone/>
            </a:pPr>
            <a:r>
              <a:rPr lang="en-US" sz="1250" b="1" dirty="0">
                <a:solidFill>
                  <a:srgbClr val="16253D"/>
                </a:solidFill>
                <a:latin typeface="Calibri" pitchFamily="34" charset="0"/>
                <a:ea typeface="Calibri" pitchFamily="34" charset="-122"/>
                <a:cs typeface="Calibri" pitchFamily="34" charset="-120"/>
              </a:rPr>
              <a:t>Pemeringkatan risiko  —  </a:t>
            </a:r>
            <a:r>
              <a:rPr lang="en-US" sz="1130" dirty="0">
                <a:solidFill>
                  <a:srgbClr val="1F2A3A"/>
                </a:solidFill>
                <a:latin typeface="Calibri" pitchFamily="34" charset="0"/>
                <a:ea typeface="Calibri" pitchFamily="34" charset="-122"/>
                <a:cs typeface="Calibri" pitchFamily="34" charset="-120"/>
              </a:rPr>
              <a:t>Pakai skor untuk deposit selektif, kalibrasi overbooking, &amp; konfirmasi ulang berisiko tinggi.</a:t>
            </a:r>
            <a:endParaRPr lang="en-US" sz="1250" dirty="0"/>
          </a:p>
        </p:txBody>
      </p:sp>
      <p:sp>
        <p:nvSpPr>
          <p:cNvPr id="12" name="Shape 10"/>
          <p:cNvSpPr/>
          <p:nvPr/>
        </p:nvSpPr>
        <p:spPr>
          <a:xfrm>
            <a:off x="6053328" y="3154680"/>
            <a:ext cx="5541264" cy="914400"/>
          </a:xfrm>
          <a:prstGeom prst="roundRect">
            <a:avLst>
              <a:gd name="adj" fmla="val 7000"/>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3" name="Shape 11"/>
          <p:cNvSpPr/>
          <p:nvPr/>
        </p:nvSpPr>
        <p:spPr>
          <a:xfrm>
            <a:off x="6236208" y="3401568"/>
            <a:ext cx="420624" cy="420624"/>
          </a:xfrm>
          <a:prstGeom prst="ellipse">
            <a:avLst/>
          </a:prstGeom>
          <a:solidFill>
            <a:srgbClr val="C8A04B"/>
          </a:solidFill>
          <a:ln/>
        </p:spPr>
        <p:txBody>
          <a:bodyPr/>
          <a:lstStyle/>
          <a:p>
            <a:endParaRPr lang="en-US"/>
          </a:p>
        </p:txBody>
      </p:sp>
      <p:sp>
        <p:nvSpPr>
          <p:cNvPr id="14" name="Text 12"/>
          <p:cNvSpPr/>
          <p:nvPr/>
        </p:nvSpPr>
        <p:spPr>
          <a:xfrm>
            <a:off x="6236208" y="3401568"/>
            <a:ext cx="420624" cy="420624"/>
          </a:xfrm>
          <a:prstGeom prst="rect">
            <a:avLst/>
          </a:prstGeom>
          <a:noFill/>
          <a:ln/>
        </p:spPr>
        <p:txBody>
          <a:bodyPr wrap="square" lIns="0" tIns="0" rIns="0" bIns="0" rtlCol="0" anchor="ctr"/>
          <a:lstStyle/>
          <a:p>
            <a:pPr marL="0" indent="0" algn="ctr">
              <a:buNone/>
            </a:pPr>
            <a:r>
              <a:rPr lang="en-US" sz="1500" b="1" dirty="0">
                <a:solidFill>
                  <a:srgbClr val="16253D"/>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6803136" y="3264408"/>
            <a:ext cx="4626864" cy="694944"/>
          </a:xfrm>
          <a:prstGeom prst="rect">
            <a:avLst/>
          </a:prstGeom>
          <a:noFill/>
          <a:ln/>
        </p:spPr>
        <p:txBody>
          <a:bodyPr wrap="square" lIns="0" tIns="0" rIns="0" bIns="0" rtlCol="0" anchor="ctr"/>
          <a:lstStyle/>
          <a:p>
            <a:pPr marL="0" indent="0">
              <a:lnSpc>
                <a:spcPct val="105000"/>
              </a:lnSpc>
              <a:buNone/>
            </a:pPr>
            <a:r>
              <a:rPr lang="en-US" sz="1250" b="1" dirty="0">
                <a:solidFill>
                  <a:srgbClr val="16253D"/>
                </a:solidFill>
                <a:latin typeface="Calibri" pitchFamily="34" charset="0"/>
                <a:ea typeface="Calibri" pitchFamily="34" charset="-122"/>
                <a:cs typeface="Calibri" pitchFamily="34" charset="-120"/>
              </a:rPr>
              <a:t>Ambang berbasis biaya  —  </a:t>
            </a:r>
            <a:r>
              <a:rPr lang="en-US" sz="1130" dirty="0">
                <a:solidFill>
                  <a:srgbClr val="1F2A3A"/>
                </a:solidFill>
                <a:latin typeface="Calibri" pitchFamily="34" charset="0"/>
                <a:ea typeface="Calibri" pitchFamily="34" charset="-122"/>
                <a:cs typeface="Calibri" pitchFamily="34" charset="-120"/>
              </a:rPr>
              <a:t>Operasikan pada ambang biaya, disetel ulang dengan angka $ tim keuangan — bukan default 0,5.</a:t>
            </a:r>
            <a:endParaRPr lang="en-US" sz="1250" dirty="0"/>
          </a:p>
        </p:txBody>
      </p:sp>
      <p:sp>
        <p:nvSpPr>
          <p:cNvPr id="16" name="Shape 14"/>
          <p:cNvSpPr/>
          <p:nvPr/>
        </p:nvSpPr>
        <p:spPr>
          <a:xfrm>
            <a:off x="6053328" y="4206240"/>
            <a:ext cx="5541264" cy="914400"/>
          </a:xfrm>
          <a:prstGeom prst="roundRect">
            <a:avLst>
              <a:gd name="adj" fmla="val 7000"/>
            </a:avLst>
          </a:prstGeom>
          <a:solidFill>
            <a:srgbClr val="FFFFFF"/>
          </a:solidFill>
          <a:ln w="12700">
            <a:solidFill>
              <a:srgbClr val="D7DDE6"/>
            </a:solidFill>
            <a:prstDash val="solid"/>
          </a:ln>
          <a:effectLst>
            <a:outerShdw blurRad="63500" dist="25400" dir="5400000" algn="bl" rotWithShape="0">
              <a:srgbClr val="0B1626">
                <a:alpha val="10000"/>
              </a:srgbClr>
            </a:outerShdw>
          </a:effectLst>
        </p:spPr>
        <p:txBody>
          <a:bodyPr/>
          <a:lstStyle/>
          <a:p>
            <a:endParaRPr lang="en-US"/>
          </a:p>
        </p:txBody>
      </p:sp>
      <p:sp>
        <p:nvSpPr>
          <p:cNvPr id="17" name="Shape 15"/>
          <p:cNvSpPr/>
          <p:nvPr/>
        </p:nvSpPr>
        <p:spPr>
          <a:xfrm>
            <a:off x="6236208" y="4453128"/>
            <a:ext cx="420624" cy="420624"/>
          </a:xfrm>
          <a:prstGeom prst="ellipse">
            <a:avLst/>
          </a:prstGeom>
          <a:solidFill>
            <a:srgbClr val="C8A04B"/>
          </a:solidFill>
          <a:ln/>
        </p:spPr>
        <p:txBody>
          <a:bodyPr/>
          <a:lstStyle/>
          <a:p>
            <a:endParaRPr lang="en-US"/>
          </a:p>
        </p:txBody>
      </p:sp>
      <p:sp>
        <p:nvSpPr>
          <p:cNvPr id="18" name="Text 16"/>
          <p:cNvSpPr/>
          <p:nvPr/>
        </p:nvSpPr>
        <p:spPr>
          <a:xfrm>
            <a:off x="6236208" y="4453128"/>
            <a:ext cx="420624" cy="420624"/>
          </a:xfrm>
          <a:prstGeom prst="rect">
            <a:avLst/>
          </a:prstGeom>
          <a:noFill/>
          <a:ln/>
        </p:spPr>
        <p:txBody>
          <a:bodyPr wrap="square" lIns="0" tIns="0" rIns="0" bIns="0" rtlCol="0" anchor="ctr"/>
          <a:lstStyle/>
          <a:p>
            <a:pPr marL="0" indent="0" algn="ctr">
              <a:buNone/>
            </a:pPr>
            <a:r>
              <a:rPr lang="en-US" sz="1500" b="1" dirty="0">
                <a:solidFill>
                  <a:srgbClr val="16253D"/>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6803136" y="4315968"/>
            <a:ext cx="4626864" cy="694944"/>
          </a:xfrm>
          <a:prstGeom prst="rect">
            <a:avLst/>
          </a:prstGeom>
          <a:noFill/>
          <a:ln/>
        </p:spPr>
        <p:txBody>
          <a:bodyPr wrap="square" lIns="0" tIns="0" rIns="0" bIns="0" rtlCol="0" anchor="ctr"/>
          <a:lstStyle/>
          <a:p>
            <a:pPr marL="0" indent="0">
              <a:lnSpc>
                <a:spcPct val="105000"/>
              </a:lnSpc>
              <a:buNone/>
            </a:pPr>
            <a:r>
              <a:rPr lang="en-US" sz="1250" b="1" dirty="0">
                <a:solidFill>
                  <a:srgbClr val="16253D"/>
                </a:solidFill>
                <a:latin typeface="Calibri" pitchFamily="34" charset="0"/>
                <a:ea typeface="Calibri" pitchFamily="34" charset="-122"/>
                <a:cs typeface="Calibri" pitchFamily="34" charset="-120"/>
              </a:rPr>
              <a:t>Validasi sinyal Non-Refund  —  </a:t>
            </a:r>
            <a:r>
              <a:rPr lang="en-US" sz="1130" dirty="0">
                <a:solidFill>
                  <a:srgbClr val="1F2A3A"/>
                </a:solidFill>
                <a:latin typeface="Calibri" pitchFamily="34" charset="0"/>
                <a:ea typeface="Calibri" pitchFamily="34" charset="-122"/>
                <a:cs typeface="Calibri" pitchFamily="34" charset="-120"/>
              </a:rPr>
              <a:t>Perlakukan dengan hati-hati &amp; validasi ulang pada data langsung sebelum jadi kebijakan.</a:t>
            </a:r>
            <a:endParaRPr lang="en-US" sz="1250" dirty="0"/>
          </a:p>
        </p:txBody>
      </p:sp>
      <p:sp>
        <p:nvSpPr>
          <p:cNvPr id="20" name="Shape 18"/>
          <p:cNvSpPr/>
          <p:nvPr/>
        </p:nvSpPr>
        <p:spPr>
          <a:xfrm>
            <a:off x="6053328" y="5303520"/>
            <a:ext cx="5541264" cy="868680"/>
          </a:xfrm>
          <a:prstGeom prst="roundRect">
            <a:avLst>
              <a:gd name="adj" fmla="val 7368"/>
            </a:avLst>
          </a:prstGeom>
          <a:solidFill>
            <a:srgbClr val="16253D"/>
          </a:solidFill>
          <a:ln/>
        </p:spPr>
        <p:txBody>
          <a:bodyPr/>
          <a:lstStyle/>
          <a:p>
            <a:endParaRPr lang="en-US"/>
          </a:p>
        </p:txBody>
      </p:sp>
      <p:sp>
        <p:nvSpPr>
          <p:cNvPr id="21" name="Text 19"/>
          <p:cNvSpPr/>
          <p:nvPr/>
        </p:nvSpPr>
        <p:spPr>
          <a:xfrm>
            <a:off x="6327648" y="5413248"/>
            <a:ext cx="4992624" cy="658368"/>
          </a:xfrm>
          <a:prstGeom prst="rect">
            <a:avLst/>
          </a:prstGeom>
          <a:noFill/>
          <a:ln/>
        </p:spPr>
        <p:txBody>
          <a:bodyPr wrap="square" lIns="0" tIns="0" rIns="0" bIns="0" rtlCol="0" anchor="ctr"/>
          <a:lstStyle/>
          <a:p>
            <a:pPr marL="0" indent="0">
              <a:lnSpc>
                <a:spcPct val="112000"/>
              </a:lnSpc>
              <a:buNone/>
            </a:pPr>
            <a:r>
              <a:rPr lang="en-US" sz="1200" b="1" dirty="0">
                <a:solidFill>
                  <a:srgbClr val="C8A04B"/>
                </a:solidFill>
                <a:latin typeface="Calibri" pitchFamily="34" charset="0"/>
                <a:ea typeface="Calibri" pitchFamily="34" charset="-122"/>
                <a:cs typeface="Calibri" pitchFamily="34" charset="-120"/>
              </a:rPr>
              <a:t>Langkah berikutnya:  </a:t>
            </a:r>
            <a:r>
              <a:rPr lang="en-US" sz="1150" dirty="0">
                <a:solidFill>
                  <a:srgbClr val="DCE3EE"/>
                </a:solidFill>
                <a:latin typeface="Calibri" pitchFamily="34" charset="0"/>
                <a:ea typeface="Calibri" pitchFamily="34" charset="-122"/>
                <a:cs typeface="Calibri" pitchFamily="34" charset="-120"/>
              </a:rPr>
              <a:t>latih ulang dengan data terkini &amp; lokal, tambah fitur lebih kaya, pantau drift, dan uji coba satu segmen sebelum peluncuran penuh.</a:t>
            </a:r>
            <a:endParaRPr lang="en-US" sz="1200" dirty="0"/>
          </a:p>
        </p:txBody>
      </p:sp>
      <p:sp>
        <p:nvSpPr>
          <p:cNvPr id="22" name="Text 20"/>
          <p:cNvSpPr/>
          <p:nvPr/>
        </p:nvSpPr>
        <p:spPr>
          <a:xfrm>
            <a:off x="11247120" y="6400800"/>
            <a:ext cx="457200" cy="274320"/>
          </a:xfrm>
          <a:prstGeom prst="rect">
            <a:avLst/>
          </a:prstGeom>
          <a:noFill/>
          <a:ln/>
        </p:spPr>
        <p:txBody>
          <a:bodyPr wrap="square" lIns="0" tIns="0" rIns="0" bIns="0"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53D"/>
        </a:solidFill>
        <a:effectLst/>
      </p:bgPr>
    </p:bg>
    <p:spTree>
      <p:nvGrpSpPr>
        <p:cNvPr id="1" name=""/>
        <p:cNvGrpSpPr/>
        <p:nvPr/>
      </p:nvGrpSpPr>
      <p:grpSpPr>
        <a:xfrm>
          <a:off x="0" y="0"/>
          <a:ext cx="0" cy="0"/>
          <a:chOff x="0" y="0"/>
          <a:chExt cx="0" cy="0"/>
        </a:xfrm>
      </p:grpSpPr>
      <p:sp>
        <p:nvSpPr>
          <p:cNvPr id="2" name="Shape 0"/>
          <p:cNvSpPr/>
          <p:nvPr/>
        </p:nvSpPr>
        <p:spPr>
          <a:xfrm>
            <a:off x="-1280160" y="-1280160"/>
            <a:ext cx="3840480" cy="3840480"/>
          </a:xfrm>
          <a:prstGeom prst="ellipse">
            <a:avLst/>
          </a:prstGeom>
          <a:ln w="15875">
            <a:solidFill>
              <a:srgbClr val="C8A04B">
                <a:alpha val="45000"/>
              </a:srgbClr>
            </a:solidFill>
            <a:prstDash val="solid"/>
          </a:ln>
        </p:spPr>
        <p:txBody>
          <a:bodyPr/>
          <a:lstStyle/>
          <a:p>
            <a:endParaRPr lang="en-US"/>
          </a:p>
        </p:txBody>
      </p:sp>
      <p:sp>
        <p:nvSpPr>
          <p:cNvPr id="3" name="Shape 1"/>
          <p:cNvSpPr/>
          <p:nvPr/>
        </p:nvSpPr>
        <p:spPr>
          <a:xfrm>
            <a:off x="10424160" y="4754880"/>
            <a:ext cx="3017520" cy="3017520"/>
          </a:xfrm>
          <a:prstGeom prst="ellipse">
            <a:avLst/>
          </a:prstGeom>
          <a:solidFill>
            <a:srgbClr val="C8A04B">
              <a:alpha val="80000"/>
            </a:srgbClr>
          </a:solidFill>
          <a:ln/>
        </p:spPr>
        <p:txBody>
          <a:bodyPr/>
          <a:lstStyle/>
          <a:p>
            <a:endParaRPr lang="en-US"/>
          </a:p>
        </p:txBody>
      </p:sp>
      <p:sp>
        <p:nvSpPr>
          <p:cNvPr id="4" name="Text 2"/>
          <p:cNvSpPr/>
          <p:nvPr/>
        </p:nvSpPr>
        <p:spPr>
          <a:xfrm>
            <a:off x="566928" y="2377440"/>
            <a:ext cx="10058400" cy="109728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Terima Kasih</a:t>
            </a:r>
            <a:endParaRPr lang="en-US" sz="5000" dirty="0"/>
          </a:p>
        </p:txBody>
      </p:sp>
      <p:sp>
        <p:nvSpPr>
          <p:cNvPr id="5" name="Text 3"/>
          <p:cNvSpPr/>
          <p:nvPr/>
        </p:nvSpPr>
        <p:spPr>
          <a:xfrm>
            <a:off x="566928" y="3520440"/>
            <a:ext cx="10058400" cy="457200"/>
          </a:xfrm>
          <a:prstGeom prst="rect">
            <a:avLst/>
          </a:prstGeom>
          <a:noFill/>
          <a:ln/>
        </p:spPr>
        <p:txBody>
          <a:bodyPr wrap="square" lIns="0" tIns="0" rIns="0" bIns="0" rtlCol="0" anchor="ctr"/>
          <a:lstStyle/>
          <a:p>
            <a:pPr marL="0" indent="0">
              <a:buNone/>
            </a:pPr>
            <a:r>
              <a:rPr lang="en-US" sz="1800" dirty="0">
                <a:solidFill>
                  <a:srgbClr val="C8A04B"/>
                </a:solidFill>
                <a:latin typeface="Calibri" pitchFamily="34" charset="0"/>
                <a:ea typeface="Calibri" pitchFamily="34" charset="-122"/>
                <a:cs typeface="Calibri" pitchFamily="34" charset="-120"/>
              </a:rPr>
              <a:t>Pertanyaan &amp; Diskusi</a:t>
            </a:r>
            <a:endParaRPr lang="en-US" sz="1800" dirty="0"/>
          </a:p>
        </p:txBody>
      </p:sp>
      <p:sp>
        <p:nvSpPr>
          <p:cNvPr id="6" name="Shape 4"/>
          <p:cNvSpPr/>
          <p:nvPr/>
        </p:nvSpPr>
        <p:spPr>
          <a:xfrm>
            <a:off x="566928" y="4206240"/>
            <a:ext cx="2743200" cy="0"/>
          </a:xfrm>
          <a:prstGeom prst="line">
            <a:avLst/>
          </a:prstGeom>
          <a:noFill/>
          <a:ln w="19050">
            <a:solidFill>
              <a:srgbClr val="35506B"/>
            </a:solidFill>
            <a:prstDash val="solid"/>
          </a:ln>
        </p:spPr>
        <p:txBody>
          <a:bodyPr/>
          <a:lstStyle/>
          <a:p>
            <a:endParaRPr lang="en-US"/>
          </a:p>
        </p:txBody>
      </p:sp>
      <p:sp>
        <p:nvSpPr>
          <p:cNvPr id="7" name="Text 5"/>
          <p:cNvSpPr/>
          <p:nvPr/>
        </p:nvSpPr>
        <p:spPr>
          <a:xfrm>
            <a:off x="566928" y="4343400"/>
            <a:ext cx="10058400" cy="365760"/>
          </a:xfrm>
          <a:prstGeom prst="rect">
            <a:avLst/>
          </a:prstGeom>
          <a:noFill/>
          <a:ln/>
        </p:spPr>
        <p:txBody>
          <a:bodyPr wrap="square" lIns="0" tIns="0" rIns="0" bIns="0" rtlCol="0" anchor="ctr"/>
          <a:lstStyle/>
          <a:p>
            <a:pPr marL="0" indent="0">
              <a:buNone/>
            </a:pPr>
            <a:r>
              <a:rPr lang="en-US" sz="1300" dirty="0">
                <a:solidFill>
                  <a:srgbClr val="9FB0C7"/>
                </a:solidFill>
                <a:latin typeface="Calibri" pitchFamily="34" charset="0"/>
                <a:ea typeface="Calibri" pitchFamily="34" charset="-122"/>
                <a:cs typeface="Calibri" pitchFamily="34" charset="-120"/>
              </a:rPr>
              <a:t>Darrell Lokadeva Lim  •  Capstone Project Module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225</TotalTime>
  <Words>3022</Words>
  <Application>Microsoft Macintosh PowerPoint</Application>
  <PresentationFormat>Widescreen</PresentationFormat>
  <Paragraphs>345</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Prediksi Pembatalan Pemesanan Hotel dengan Machine Learning</dc:title>
  <dc:subject>PptxGenJS Presentation</dc:subject>
  <dc:creator>Darrell Lokadeva Lim</dc:creator>
  <cp:lastModifiedBy>Darrell Lokadeva Lim</cp:lastModifiedBy>
  <cp:revision>2</cp:revision>
  <dcterms:created xsi:type="dcterms:W3CDTF">2026-06-13T12:02:54Z</dcterms:created>
  <dcterms:modified xsi:type="dcterms:W3CDTF">2026-06-13T15:58:38Z</dcterms:modified>
</cp:coreProperties>
</file>